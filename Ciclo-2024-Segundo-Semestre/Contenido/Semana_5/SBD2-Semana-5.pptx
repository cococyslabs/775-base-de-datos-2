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4630400" cy="8229600"/>
  <p:notesSz cx="8229600" cy="14630400"/>
  <p:embeddedFontLst>
    <p:embeddedFont>
      <p:font typeface="Lora"/>
      <p:regular r:id="rId22"/>
    </p:embeddedFont>
    <p:embeddedFont>
      <p:font typeface="Lora"/>
      <p:regular r:id="rId23"/>
    </p:embeddedFont>
    <p:embeddedFont>
      <p:font typeface="Lora"/>
      <p:regular r:id="rId24"/>
    </p:embeddedFont>
    <p:embeddedFont>
      <p:font typeface="Lora"/>
      <p:regular r:id="rId25"/>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 Id="rId24" Type="http://schemas.openxmlformats.org/officeDocument/2006/relationships/font" Target="fonts/font3.fntdata"/><Relationship Id="rId25"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7.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6.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43323" y="2344936"/>
            <a:ext cx="4887754" cy="3539609"/>
          </a:xfrm>
          <a:prstGeom prst="rect">
            <a:avLst/>
          </a:prstGeom>
        </p:spPr>
      </p:pic>
      <p:sp>
        <p:nvSpPr>
          <p:cNvPr id="4" name="Text 0"/>
          <p:cNvSpPr/>
          <p:nvPr/>
        </p:nvSpPr>
        <p:spPr>
          <a:xfrm>
            <a:off x="837724" y="2312670"/>
            <a:ext cx="7468553" cy="1408033"/>
          </a:xfrm>
          <a:prstGeom prst="rect">
            <a:avLst/>
          </a:prstGeom>
          <a:noFill/>
          <a:ln/>
        </p:spPr>
        <p:txBody>
          <a:bodyPr wrap="square" lIns="0" tIns="0" rIns="0" bIns="0" rtlCol="0" anchor="t"/>
          <a:lstStyle/>
          <a:p>
            <a:pPr indent="0" marL="0">
              <a:lnSpc>
                <a:spcPts val="5500"/>
              </a:lnSpc>
              <a:buNone/>
            </a:pPr>
            <a:r>
              <a:rPr lang="en-US" sz="4400" dirty="0">
                <a:solidFill>
                  <a:srgbClr val="38512F"/>
                </a:solidFill>
                <a:latin typeface="Lora" pitchFamily="34" charset="0"/>
                <a:ea typeface="Lora" pitchFamily="34" charset="-122"/>
                <a:cs typeface="Lora" pitchFamily="34" charset="-120"/>
              </a:rPr>
              <a:t>Fundamentos de los Sistemas Distribuidos</a:t>
            </a:r>
            <a:endParaRPr lang="en-US" sz="4400" dirty="0"/>
          </a:p>
        </p:txBody>
      </p:sp>
      <p:sp>
        <p:nvSpPr>
          <p:cNvPr id="5" name="Text 1"/>
          <p:cNvSpPr/>
          <p:nvPr/>
        </p:nvSpPr>
        <p:spPr>
          <a:xfrm>
            <a:off x="837724" y="4079677"/>
            <a:ext cx="7468553" cy="1149072"/>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Exploraremos los principios clave que subyacen a los sistemas de bases de datos distribuidas, incluyendo sus ventajas, desafíos y aplicaciones en la industria.</a:t>
            </a:r>
            <a:endParaRPr lang="en-US" sz="1850" dirty="0"/>
          </a:p>
        </p:txBody>
      </p:sp>
      <p:sp>
        <p:nvSpPr>
          <p:cNvPr id="6" name="Shape 2"/>
          <p:cNvSpPr/>
          <p:nvPr/>
        </p:nvSpPr>
        <p:spPr>
          <a:xfrm>
            <a:off x="837724" y="5515808"/>
            <a:ext cx="382905" cy="382905"/>
          </a:xfrm>
          <a:prstGeom prst="roundRect">
            <a:avLst>
              <a:gd name="adj" fmla="val 23878209"/>
            </a:avLst>
          </a:prstGeom>
          <a:noFill/>
          <a:ln w="7620">
            <a:solidFill>
              <a:srgbClr val="FFFFFF"/>
            </a:solidFill>
            <a:prstDash val="solid"/>
          </a:ln>
        </p:spPr>
      </p:sp>
      <p:pic>
        <p:nvPicPr>
          <p:cNvPr id="7" name="Image 2" descr="preencoded.png">    </p:cNvPr>
          <p:cNvPicPr>
            <a:picLocks noChangeAspect="1"/>
          </p:cNvPicPr>
          <p:nvPr/>
        </p:nvPicPr>
        <p:blipFill>
          <a:blip r:embed="rId3"/>
          <a:stretch>
            <a:fillRect/>
          </a:stretch>
        </p:blipFill>
        <p:spPr>
          <a:xfrm>
            <a:off x="845344" y="5523428"/>
            <a:ext cx="367665" cy="367665"/>
          </a:xfrm>
          <a:prstGeom prst="rect">
            <a:avLst/>
          </a:prstGeom>
        </p:spPr>
      </p:pic>
      <p:sp>
        <p:nvSpPr>
          <p:cNvPr id="8" name="Text 3"/>
          <p:cNvSpPr/>
          <p:nvPr/>
        </p:nvSpPr>
        <p:spPr>
          <a:xfrm>
            <a:off x="1340287" y="5497949"/>
            <a:ext cx="5742742" cy="418862"/>
          </a:xfrm>
          <a:prstGeom prst="rect">
            <a:avLst/>
          </a:prstGeom>
          <a:noFill/>
          <a:ln/>
        </p:spPr>
        <p:txBody>
          <a:bodyPr wrap="none" lIns="0" tIns="0" rIns="0" bIns="0" rtlCol="0" anchor="t"/>
          <a:lstStyle/>
          <a:p>
            <a:pPr algn="l" indent="0" marL="0">
              <a:lnSpc>
                <a:spcPts val="3250"/>
              </a:lnSpc>
              <a:buNone/>
            </a:pPr>
            <a:r>
              <a:rPr lang="en-US" sz="2350" b="1" dirty="0">
                <a:solidFill>
                  <a:srgbClr val="3A3630"/>
                </a:solidFill>
                <a:latin typeface="Source Sans Pro Bold" pitchFamily="34" charset="0"/>
                <a:ea typeface="Source Sans Pro Bold" pitchFamily="34" charset="-122"/>
                <a:cs typeface="Source Sans Pro Bold" pitchFamily="34" charset="-120"/>
              </a:rPr>
              <a:t>by DIEGO ANDRE MAZARIEGOS BARRIENTOS</a:t>
            </a:r>
            <a:endParaRPr lang="en-US" sz="2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4962" y="506730"/>
            <a:ext cx="4892635" cy="541972"/>
          </a:xfrm>
          <a:prstGeom prst="rect">
            <a:avLst/>
          </a:prstGeom>
          <a:noFill/>
          <a:ln/>
        </p:spPr>
        <p:txBody>
          <a:bodyPr wrap="none" lIns="0" tIns="0" rIns="0" bIns="0" rtlCol="0" anchor="t"/>
          <a:lstStyle/>
          <a:p>
            <a:pPr indent="0" marL="0">
              <a:lnSpc>
                <a:spcPts val="4250"/>
              </a:lnSpc>
              <a:buNone/>
            </a:pPr>
            <a:r>
              <a:rPr lang="en-US" sz="3400" dirty="0">
                <a:solidFill>
                  <a:srgbClr val="38512F"/>
                </a:solidFill>
                <a:latin typeface="Lora" pitchFamily="34" charset="0"/>
                <a:ea typeface="Lora" pitchFamily="34" charset="-122"/>
                <a:cs typeface="Lora" pitchFamily="34" charset="-120"/>
              </a:rPr>
              <a:t>Introducción y objetivos</a:t>
            </a:r>
            <a:endParaRPr lang="en-US" sz="3400" dirty="0"/>
          </a:p>
        </p:txBody>
      </p:sp>
      <p:pic>
        <p:nvPicPr>
          <p:cNvPr id="3" name="Image 0" descr="preencoded.png">    </p:cNvPr>
          <p:cNvPicPr>
            <a:picLocks noChangeAspect="1"/>
          </p:cNvPicPr>
          <p:nvPr/>
        </p:nvPicPr>
        <p:blipFill>
          <a:blip r:embed="rId1"/>
          <a:stretch>
            <a:fillRect/>
          </a:stretch>
        </p:blipFill>
        <p:spPr>
          <a:xfrm>
            <a:off x="644962" y="1417201"/>
            <a:ext cx="4262557" cy="2634377"/>
          </a:xfrm>
          <a:prstGeom prst="rect">
            <a:avLst/>
          </a:prstGeom>
        </p:spPr>
      </p:pic>
      <p:sp>
        <p:nvSpPr>
          <p:cNvPr id="4" name="Text 1"/>
          <p:cNvSpPr/>
          <p:nvPr/>
        </p:nvSpPr>
        <p:spPr>
          <a:xfrm>
            <a:off x="644962" y="4281845"/>
            <a:ext cx="2168247" cy="270986"/>
          </a:xfrm>
          <a:prstGeom prst="rect">
            <a:avLst/>
          </a:prstGeom>
          <a:noFill/>
          <a:ln/>
        </p:spPr>
        <p:txBody>
          <a:bodyPr wrap="none" lIns="0" tIns="0" rIns="0" bIns="0" rtlCol="0" anchor="t"/>
          <a:lstStyle/>
          <a:p>
            <a:pPr algn="l" indent="0" marL="0">
              <a:lnSpc>
                <a:spcPts val="2100"/>
              </a:lnSpc>
              <a:buNone/>
            </a:pPr>
            <a:r>
              <a:rPr lang="en-US" sz="1700" dirty="0">
                <a:solidFill>
                  <a:srgbClr val="3A3630"/>
                </a:solidFill>
                <a:latin typeface="Lora" pitchFamily="34" charset="0"/>
                <a:ea typeface="Lora" pitchFamily="34" charset="-122"/>
                <a:cs typeface="Lora" pitchFamily="34" charset="-120"/>
              </a:rPr>
              <a:t>Teorema CAP</a:t>
            </a:r>
            <a:endParaRPr lang="en-US" sz="1700" dirty="0"/>
          </a:p>
        </p:txBody>
      </p:sp>
      <p:sp>
        <p:nvSpPr>
          <p:cNvPr id="5" name="Text 2"/>
          <p:cNvSpPr/>
          <p:nvPr/>
        </p:nvSpPr>
        <p:spPr>
          <a:xfrm>
            <a:off x="644962" y="4663321"/>
            <a:ext cx="4262557" cy="1473994"/>
          </a:xfrm>
          <a:prstGeom prst="rect">
            <a:avLst/>
          </a:prstGeom>
          <a:noFill/>
          <a:ln/>
        </p:spPr>
        <p:txBody>
          <a:bodyPr wrap="square" lIns="0" tIns="0" rIns="0" bIns="0" rtlCol="0" anchor="t"/>
          <a:lstStyle/>
          <a:p>
            <a:pPr algn="l" indent="0" marL="0">
              <a:lnSpc>
                <a:spcPts val="2300"/>
              </a:lnSpc>
              <a:buNone/>
            </a:pPr>
            <a:r>
              <a:rPr lang="en-US" sz="1450" dirty="0">
                <a:solidFill>
                  <a:srgbClr val="3A3630"/>
                </a:solidFill>
                <a:latin typeface="Source Sans Pro" pitchFamily="34" charset="0"/>
                <a:ea typeface="Source Sans Pro" pitchFamily="34" charset="-122"/>
                <a:cs typeface="Source Sans Pro" pitchFamily="34" charset="-120"/>
              </a:rPr>
              <a:t>En este módulo, abordaremos los fundamentos de los sistemas distribuidos y su importancia en la gestión de datos en la era digital. Así como, su orientación al teorema CAP que define principios fundamentales para la bases de datos distribuidas.</a:t>
            </a:r>
            <a:endParaRPr lang="en-US" sz="1450" dirty="0"/>
          </a:p>
        </p:txBody>
      </p:sp>
      <p:pic>
        <p:nvPicPr>
          <p:cNvPr id="6" name="Image 1" descr="preencoded.png">    </p:cNvPr>
          <p:cNvPicPr>
            <a:picLocks noChangeAspect="1"/>
          </p:cNvPicPr>
          <p:nvPr/>
        </p:nvPicPr>
        <p:blipFill>
          <a:blip r:embed="rId2"/>
          <a:stretch>
            <a:fillRect/>
          </a:stretch>
        </p:blipFill>
        <p:spPr>
          <a:xfrm>
            <a:off x="5183862" y="1417201"/>
            <a:ext cx="4262557" cy="2634377"/>
          </a:xfrm>
          <a:prstGeom prst="rect">
            <a:avLst/>
          </a:prstGeom>
        </p:spPr>
      </p:pic>
      <p:sp>
        <p:nvSpPr>
          <p:cNvPr id="7" name="Text 3"/>
          <p:cNvSpPr/>
          <p:nvPr/>
        </p:nvSpPr>
        <p:spPr>
          <a:xfrm>
            <a:off x="5183862" y="4281845"/>
            <a:ext cx="2181344" cy="270986"/>
          </a:xfrm>
          <a:prstGeom prst="rect">
            <a:avLst/>
          </a:prstGeom>
          <a:noFill/>
          <a:ln/>
        </p:spPr>
        <p:txBody>
          <a:bodyPr wrap="none" lIns="0" tIns="0" rIns="0" bIns="0" rtlCol="0" anchor="t"/>
          <a:lstStyle/>
          <a:p>
            <a:pPr algn="l" indent="0" marL="0">
              <a:lnSpc>
                <a:spcPts val="2100"/>
              </a:lnSpc>
              <a:buNone/>
            </a:pPr>
            <a:r>
              <a:rPr lang="en-US" sz="1700" dirty="0">
                <a:solidFill>
                  <a:srgbClr val="3A3630"/>
                </a:solidFill>
                <a:latin typeface="Lora" pitchFamily="34" charset="0"/>
                <a:ea typeface="Lora" pitchFamily="34" charset="-122"/>
                <a:cs typeface="Lora" pitchFamily="34" charset="-120"/>
              </a:rPr>
              <a:t>Sistemas Distribuidos</a:t>
            </a:r>
            <a:endParaRPr lang="en-US" sz="1700" dirty="0"/>
          </a:p>
        </p:txBody>
      </p:sp>
      <p:sp>
        <p:nvSpPr>
          <p:cNvPr id="8" name="Text 4"/>
          <p:cNvSpPr/>
          <p:nvPr/>
        </p:nvSpPr>
        <p:spPr>
          <a:xfrm>
            <a:off x="5183862" y="4663321"/>
            <a:ext cx="4262557" cy="884396"/>
          </a:xfrm>
          <a:prstGeom prst="rect">
            <a:avLst/>
          </a:prstGeom>
          <a:noFill/>
          <a:ln/>
        </p:spPr>
        <p:txBody>
          <a:bodyPr wrap="square" lIns="0" tIns="0" rIns="0" bIns="0" rtlCol="0" anchor="t"/>
          <a:lstStyle/>
          <a:p>
            <a:pPr algn="l" indent="0" marL="0">
              <a:lnSpc>
                <a:spcPts val="2300"/>
              </a:lnSpc>
              <a:buNone/>
            </a:pPr>
            <a:r>
              <a:rPr lang="en-US" sz="1450" dirty="0">
                <a:solidFill>
                  <a:srgbClr val="3A3630"/>
                </a:solidFill>
                <a:latin typeface="Source Sans Pro" pitchFamily="34" charset="0"/>
                <a:ea typeface="Source Sans Pro" pitchFamily="34" charset="-122"/>
                <a:cs typeface="Source Sans Pro" pitchFamily="34" charset="-120"/>
              </a:rPr>
              <a:t>Exploraremos los principios clave de la computación distribuida y cómo se aplican en el diseño de bases de datos escalables y resilientes.</a:t>
            </a:r>
            <a:endParaRPr lang="en-US" sz="1450" dirty="0"/>
          </a:p>
        </p:txBody>
      </p:sp>
      <p:pic>
        <p:nvPicPr>
          <p:cNvPr id="9" name="Image 2" descr="preencoded.png">    </p:cNvPr>
          <p:cNvPicPr>
            <a:picLocks noChangeAspect="1"/>
          </p:cNvPicPr>
          <p:nvPr/>
        </p:nvPicPr>
        <p:blipFill>
          <a:blip r:embed="rId3"/>
          <a:stretch>
            <a:fillRect/>
          </a:stretch>
        </p:blipFill>
        <p:spPr>
          <a:xfrm>
            <a:off x="9722763" y="1417201"/>
            <a:ext cx="4262557" cy="2634377"/>
          </a:xfrm>
          <a:prstGeom prst="rect">
            <a:avLst/>
          </a:prstGeom>
        </p:spPr>
      </p:pic>
      <p:sp>
        <p:nvSpPr>
          <p:cNvPr id="10" name="Text 5"/>
          <p:cNvSpPr/>
          <p:nvPr/>
        </p:nvSpPr>
        <p:spPr>
          <a:xfrm>
            <a:off x="9722763" y="4281845"/>
            <a:ext cx="2505313" cy="270986"/>
          </a:xfrm>
          <a:prstGeom prst="rect">
            <a:avLst/>
          </a:prstGeom>
          <a:noFill/>
          <a:ln/>
        </p:spPr>
        <p:txBody>
          <a:bodyPr wrap="none" lIns="0" tIns="0" rIns="0" bIns="0" rtlCol="0" anchor="t"/>
          <a:lstStyle/>
          <a:p>
            <a:pPr algn="l" indent="0" marL="0">
              <a:lnSpc>
                <a:spcPts val="2100"/>
              </a:lnSpc>
              <a:buNone/>
            </a:pPr>
            <a:r>
              <a:rPr lang="en-US" sz="1700" dirty="0">
                <a:solidFill>
                  <a:srgbClr val="3A3630"/>
                </a:solidFill>
                <a:latin typeface="Lora" pitchFamily="34" charset="0"/>
                <a:ea typeface="Lora" pitchFamily="34" charset="-122"/>
                <a:cs typeface="Lora" pitchFamily="34" charset="-120"/>
              </a:rPr>
              <a:t>Objetivos de Aprendizaje</a:t>
            </a:r>
            <a:endParaRPr lang="en-US" sz="1700" dirty="0"/>
          </a:p>
        </p:txBody>
      </p:sp>
      <p:sp>
        <p:nvSpPr>
          <p:cNvPr id="11" name="Text 6"/>
          <p:cNvSpPr/>
          <p:nvPr/>
        </p:nvSpPr>
        <p:spPr>
          <a:xfrm>
            <a:off x="9722763" y="4663321"/>
            <a:ext cx="4262557" cy="589598"/>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3A3630"/>
                </a:solidFill>
                <a:latin typeface="Source Sans Pro" pitchFamily="34" charset="0"/>
                <a:ea typeface="Source Sans Pro" pitchFamily="34" charset="-122"/>
                <a:cs typeface="Source Sans Pro" pitchFamily="34" charset="-120"/>
              </a:rPr>
              <a:t>Comprender los conceptos fundamentales de los sistemas distribuidos</a:t>
            </a:r>
            <a:endParaRPr lang="en-US" sz="1450" dirty="0"/>
          </a:p>
        </p:txBody>
      </p:sp>
      <p:sp>
        <p:nvSpPr>
          <p:cNvPr id="12" name="Text 7"/>
          <p:cNvSpPr/>
          <p:nvPr/>
        </p:nvSpPr>
        <p:spPr>
          <a:xfrm>
            <a:off x="9722763" y="5317331"/>
            <a:ext cx="4262557" cy="589598"/>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3A3630"/>
                </a:solidFill>
                <a:latin typeface="Source Sans Pro" pitchFamily="34" charset="0"/>
                <a:ea typeface="Source Sans Pro" pitchFamily="34" charset="-122"/>
                <a:cs typeface="Source Sans Pro" pitchFamily="34" charset="-120"/>
              </a:rPr>
              <a:t>Analizar los tipos de bases de datos distribuidas y sus ventajas/desventajas</a:t>
            </a:r>
            <a:endParaRPr lang="en-US" sz="1450" dirty="0"/>
          </a:p>
        </p:txBody>
      </p:sp>
      <p:sp>
        <p:nvSpPr>
          <p:cNvPr id="13" name="Text 8"/>
          <p:cNvSpPr/>
          <p:nvPr/>
        </p:nvSpPr>
        <p:spPr>
          <a:xfrm>
            <a:off x="9722763" y="5971342"/>
            <a:ext cx="4262557" cy="589598"/>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3A3630"/>
                </a:solidFill>
                <a:latin typeface="Source Sans Pro" pitchFamily="34" charset="0"/>
                <a:ea typeface="Source Sans Pro" pitchFamily="34" charset="-122"/>
                <a:cs typeface="Source Sans Pro" pitchFamily="34" charset="-120"/>
              </a:rPr>
              <a:t>Aplicar el Teorema CAP y los modelos de consistencia en entornos distribuidos</a:t>
            </a:r>
            <a:endParaRPr lang="en-US" sz="1450" dirty="0"/>
          </a:p>
        </p:txBody>
      </p:sp>
      <p:sp>
        <p:nvSpPr>
          <p:cNvPr id="14" name="Text 9"/>
          <p:cNvSpPr/>
          <p:nvPr/>
        </p:nvSpPr>
        <p:spPr>
          <a:xfrm>
            <a:off x="9722763" y="6625352"/>
            <a:ext cx="4262557" cy="589598"/>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3A3630"/>
                </a:solidFill>
                <a:latin typeface="Source Sans Pro" pitchFamily="34" charset="0"/>
                <a:ea typeface="Source Sans Pro" pitchFamily="34" charset="-122"/>
                <a:cs typeface="Source Sans Pro" pitchFamily="34" charset="-120"/>
              </a:rPr>
              <a:t>Identificar los desafíos de gestión y técnicas para mantener la integridad y disponibilidad</a:t>
            </a:r>
            <a:endParaRPr lang="en-US" sz="1450" dirty="0"/>
          </a:p>
        </p:txBody>
      </p:sp>
      <p:sp>
        <p:nvSpPr>
          <p:cNvPr id="15" name="Text 10"/>
          <p:cNvSpPr/>
          <p:nvPr/>
        </p:nvSpPr>
        <p:spPr>
          <a:xfrm>
            <a:off x="9722763" y="7279362"/>
            <a:ext cx="4262557" cy="589598"/>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3A3630"/>
                </a:solidFill>
                <a:latin typeface="Source Sans Pro" pitchFamily="34" charset="0"/>
                <a:ea typeface="Source Sans Pro" pitchFamily="34" charset="-122"/>
                <a:cs typeface="Source Sans Pro" pitchFamily="34" charset="-120"/>
              </a:rPr>
              <a:t>Explorar casos de uso de sistemas distribuidos en la industria</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7724" y="1345049"/>
            <a:ext cx="9257943" cy="704017"/>
          </a:xfrm>
          <a:prstGeom prst="rect">
            <a:avLst/>
          </a:prstGeom>
          <a:noFill/>
          <a:ln/>
        </p:spPr>
        <p:txBody>
          <a:bodyPr wrap="none" lIns="0" tIns="0" rIns="0" bIns="0" rtlCol="0" anchor="t"/>
          <a:lstStyle/>
          <a:p>
            <a:pPr indent="0" marL="0">
              <a:lnSpc>
                <a:spcPts val="5500"/>
              </a:lnSpc>
              <a:buNone/>
            </a:pPr>
            <a:r>
              <a:rPr lang="en-US" sz="4400" dirty="0">
                <a:solidFill>
                  <a:srgbClr val="38512F"/>
                </a:solidFill>
                <a:latin typeface="Lora" pitchFamily="34" charset="0"/>
                <a:ea typeface="Lora" pitchFamily="34" charset="-122"/>
                <a:cs typeface="Lora" pitchFamily="34" charset="-120"/>
              </a:rPr>
              <a:t>¿Qué son los sistemas distribuidos?</a:t>
            </a:r>
            <a:endParaRPr lang="en-US" sz="4400" dirty="0"/>
          </a:p>
        </p:txBody>
      </p:sp>
      <p:sp>
        <p:nvSpPr>
          <p:cNvPr id="3" name="Text 1"/>
          <p:cNvSpPr/>
          <p:nvPr/>
        </p:nvSpPr>
        <p:spPr>
          <a:xfrm>
            <a:off x="837724" y="2623423"/>
            <a:ext cx="6185535" cy="1915120"/>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Los sistemas distribuidos son redes de computadoras que trabajan en conjunto para lograr un objetivo común. Cada computadora o nodo contribuye con recursos como procesamiento, almacenamiento y comunicación, permitiendo una mayor escalabilidad y tolerancia a fallas.</a:t>
            </a:r>
            <a:endParaRPr lang="en-US" sz="1850" dirty="0"/>
          </a:p>
        </p:txBody>
      </p:sp>
      <p:sp>
        <p:nvSpPr>
          <p:cNvPr id="4" name="Text 2"/>
          <p:cNvSpPr/>
          <p:nvPr/>
        </p:nvSpPr>
        <p:spPr>
          <a:xfrm>
            <a:off x="837724" y="4753928"/>
            <a:ext cx="6185535" cy="1915120"/>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Estos sistemas se caracterizan por la descentralización, la autonomía de cada nodo y la comunicación a través de una red. Esto les otorga ventajas como mejor disponibilidad, paralelismo y flexibilidad, pero también plantea desafíos en cuanto a la coordinación y la consistencia de datos.</a:t>
            </a:r>
            <a:endParaRPr lang="en-US" sz="1850" dirty="0"/>
          </a:p>
        </p:txBody>
      </p:sp>
      <p:pic>
        <p:nvPicPr>
          <p:cNvPr id="5" name="Image 0" descr="preencoded.png">    </p:cNvPr>
          <p:cNvPicPr>
            <a:picLocks noChangeAspect="1"/>
          </p:cNvPicPr>
          <p:nvPr/>
        </p:nvPicPr>
        <p:blipFill>
          <a:blip r:embed="rId1"/>
          <a:stretch>
            <a:fillRect/>
          </a:stretch>
        </p:blipFill>
        <p:spPr>
          <a:xfrm>
            <a:off x="7614761" y="2677239"/>
            <a:ext cx="6185535" cy="347936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397841" y="2714506"/>
            <a:ext cx="4978598" cy="2800469"/>
          </a:xfrm>
          <a:prstGeom prst="rect">
            <a:avLst/>
          </a:prstGeom>
        </p:spPr>
      </p:pic>
      <p:sp>
        <p:nvSpPr>
          <p:cNvPr id="4" name="Text 0"/>
          <p:cNvSpPr/>
          <p:nvPr/>
        </p:nvSpPr>
        <p:spPr>
          <a:xfrm>
            <a:off x="710684" y="629960"/>
            <a:ext cx="7722632" cy="1194435"/>
          </a:xfrm>
          <a:prstGeom prst="rect">
            <a:avLst/>
          </a:prstGeom>
          <a:noFill/>
          <a:ln/>
        </p:spPr>
        <p:txBody>
          <a:bodyPr wrap="square" lIns="0" tIns="0" rIns="0" bIns="0" rtlCol="0" anchor="t"/>
          <a:lstStyle/>
          <a:p>
            <a:pPr indent="0" marL="0">
              <a:lnSpc>
                <a:spcPts val="4700"/>
              </a:lnSpc>
              <a:buNone/>
            </a:pPr>
            <a:r>
              <a:rPr lang="en-US" sz="3750" dirty="0">
                <a:solidFill>
                  <a:srgbClr val="38512F"/>
                </a:solidFill>
                <a:latin typeface="Lora" pitchFamily="34" charset="0"/>
                <a:ea typeface="Lora" pitchFamily="34" charset="-122"/>
                <a:cs typeface="Lora" pitchFamily="34" charset="-120"/>
              </a:rPr>
              <a:t>Principios de los sistemas distribuidos</a:t>
            </a:r>
            <a:endParaRPr lang="en-US" sz="3750" dirty="0"/>
          </a:p>
        </p:txBody>
      </p:sp>
      <p:pic>
        <p:nvPicPr>
          <p:cNvPr id="5" name="Image 2" descr="preencoded.png">    </p:cNvPr>
          <p:cNvPicPr>
            <a:picLocks noChangeAspect="1"/>
          </p:cNvPicPr>
          <p:nvPr/>
        </p:nvPicPr>
        <p:blipFill>
          <a:blip r:embed="rId3"/>
          <a:stretch>
            <a:fillRect/>
          </a:stretch>
        </p:blipFill>
        <p:spPr>
          <a:xfrm>
            <a:off x="710684" y="2128957"/>
            <a:ext cx="507683" cy="507683"/>
          </a:xfrm>
          <a:prstGeom prst="rect">
            <a:avLst/>
          </a:prstGeom>
        </p:spPr>
      </p:pic>
      <p:sp>
        <p:nvSpPr>
          <p:cNvPr id="6" name="Text 1"/>
          <p:cNvSpPr/>
          <p:nvPr/>
        </p:nvSpPr>
        <p:spPr>
          <a:xfrm>
            <a:off x="710684" y="2839641"/>
            <a:ext cx="2899767" cy="298609"/>
          </a:xfrm>
          <a:prstGeom prst="rect">
            <a:avLst/>
          </a:prstGeom>
          <a:noFill/>
          <a:ln/>
        </p:spPr>
        <p:txBody>
          <a:bodyPr wrap="none" lIns="0" tIns="0" rIns="0" bIns="0" rtlCol="0" anchor="t"/>
          <a:lstStyle/>
          <a:p>
            <a:pPr algn="l" indent="0" marL="0">
              <a:lnSpc>
                <a:spcPts val="2350"/>
              </a:lnSpc>
              <a:buNone/>
            </a:pPr>
            <a:r>
              <a:rPr lang="en-US" sz="1850" dirty="0">
                <a:solidFill>
                  <a:srgbClr val="3A3630"/>
                </a:solidFill>
                <a:latin typeface="Lora" pitchFamily="34" charset="0"/>
                <a:ea typeface="Lora" pitchFamily="34" charset="-122"/>
                <a:cs typeface="Lora" pitchFamily="34" charset="-120"/>
              </a:rPr>
              <a:t>Comunicación Distribuida</a:t>
            </a:r>
            <a:endParaRPr lang="en-US" sz="1850" dirty="0"/>
          </a:p>
        </p:txBody>
      </p:sp>
      <p:sp>
        <p:nvSpPr>
          <p:cNvPr id="7" name="Text 2"/>
          <p:cNvSpPr/>
          <p:nvPr/>
        </p:nvSpPr>
        <p:spPr>
          <a:xfrm>
            <a:off x="710684" y="3260050"/>
            <a:ext cx="3709035" cy="1299686"/>
          </a:xfrm>
          <a:prstGeom prst="rect">
            <a:avLst/>
          </a:prstGeom>
          <a:noFill/>
          <a:ln/>
        </p:spPr>
        <p:txBody>
          <a:bodyPr wrap="square" lIns="0" tIns="0" rIns="0" bIns="0" rtlCol="0" anchor="t"/>
          <a:lstStyle/>
          <a:p>
            <a:pPr algn="l" indent="0" marL="0">
              <a:lnSpc>
                <a:spcPts val="2550"/>
              </a:lnSpc>
              <a:buNone/>
            </a:pPr>
            <a:r>
              <a:rPr lang="en-US" sz="1550" dirty="0">
                <a:solidFill>
                  <a:srgbClr val="3A3630"/>
                </a:solidFill>
                <a:latin typeface="Source Sans Pro" pitchFamily="34" charset="0"/>
                <a:ea typeface="Source Sans Pro" pitchFamily="34" charset="-122"/>
                <a:cs typeface="Source Sans Pro" pitchFamily="34" charset="-120"/>
              </a:rPr>
              <a:t>Los componentes de un sistema distribuido se comunican a través de una red para intercambiar datos e información de manera coordinada.</a:t>
            </a:r>
            <a:endParaRPr lang="en-US" sz="1550" dirty="0"/>
          </a:p>
        </p:txBody>
      </p:sp>
      <p:pic>
        <p:nvPicPr>
          <p:cNvPr id="8" name="Image 3" descr="preencoded.png">    </p:cNvPr>
          <p:cNvPicPr>
            <a:picLocks noChangeAspect="1"/>
          </p:cNvPicPr>
          <p:nvPr/>
        </p:nvPicPr>
        <p:blipFill>
          <a:blip r:embed="rId4"/>
          <a:stretch>
            <a:fillRect/>
          </a:stretch>
        </p:blipFill>
        <p:spPr>
          <a:xfrm>
            <a:off x="4724281" y="2128957"/>
            <a:ext cx="507683" cy="507683"/>
          </a:xfrm>
          <a:prstGeom prst="rect">
            <a:avLst/>
          </a:prstGeom>
        </p:spPr>
      </p:pic>
      <p:sp>
        <p:nvSpPr>
          <p:cNvPr id="9" name="Text 3"/>
          <p:cNvSpPr/>
          <p:nvPr/>
        </p:nvSpPr>
        <p:spPr>
          <a:xfrm>
            <a:off x="4724281" y="2839641"/>
            <a:ext cx="3163014" cy="298609"/>
          </a:xfrm>
          <a:prstGeom prst="rect">
            <a:avLst/>
          </a:prstGeom>
          <a:noFill/>
          <a:ln/>
        </p:spPr>
        <p:txBody>
          <a:bodyPr wrap="none" lIns="0" tIns="0" rIns="0" bIns="0" rtlCol="0" anchor="t"/>
          <a:lstStyle/>
          <a:p>
            <a:pPr algn="l" indent="0" marL="0">
              <a:lnSpc>
                <a:spcPts val="2350"/>
              </a:lnSpc>
              <a:buNone/>
            </a:pPr>
            <a:r>
              <a:rPr lang="en-US" sz="1850" dirty="0">
                <a:solidFill>
                  <a:srgbClr val="3A3630"/>
                </a:solidFill>
                <a:latin typeface="Lora" pitchFamily="34" charset="0"/>
                <a:ea typeface="Lora" pitchFamily="34" charset="-122"/>
                <a:cs typeface="Lora" pitchFamily="34" charset="-120"/>
              </a:rPr>
              <a:t>Autonomía de Componentes</a:t>
            </a:r>
            <a:endParaRPr lang="en-US" sz="1850" dirty="0"/>
          </a:p>
        </p:txBody>
      </p:sp>
      <p:sp>
        <p:nvSpPr>
          <p:cNvPr id="10" name="Text 4"/>
          <p:cNvSpPr/>
          <p:nvPr/>
        </p:nvSpPr>
        <p:spPr>
          <a:xfrm>
            <a:off x="4724281" y="3260050"/>
            <a:ext cx="3709035" cy="1299686"/>
          </a:xfrm>
          <a:prstGeom prst="rect">
            <a:avLst/>
          </a:prstGeom>
          <a:noFill/>
          <a:ln/>
        </p:spPr>
        <p:txBody>
          <a:bodyPr wrap="square" lIns="0" tIns="0" rIns="0" bIns="0" rtlCol="0" anchor="t"/>
          <a:lstStyle/>
          <a:p>
            <a:pPr algn="l" indent="0" marL="0">
              <a:lnSpc>
                <a:spcPts val="2550"/>
              </a:lnSpc>
              <a:buNone/>
            </a:pPr>
            <a:r>
              <a:rPr lang="en-US" sz="1550" dirty="0">
                <a:solidFill>
                  <a:srgbClr val="3A3630"/>
                </a:solidFill>
                <a:latin typeface="Source Sans Pro" pitchFamily="34" charset="0"/>
                <a:ea typeface="Source Sans Pro" pitchFamily="34" charset="-122"/>
                <a:cs typeface="Source Sans Pro" pitchFamily="34" charset="-120"/>
              </a:rPr>
              <a:t>Cada componente opera de manera independiente y autónoma, con capacidad de tomar decisiones locales sin depender de un control centralizado.</a:t>
            </a:r>
            <a:endParaRPr lang="en-US" sz="1550" dirty="0"/>
          </a:p>
        </p:txBody>
      </p:sp>
      <p:pic>
        <p:nvPicPr>
          <p:cNvPr id="11" name="Image 4" descr="preencoded.png">    </p:cNvPr>
          <p:cNvPicPr>
            <a:picLocks noChangeAspect="1"/>
          </p:cNvPicPr>
          <p:nvPr/>
        </p:nvPicPr>
        <p:blipFill>
          <a:blip r:embed="rId5"/>
          <a:stretch>
            <a:fillRect/>
          </a:stretch>
        </p:blipFill>
        <p:spPr>
          <a:xfrm>
            <a:off x="710684" y="5168860"/>
            <a:ext cx="507683" cy="507683"/>
          </a:xfrm>
          <a:prstGeom prst="rect">
            <a:avLst/>
          </a:prstGeom>
        </p:spPr>
      </p:pic>
      <p:sp>
        <p:nvSpPr>
          <p:cNvPr id="12" name="Text 5"/>
          <p:cNvSpPr/>
          <p:nvPr/>
        </p:nvSpPr>
        <p:spPr>
          <a:xfrm>
            <a:off x="710684" y="5879544"/>
            <a:ext cx="2389108" cy="298609"/>
          </a:xfrm>
          <a:prstGeom prst="rect">
            <a:avLst/>
          </a:prstGeom>
          <a:noFill/>
          <a:ln/>
        </p:spPr>
        <p:txBody>
          <a:bodyPr wrap="none" lIns="0" tIns="0" rIns="0" bIns="0" rtlCol="0" anchor="t"/>
          <a:lstStyle/>
          <a:p>
            <a:pPr algn="l" indent="0" marL="0">
              <a:lnSpc>
                <a:spcPts val="2350"/>
              </a:lnSpc>
              <a:buNone/>
            </a:pPr>
            <a:r>
              <a:rPr lang="en-US" sz="1850" dirty="0">
                <a:solidFill>
                  <a:srgbClr val="3A3630"/>
                </a:solidFill>
                <a:latin typeface="Lora" pitchFamily="34" charset="0"/>
                <a:ea typeface="Lora" pitchFamily="34" charset="-122"/>
                <a:cs typeface="Lora" pitchFamily="34" charset="-120"/>
              </a:rPr>
              <a:t>Escalabilidad</a:t>
            </a:r>
            <a:endParaRPr lang="en-US" sz="1850" dirty="0"/>
          </a:p>
        </p:txBody>
      </p:sp>
      <p:sp>
        <p:nvSpPr>
          <p:cNvPr id="13" name="Text 6"/>
          <p:cNvSpPr/>
          <p:nvPr/>
        </p:nvSpPr>
        <p:spPr>
          <a:xfrm>
            <a:off x="710684" y="6299954"/>
            <a:ext cx="3709035" cy="1299686"/>
          </a:xfrm>
          <a:prstGeom prst="rect">
            <a:avLst/>
          </a:prstGeom>
          <a:noFill/>
          <a:ln/>
        </p:spPr>
        <p:txBody>
          <a:bodyPr wrap="square" lIns="0" tIns="0" rIns="0" bIns="0" rtlCol="0" anchor="t"/>
          <a:lstStyle/>
          <a:p>
            <a:pPr algn="l" indent="0" marL="0">
              <a:lnSpc>
                <a:spcPts val="2550"/>
              </a:lnSpc>
              <a:buNone/>
            </a:pPr>
            <a:r>
              <a:rPr lang="en-US" sz="1550" dirty="0">
                <a:solidFill>
                  <a:srgbClr val="3A3630"/>
                </a:solidFill>
                <a:latin typeface="Source Sans Pro" pitchFamily="34" charset="0"/>
                <a:ea typeface="Source Sans Pro" pitchFamily="34" charset="-122"/>
                <a:cs typeface="Source Sans Pro" pitchFamily="34" charset="-120"/>
              </a:rPr>
              <a:t>Los sistemas distribuidos pueden crecer en tamaño y complejidad sin que se degrade significativamente su rendimiento o funcionalidad.</a:t>
            </a:r>
            <a:endParaRPr lang="en-US" sz="1550" dirty="0"/>
          </a:p>
        </p:txBody>
      </p:sp>
      <p:pic>
        <p:nvPicPr>
          <p:cNvPr id="14" name="Image 5" descr="preencoded.png">    </p:cNvPr>
          <p:cNvPicPr>
            <a:picLocks noChangeAspect="1"/>
          </p:cNvPicPr>
          <p:nvPr/>
        </p:nvPicPr>
        <p:blipFill>
          <a:blip r:embed="rId6"/>
          <a:stretch>
            <a:fillRect/>
          </a:stretch>
        </p:blipFill>
        <p:spPr>
          <a:xfrm>
            <a:off x="4724281" y="5168860"/>
            <a:ext cx="507683" cy="507683"/>
          </a:xfrm>
          <a:prstGeom prst="rect">
            <a:avLst/>
          </a:prstGeom>
        </p:spPr>
      </p:pic>
      <p:sp>
        <p:nvSpPr>
          <p:cNvPr id="15" name="Text 7"/>
          <p:cNvSpPr/>
          <p:nvPr/>
        </p:nvSpPr>
        <p:spPr>
          <a:xfrm>
            <a:off x="4724281" y="5879544"/>
            <a:ext cx="2389108" cy="298609"/>
          </a:xfrm>
          <a:prstGeom prst="rect">
            <a:avLst/>
          </a:prstGeom>
          <a:noFill/>
          <a:ln/>
        </p:spPr>
        <p:txBody>
          <a:bodyPr wrap="none" lIns="0" tIns="0" rIns="0" bIns="0" rtlCol="0" anchor="t"/>
          <a:lstStyle/>
          <a:p>
            <a:pPr algn="l" indent="0" marL="0">
              <a:lnSpc>
                <a:spcPts val="2350"/>
              </a:lnSpc>
              <a:buNone/>
            </a:pPr>
            <a:r>
              <a:rPr lang="en-US" sz="1850" dirty="0">
                <a:solidFill>
                  <a:srgbClr val="3A3630"/>
                </a:solidFill>
                <a:latin typeface="Lora" pitchFamily="34" charset="0"/>
                <a:ea typeface="Lora" pitchFamily="34" charset="-122"/>
                <a:cs typeface="Lora" pitchFamily="34" charset="-120"/>
              </a:rPr>
              <a:t>Tolerancia a Fallas</a:t>
            </a:r>
            <a:endParaRPr lang="en-US" sz="1850" dirty="0"/>
          </a:p>
        </p:txBody>
      </p:sp>
      <p:sp>
        <p:nvSpPr>
          <p:cNvPr id="16" name="Text 8"/>
          <p:cNvSpPr/>
          <p:nvPr/>
        </p:nvSpPr>
        <p:spPr>
          <a:xfrm>
            <a:off x="4724281" y="6299954"/>
            <a:ext cx="3709035" cy="974765"/>
          </a:xfrm>
          <a:prstGeom prst="rect">
            <a:avLst/>
          </a:prstGeom>
          <a:noFill/>
          <a:ln/>
        </p:spPr>
        <p:txBody>
          <a:bodyPr wrap="square" lIns="0" tIns="0" rIns="0" bIns="0" rtlCol="0" anchor="t"/>
          <a:lstStyle/>
          <a:p>
            <a:pPr algn="l" indent="0" marL="0">
              <a:lnSpc>
                <a:spcPts val="2550"/>
              </a:lnSpc>
              <a:buNone/>
            </a:pPr>
            <a:r>
              <a:rPr lang="en-US" sz="1550" dirty="0">
                <a:solidFill>
                  <a:srgbClr val="3A3630"/>
                </a:solidFill>
                <a:latin typeface="Source Sans Pro" pitchFamily="34" charset="0"/>
                <a:ea typeface="Source Sans Pro" pitchFamily="34" charset="-122"/>
                <a:cs typeface="Source Sans Pro" pitchFamily="34" charset="-120"/>
              </a:rPr>
              <a:t>El sistema sigue funcionando incluso si uno o más de sus componentes fallan, gracias a mecanismos de replicación y recuperación.</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37724" y="1528167"/>
            <a:ext cx="9617750" cy="704017"/>
          </a:xfrm>
          <a:prstGeom prst="rect">
            <a:avLst/>
          </a:prstGeom>
          <a:noFill/>
          <a:ln/>
        </p:spPr>
        <p:txBody>
          <a:bodyPr wrap="none" lIns="0" tIns="0" rIns="0" bIns="0" rtlCol="0" anchor="t"/>
          <a:lstStyle/>
          <a:p>
            <a:pPr indent="0" marL="0">
              <a:lnSpc>
                <a:spcPts val="5500"/>
              </a:lnSpc>
              <a:buNone/>
            </a:pPr>
            <a:r>
              <a:rPr lang="en-US" sz="4400" dirty="0">
                <a:solidFill>
                  <a:srgbClr val="38512F"/>
                </a:solidFill>
                <a:latin typeface="Lora" pitchFamily="34" charset="0"/>
                <a:ea typeface="Lora" pitchFamily="34" charset="-122"/>
                <a:cs typeface="Lora" pitchFamily="34" charset="-120"/>
              </a:rPr>
              <a:t>Tipos de Bases de Datos Distribuidas</a:t>
            </a:r>
            <a:endParaRPr lang="en-US" sz="4400" dirty="0"/>
          </a:p>
        </p:txBody>
      </p:sp>
      <p:sp>
        <p:nvSpPr>
          <p:cNvPr id="3" name="Text 1"/>
          <p:cNvSpPr/>
          <p:nvPr/>
        </p:nvSpPr>
        <p:spPr>
          <a:xfrm>
            <a:off x="837724" y="2830473"/>
            <a:ext cx="2800826" cy="351949"/>
          </a:xfrm>
          <a:prstGeom prst="rect">
            <a:avLst/>
          </a:prstGeom>
          <a:noFill/>
          <a:ln/>
        </p:spPr>
        <p:txBody>
          <a:bodyPr wrap="none" lIns="0" tIns="0" rIns="0" bIns="0" rtlCol="0" anchor="t"/>
          <a:lstStyle/>
          <a:p>
            <a:pPr indent="0" marL="0">
              <a:lnSpc>
                <a:spcPts val="2750"/>
              </a:lnSpc>
              <a:buNone/>
            </a:pPr>
            <a:r>
              <a:rPr lang="en-US" sz="2200" dirty="0">
                <a:solidFill>
                  <a:srgbClr val="38512F"/>
                </a:solidFill>
                <a:latin typeface="Lora" pitchFamily="34" charset="0"/>
                <a:ea typeface="Lora" pitchFamily="34" charset="-122"/>
                <a:cs typeface="Lora" pitchFamily="34" charset="-120"/>
              </a:rPr>
              <a:t>Cliente-Servidor</a:t>
            </a:r>
            <a:endParaRPr lang="en-US" sz="2200" dirty="0"/>
          </a:p>
        </p:txBody>
      </p:sp>
      <p:sp>
        <p:nvSpPr>
          <p:cNvPr id="4" name="Text 2"/>
          <p:cNvSpPr/>
          <p:nvPr/>
        </p:nvSpPr>
        <p:spPr>
          <a:xfrm>
            <a:off x="837724" y="3421737"/>
            <a:ext cx="2800826" cy="3064193"/>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En este modelo, los datos se almacenan en servidores centrales y los clientes remotos acceden a ellos a través de una red. Permite escalar el almacenamiento y procesar cargas de trabajo distribuidas.</a:t>
            </a:r>
            <a:endParaRPr lang="en-US" sz="1850" dirty="0"/>
          </a:p>
        </p:txBody>
      </p:sp>
      <p:sp>
        <p:nvSpPr>
          <p:cNvPr id="5" name="Text 3"/>
          <p:cNvSpPr/>
          <p:nvPr/>
        </p:nvSpPr>
        <p:spPr>
          <a:xfrm>
            <a:off x="4230053" y="2830473"/>
            <a:ext cx="2800826" cy="351949"/>
          </a:xfrm>
          <a:prstGeom prst="rect">
            <a:avLst/>
          </a:prstGeom>
          <a:noFill/>
          <a:ln/>
        </p:spPr>
        <p:txBody>
          <a:bodyPr wrap="none" lIns="0" tIns="0" rIns="0" bIns="0" rtlCol="0" anchor="t"/>
          <a:lstStyle/>
          <a:p>
            <a:pPr indent="0" marL="0">
              <a:lnSpc>
                <a:spcPts val="2750"/>
              </a:lnSpc>
              <a:buNone/>
            </a:pPr>
            <a:r>
              <a:rPr lang="en-US" sz="2200" dirty="0">
                <a:solidFill>
                  <a:srgbClr val="38512F"/>
                </a:solidFill>
                <a:latin typeface="Lora" pitchFamily="34" charset="0"/>
                <a:ea typeface="Lora" pitchFamily="34" charset="-122"/>
                <a:cs typeface="Lora" pitchFamily="34" charset="-120"/>
              </a:rPr>
              <a:t>Peer-to-Peer (P2P)</a:t>
            </a:r>
            <a:endParaRPr lang="en-US" sz="2200" dirty="0"/>
          </a:p>
        </p:txBody>
      </p:sp>
      <p:sp>
        <p:nvSpPr>
          <p:cNvPr id="6" name="Text 4"/>
          <p:cNvSpPr/>
          <p:nvPr/>
        </p:nvSpPr>
        <p:spPr>
          <a:xfrm>
            <a:off x="4230053" y="3421737"/>
            <a:ext cx="2800826" cy="3064193"/>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En un sistema P2P, los nodos comparten datos y recursos de manera descentralizada sin depender de un servidor central. Esto aumenta la tolerancia a fallos y la escalabilidad.</a:t>
            </a:r>
            <a:endParaRPr lang="en-US" sz="1850" dirty="0"/>
          </a:p>
        </p:txBody>
      </p:sp>
      <p:sp>
        <p:nvSpPr>
          <p:cNvPr id="7" name="Text 5"/>
          <p:cNvSpPr/>
          <p:nvPr/>
        </p:nvSpPr>
        <p:spPr>
          <a:xfrm>
            <a:off x="7622381" y="2830473"/>
            <a:ext cx="2800826" cy="351949"/>
          </a:xfrm>
          <a:prstGeom prst="rect">
            <a:avLst/>
          </a:prstGeom>
          <a:noFill/>
          <a:ln/>
        </p:spPr>
        <p:txBody>
          <a:bodyPr wrap="none" lIns="0" tIns="0" rIns="0" bIns="0" rtlCol="0" anchor="t"/>
          <a:lstStyle/>
          <a:p>
            <a:pPr indent="0" marL="0">
              <a:lnSpc>
                <a:spcPts val="2750"/>
              </a:lnSpc>
              <a:buNone/>
            </a:pPr>
            <a:r>
              <a:rPr lang="en-US" sz="2200" dirty="0">
                <a:solidFill>
                  <a:srgbClr val="38512F"/>
                </a:solidFill>
                <a:latin typeface="Lora" pitchFamily="34" charset="0"/>
                <a:ea typeface="Lora" pitchFamily="34" charset="-122"/>
                <a:cs typeface="Lora" pitchFamily="34" charset="-120"/>
              </a:rPr>
              <a:t>Federada</a:t>
            </a:r>
            <a:endParaRPr lang="en-US" sz="2200" dirty="0"/>
          </a:p>
        </p:txBody>
      </p:sp>
      <p:sp>
        <p:nvSpPr>
          <p:cNvPr id="8" name="Text 6"/>
          <p:cNvSpPr/>
          <p:nvPr/>
        </p:nvSpPr>
        <p:spPr>
          <a:xfrm>
            <a:off x="7622381" y="3421737"/>
            <a:ext cx="2800826" cy="3064193"/>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Las bases de datos federadas integran múltiples sistemas heterogéneos en una única interfaz lógica. Permiten el acceso transparente a datos distribuidos a través de una capa de abstracción.</a:t>
            </a:r>
            <a:endParaRPr lang="en-US" sz="1850" dirty="0"/>
          </a:p>
        </p:txBody>
      </p:sp>
      <p:sp>
        <p:nvSpPr>
          <p:cNvPr id="9" name="Text 7"/>
          <p:cNvSpPr/>
          <p:nvPr/>
        </p:nvSpPr>
        <p:spPr>
          <a:xfrm>
            <a:off x="11014710" y="2830473"/>
            <a:ext cx="2800826" cy="351949"/>
          </a:xfrm>
          <a:prstGeom prst="rect">
            <a:avLst/>
          </a:prstGeom>
          <a:noFill/>
          <a:ln/>
        </p:spPr>
        <p:txBody>
          <a:bodyPr wrap="none" lIns="0" tIns="0" rIns="0" bIns="0" rtlCol="0" anchor="t"/>
          <a:lstStyle/>
          <a:p>
            <a:pPr indent="0" marL="0">
              <a:lnSpc>
                <a:spcPts val="2750"/>
              </a:lnSpc>
              <a:buNone/>
            </a:pPr>
            <a:r>
              <a:rPr lang="en-US" sz="2200" dirty="0">
                <a:solidFill>
                  <a:srgbClr val="38512F"/>
                </a:solidFill>
                <a:latin typeface="Lora" pitchFamily="34" charset="0"/>
                <a:ea typeface="Lora" pitchFamily="34" charset="-122"/>
                <a:cs typeface="Lora" pitchFamily="34" charset="-120"/>
              </a:rPr>
              <a:t>Paralela</a:t>
            </a:r>
            <a:endParaRPr lang="en-US" sz="2200" dirty="0"/>
          </a:p>
        </p:txBody>
      </p:sp>
      <p:sp>
        <p:nvSpPr>
          <p:cNvPr id="10" name="Text 8"/>
          <p:cNvSpPr/>
          <p:nvPr/>
        </p:nvSpPr>
        <p:spPr>
          <a:xfrm>
            <a:off x="11014710" y="3421737"/>
            <a:ext cx="2800826" cy="2681168"/>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Los sistemas de bases de datos paralelas dividen y procesan las consultas a través de múltiples nodos, lo que mejora el rendimiento para cargas de trabajo intensivas.</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616041"/>
          </a:xfrm>
          <a:prstGeom prst="rect">
            <a:avLst/>
          </a:prstGeom>
        </p:spPr>
      </p:pic>
      <p:pic>
        <p:nvPicPr>
          <p:cNvPr id="3" name="Image 1" descr="preencoded.png">    </p:cNvPr>
          <p:cNvPicPr>
            <a:picLocks noChangeAspect="1"/>
          </p:cNvPicPr>
          <p:nvPr/>
        </p:nvPicPr>
        <p:blipFill>
          <a:blip r:embed="rId2"/>
          <a:stretch>
            <a:fillRect/>
          </a:stretch>
        </p:blipFill>
        <p:spPr>
          <a:xfrm>
            <a:off x="5561409" y="261580"/>
            <a:ext cx="3507581" cy="2092881"/>
          </a:xfrm>
          <a:prstGeom prst="rect">
            <a:avLst/>
          </a:prstGeom>
        </p:spPr>
      </p:pic>
      <p:sp>
        <p:nvSpPr>
          <p:cNvPr id="4" name="Text 0"/>
          <p:cNvSpPr/>
          <p:nvPr/>
        </p:nvSpPr>
        <p:spPr>
          <a:xfrm>
            <a:off x="732473" y="3347799"/>
            <a:ext cx="12817197" cy="615553"/>
          </a:xfrm>
          <a:prstGeom prst="rect">
            <a:avLst/>
          </a:prstGeom>
          <a:noFill/>
          <a:ln/>
        </p:spPr>
        <p:txBody>
          <a:bodyPr wrap="none" lIns="0" tIns="0" rIns="0" bIns="0" rtlCol="0" anchor="t"/>
          <a:lstStyle/>
          <a:p>
            <a:pPr indent="0" marL="0">
              <a:lnSpc>
                <a:spcPts val="4800"/>
              </a:lnSpc>
              <a:buNone/>
            </a:pPr>
            <a:r>
              <a:rPr lang="en-US" sz="3850" dirty="0">
                <a:solidFill>
                  <a:srgbClr val="38512F"/>
                </a:solidFill>
                <a:latin typeface="Lora" pitchFamily="34" charset="0"/>
                <a:ea typeface="Lora" pitchFamily="34" charset="-122"/>
                <a:cs typeface="Lora" pitchFamily="34" charset="-120"/>
              </a:rPr>
              <a:t>Ventajas y desventajas de las bases de datos distribuidas</a:t>
            </a:r>
            <a:endParaRPr lang="en-US" sz="3850" dirty="0"/>
          </a:p>
        </p:txBody>
      </p:sp>
      <p:sp>
        <p:nvSpPr>
          <p:cNvPr id="5" name="Shape 1"/>
          <p:cNvSpPr/>
          <p:nvPr/>
        </p:nvSpPr>
        <p:spPr>
          <a:xfrm>
            <a:off x="732473" y="4512588"/>
            <a:ext cx="366236" cy="366236"/>
          </a:xfrm>
          <a:prstGeom prst="roundRect">
            <a:avLst>
              <a:gd name="adj" fmla="val 8572"/>
            </a:avLst>
          </a:prstGeom>
          <a:solidFill>
            <a:srgbClr val="F3E7D4"/>
          </a:solidFill>
          <a:ln/>
        </p:spPr>
      </p:sp>
      <p:sp>
        <p:nvSpPr>
          <p:cNvPr id="6" name="Text 2"/>
          <p:cNvSpPr/>
          <p:nvPr/>
        </p:nvSpPr>
        <p:spPr>
          <a:xfrm>
            <a:off x="1307902" y="4512588"/>
            <a:ext cx="2462093" cy="307777"/>
          </a:xfrm>
          <a:prstGeom prst="rect">
            <a:avLst/>
          </a:prstGeom>
          <a:noFill/>
          <a:ln/>
        </p:spPr>
        <p:txBody>
          <a:bodyPr wrap="none" lIns="0" tIns="0" rIns="0" bIns="0" rtlCol="0" anchor="t"/>
          <a:lstStyle/>
          <a:p>
            <a:pPr indent="0" marL="0">
              <a:lnSpc>
                <a:spcPts val="2400"/>
              </a:lnSpc>
              <a:buNone/>
            </a:pPr>
            <a:r>
              <a:rPr lang="en-US" sz="1900" dirty="0">
                <a:solidFill>
                  <a:srgbClr val="3A3630"/>
                </a:solidFill>
                <a:latin typeface="Lora" pitchFamily="34" charset="0"/>
                <a:ea typeface="Lora" pitchFamily="34" charset="-122"/>
                <a:cs typeface="Lora" pitchFamily="34" charset="-120"/>
              </a:rPr>
              <a:t>Escalabilidad</a:t>
            </a:r>
            <a:endParaRPr lang="en-US" sz="1900" dirty="0"/>
          </a:p>
        </p:txBody>
      </p:sp>
      <p:sp>
        <p:nvSpPr>
          <p:cNvPr id="7" name="Text 3"/>
          <p:cNvSpPr/>
          <p:nvPr/>
        </p:nvSpPr>
        <p:spPr>
          <a:xfrm>
            <a:off x="1307902" y="4945856"/>
            <a:ext cx="5902762" cy="1004411"/>
          </a:xfrm>
          <a:prstGeom prst="rect">
            <a:avLst/>
          </a:prstGeom>
          <a:noFill/>
          <a:ln/>
        </p:spPr>
        <p:txBody>
          <a:bodyPr wrap="square" lIns="0" tIns="0" rIns="0" bIns="0" rtlCol="0" anchor="t"/>
          <a:lstStyle/>
          <a:p>
            <a:pPr indent="0" marL="0">
              <a:lnSpc>
                <a:spcPts val="2600"/>
              </a:lnSpc>
              <a:buNone/>
            </a:pPr>
            <a:r>
              <a:rPr lang="en-US" sz="1600" dirty="0">
                <a:solidFill>
                  <a:srgbClr val="3A3630"/>
                </a:solidFill>
                <a:latin typeface="Source Sans Pro" pitchFamily="34" charset="0"/>
                <a:ea typeface="Source Sans Pro" pitchFamily="34" charset="-122"/>
                <a:cs typeface="Source Sans Pro" pitchFamily="34" charset="-120"/>
              </a:rPr>
              <a:t>Las bases de datos distribuidas pueden manejar volúmenes de datos a gran escala y aumentar la capacidad conforme crece la demanda.</a:t>
            </a:r>
            <a:endParaRPr lang="en-US" sz="1600" dirty="0"/>
          </a:p>
        </p:txBody>
      </p:sp>
      <p:sp>
        <p:nvSpPr>
          <p:cNvPr id="8" name="Shape 4"/>
          <p:cNvSpPr/>
          <p:nvPr/>
        </p:nvSpPr>
        <p:spPr>
          <a:xfrm>
            <a:off x="7419856" y="4512588"/>
            <a:ext cx="366236" cy="366236"/>
          </a:xfrm>
          <a:prstGeom prst="roundRect">
            <a:avLst>
              <a:gd name="adj" fmla="val 8572"/>
            </a:avLst>
          </a:prstGeom>
          <a:solidFill>
            <a:srgbClr val="F3E7D4"/>
          </a:solidFill>
          <a:ln/>
        </p:spPr>
      </p:sp>
      <p:sp>
        <p:nvSpPr>
          <p:cNvPr id="9" name="Text 5"/>
          <p:cNvSpPr/>
          <p:nvPr/>
        </p:nvSpPr>
        <p:spPr>
          <a:xfrm>
            <a:off x="7995285" y="4512588"/>
            <a:ext cx="2462093" cy="307777"/>
          </a:xfrm>
          <a:prstGeom prst="rect">
            <a:avLst/>
          </a:prstGeom>
          <a:noFill/>
          <a:ln/>
        </p:spPr>
        <p:txBody>
          <a:bodyPr wrap="none" lIns="0" tIns="0" rIns="0" bIns="0" rtlCol="0" anchor="t"/>
          <a:lstStyle/>
          <a:p>
            <a:pPr indent="0" marL="0">
              <a:lnSpc>
                <a:spcPts val="2400"/>
              </a:lnSpc>
              <a:buNone/>
            </a:pPr>
            <a:r>
              <a:rPr lang="en-US" sz="1900" dirty="0">
                <a:solidFill>
                  <a:srgbClr val="3A3630"/>
                </a:solidFill>
                <a:latin typeface="Lora" pitchFamily="34" charset="0"/>
                <a:ea typeface="Lora" pitchFamily="34" charset="-122"/>
                <a:cs typeface="Lora" pitchFamily="34" charset="-120"/>
              </a:rPr>
              <a:t>Tolerancia a fallas</a:t>
            </a:r>
            <a:endParaRPr lang="en-US" sz="1900" dirty="0"/>
          </a:p>
        </p:txBody>
      </p:sp>
      <p:sp>
        <p:nvSpPr>
          <p:cNvPr id="10" name="Text 6"/>
          <p:cNvSpPr/>
          <p:nvPr/>
        </p:nvSpPr>
        <p:spPr>
          <a:xfrm>
            <a:off x="7995285" y="4945856"/>
            <a:ext cx="5902762" cy="669608"/>
          </a:xfrm>
          <a:prstGeom prst="rect">
            <a:avLst/>
          </a:prstGeom>
          <a:noFill/>
          <a:ln/>
        </p:spPr>
        <p:txBody>
          <a:bodyPr wrap="square" lIns="0" tIns="0" rIns="0" bIns="0" rtlCol="0" anchor="t"/>
          <a:lstStyle/>
          <a:p>
            <a:pPr indent="0" marL="0">
              <a:lnSpc>
                <a:spcPts val="2600"/>
              </a:lnSpc>
              <a:buNone/>
            </a:pPr>
            <a:r>
              <a:rPr lang="en-US" sz="1600" dirty="0">
                <a:solidFill>
                  <a:srgbClr val="3A3630"/>
                </a:solidFill>
                <a:latin typeface="Source Sans Pro" pitchFamily="34" charset="0"/>
                <a:ea typeface="Source Sans Pro" pitchFamily="34" charset="-122"/>
                <a:cs typeface="Source Sans Pro" pitchFamily="34" charset="-120"/>
              </a:rPr>
              <a:t>Debido a la redundancia de datos en múltiples nodos, los sistemas distribuidos son más resilientes a fallas puntuales.</a:t>
            </a:r>
            <a:endParaRPr lang="en-US" sz="1600" dirty="0"/>
          </a:p>
        </p:txBody>
      </p:sp>
      <p:sp>
        <p:nvSpPr>
          <p:cNvPr id="11" name="Shape 7"/>
          <p:cNvSpPr/>
          <p:nvPr/>
        </p:nvSpPr>
        <p:spPr>
          <a:xfrm>
            <a:off x="732473" y="6394847"/>
            <a:ext cx="366236" cy="366236"/>
          </a:xfrm>
          <a:prstGeom prst="roundRect">
            <a:avLst>
              <a:gd name="adj" fmla="val 8572"/>
            </a:avLst>
          </a:prstGeom>
          <a:solidFill>
            <a:srgbClr val="F3E7D4"/>
          </a:solidFill>
          <a:ln/>
        </p:spPr>
      </p:sp>
      <p:sp>
        <p:nvSpPr>
          <p:cNvPr id="12" name="Text 8"/>
          <p:cNvSpPr/>
          <p:nvPr/>
        </p:nvSpPr>
        <p:spPr>
          <a:xfrm>
            <a:off x="1307902" y="6394847"/>
            <a:ext cx="2507099" cy="307777"/>
          </a:xfrm>
          <a:prstGeom prst="rect">
            <a:avLst/>
          </a:prstGeom>
          <a:noFill/>
          <a:ln/>
        </p:spPr>
        <p:txBody>
          <a:bodyPr wrap="none" lIns="0" tIns="0" rIns="0" bIns="0" rtlCol="0" anchor="t"/>
          <a:lstStyle/>
          <a:p>
            <a:pPr indent="0" marL="0">
              <a:lnSpc>
                <a:spcPts val="2400"/>
              </a:lnSpc>
              <a:buNone/>
            </a:pPr>
            <a:r>
              <a:rPr lang="en-US" sz="1900" dirty="0">
                <a:solidFill>
                  <a:srgbClr val="3A3630"/>
                </a:solidFill>
                <a:latin typeface="Lora" pitchFamily="34" charset="0"/>
                <a:ea typeface="Lora" pitchFamily="34" charset="-122"/>
                <a:cs typeface="Lora" pitchFamily="34" charset="-120"/>
              </a:rPr>
              <a:t>Desempeño mejorado</a:t>
            </a:r>
            <a:endParaRPr lang="en-US" sz="1900" dirty="0"/>
          </a:p>
        </p:txBody>
      </p:sp>
      <p:sp>
        <p:nvSpPr>
          <p:cNvPr id="13" name="Text 9"/>
          <p:cNvSpPr/>
          <p:nvPr/>
        </p:nvSpPr>
        <p:spPr>
          <a:xfrm>
            <a:off x="1307902" y="6828115"/>
            <a:ext cx="5902762" cy="669608"/>
          </a:xfrm>
          <a:prstGeom prst="rect">
            <a:avLst/>
          </a:prstGeom>
          <a:noFill/>
          <a:ln/>
        </p:spPr>
        <p:txBody>
          <a:bodyPr wrap="square" lIns="0" tIns="0" rIns="0" bIns="0" rtlCol="0" anchor="t"/>
          <a:lstStyle/>
          <a:p>
            <a:pPr indent="0" marL="0">
              <a:lnSpc>
                <a:spcPts val="2600"/>
              </a:lnSpc>
              <a:buNone/>
            </a:pPr>
            <a:r>
              <a:rPr lang="en-US" sz="1600" dirty="0">
                <a:solidFill>
                  <a:srgbClr val="3A3630"/>
                </a:solidFill>
                <a:latin typeface="Source Sans Pro" pitchFamily="34" charset="0"/>
                <a:ea typeface="Source Sans Pro" pitchFamily="34" charset="-122"/>
                <a:cs typeface="Source Sans Pro" pitchFamily="34" charset="-120"/>
              </a:rPr>
              <a:t>La carga de trabajo se distribuye entre múltiples servidores, lo que reduce la carga en cada nodo y mejora la velocidad de acceso.</a:t>
            </a:r>
            <a:endParaRPr lang="en-US" sz="1600" dirty="0"/>
          </a:p>
        </p:txBody>
      </p:sp>
      <p:sp>
        <p:nvSpPr>
          <p:cNvPr id="14" name="Shape 10"/>
          <p:cNvSpPr/>
          <p:nvPr/>
        </p:nvSpPr>
        <p:spPr>
          <a:xfrm>
            <a:off x="7419856" y="6394847"/>
            <a:ext cx="366236" cy="366236"/>
          </a:xfrm>
          <a:prstGeom prst="roundRect">
            <a:avLst>
              <a:gd name="adj" fmla="val 8572"/>
            </a:avLst>
          </a:prstGeom>
          <a:solidFill>
            <a:srgbClr val="F3E7D4"/>
          </a:solidFill>
          <a:ln/>
        </p:spPr>
      </p:sp>
      <p:sp>
        <p:nvSpPr>
          <p:cNvPr id="15" name="Text 11"/>
          <p:cNvSpPr/>
          <p:nvPr/>
        </p:nvSpPr>
        <p:spPr>
          <a:xfrm>
            <a:off x="7995285" y="6394847"/>
            <a:ext cx="2462093" cy="307777"/>
          </a:xfrm>
          <a:prstGeom prst="rect">
            <a:avLst/>
          </a:prstGeom>
          <a:noFill/>
          <a:ln/>
        </p:spPr>
        <p:txBody>
          <a:bodyPr wrap="none" lIns="0" tIns="0" rIns="0" bIns="0" rtlCol="0" anchor="t"/>
          <a:lstStyle/>
          <a:p>
            <a:pPr indent="0" marL="0">
              <a:lnSpc>
                <a:spcPts val="2400"/>
              </a:lnSpc>
              <a:buNone/>
            </a:pPr>
            <a:r>
              <a:rPr lang="en-US" sz="1900" dirty="0">
                <a:solidFill>
                  <a:srgbClr val="3A3630"/>
                </a:solidFill>
                <a:latin typeface="Lora" pitchFamily="34" charset="0"/>
                <a:ea typeface="Lora" pitchFamily="34" charset="-122"/>
                <a:cs typeface="Lora" pitchFamily="34" charset="-120"/>
              </a:rPr>
              <a:t>Complejidad</a:t>
            </a:r>
            <a:endParaRPr lang="en-US" sz="1900" dirty="0"/>
          </a:p>
        </p:txBody>
      </p:sp>
      <p:sp>
        <p:nvSpPr>
          <p:cNvPr id="16" name="Text 12"/>
          <p:cNvSpPr/>
          <p:nvPr/>
        </p:nvSpPr>
        <p:spPr>
          <a:xfrm>
            <a:off x="7995285" y="6828115"/>
            <a:ext cx="5902762" cy="669608"/>
          </a:xfrm>
          <a:prstGeom prst="rect">
            <a:avLst/>
          </a:prstGeom>
          <a:noFill/>
          <a:ln/>
        </p:spPr>
        <p:txBody>
          <a:bodyPr wrap="square" lIns="0" tIns="0" rIns="0" bIns="0" rtlCol="0" anchor="t"/>
          <a:lstStyle/>
          <a:p>
            <a:pPr indent="0" marL="0">
              <a:lnSpc>
                <a:spcPts val="2600"/>
              </a:lnSpc>
              <a:buNone/>
            </a:pPr>
            <a:r>
              <a:rPr lang="en-US" sz="1600" dirty="0">
                <a:solidFill>
                  <a:srgbClr val="3A3630"/>
                </a:solidFill>
                <a:latin typeface="Source Sans Pro" pitchFamily="34" charset="0"/>
                <a:ea typeface="Source Sans Pro" pitchFamily="34" charset="-122"/>
                <a:cs typeface="Source Sans Pro" pitchFamily="34" charset="-120"/>
              </a:rPr>
              <a:t>La coordinación y sincronización entre múltiples nodos agrega mayores desafíos de implementación y mantenimiento.</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658773"/>
            <a:ext cx="5632490" cy="704017"/>
          </a:xfrm>
          <a:prstGeom prst="rect">
            <a:avLst/>
          </a:prstGeom>
          <a:noFill/>
          <a:ln/>
        </p:spPr>
        <p:txBody>
          <a:bodyPr wrap="none" lIns="0" tIns="0" rIns="0" bIns="0" rtlCol="0" anchor="t"/>
          <a:lstStyle/>
          <a:p>
            <a:pPr indent="0" marL="0">
              <a:lnSpc>
                <a:spcPts val="5500"/>
              </a:lnSpc>
              <a:buNone/>
            </a:pPr>
            <a:r>
              <a:rPr lang="en-US" sz="4400" dirty="0">
                <a:solidFill>
                  <a:srgbClr val="38512F"/>
                </a:solidFill>
                <a:latin typeface="Lora" pitchFamily="34" charset="0"/>
                <a:ea typeface="Lora" pitchFamily="34" charset="-122"/>
                <a:cs typeface="Lora" pitchFamily="34" charset="-120"/>
              </a:rPr>
              <a:t>Teorema CAP</a:t>
            </a:r>
            <a:endParaRPr lang="en-US" sz="4400" dirty="0"/>
          </a:p>
        </p:txBody>
      </p:sp>
      <p:sp>
        <p:nvSpPr>
          <p:cNvPr id="3" name="Shape 1"/>
          <p:cNvSpPr/>
          <p:nvPr/>
        </p:nvSpPr>
        <p:spPr>
          <a:xfrm>
            <a:off x="837724" y="1841540"/>
            <a:ext cx="2159079" cy="1357193"/>
          </a:xfrm>
          <a:prstGeom prst="roundRect">
            <a:avLst>
              <a:gd name="adj" fmla="val 2646"/>
            </a:avLst>
          </a:prstGeom>
          <a:solidFill>
            <a:srgbClr val="F3E7D4"/>
          </a:solidFill>
          <a:ln/>
        </p:spPr>
      </p:sp>
      <p:sp>
        <p:nvSpPr>
          <p:cNvPr id="4" name="Text 2"/>
          <p:cNvSpPr/>
          <p:nvPr/>
        </p:nvSpPr>
        <p:spPr>
          <a:xfrm>
            <a:off x="1077039" y="2280761"/>
            <a:ext cx="108942" cy="478631"/>
          </a:xfrm>
          <a:prstGeom prst="rect">
            <a:avLst/>
          </a:prstGeom>
          <a:noFill/>
          <a:ln/>
        </p:spPr>
        <p:txBody>
          <a:bodyPr wrap="none" lIns="0" tIns="0" rIns="0" bIns="0" rtlCol="0" anchor="t"/>
          <a:lstStyle/>
          <a:p>
            <a:pPr algn="ctr" indent="0" marL="0">
              <a:lnSpc>
                <a:spcPts val="3750"/>
              </a:lnSpc>
              <a:buNone/>
            </a:pPr>
            <a:r>
              <a:rPr lang="en-US" sz="2350" dirty="0">
                <a:solidFill>
                  <a:srgbClr val="3A3630"/>
                </a:solidFill>
                <a:latin typeface="Lora" pitchFamily="34" charset="0"/>
                <a:ea typeface="Lora" pitchFamily="34" charset="-122"/>
                <a:cs typeface="Lora" pitchFamily="34" charset="-120"/>
              </a:rPr>
              <a:t>1</a:t>
            </a:r>
            <a:endParaRPr lang="en-US" sz="2350" dirty="0"/>
          </a:p>
        </p:txBody>
      </p:sp>
      <p:sp>
        <p:nvSpPr>
          <p:cNvPr id="5" name="Text 3"/>
          <p:cNvSpPr/>
          <p:nvPr/>
        </p:nvSpPr>
        <p:spPr>
          <a:xfrm>
            <a:off x="3236119" y="2080855"/>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3A3630"/>
                </a:solidFill>
                <a:latin typeface="Lora" pitchFamily="34" charset="0"/>
                <a:ea typeface="Lora" pitchFamily="34" charset="-122"/>
                <a:cs typeface="Lora" pitchFamily="34" charset="-120"/>
              </a:rPr>
              <a:t>Consistencia</a:t>
            </a:r>
            <a:endParaRPr lang="en-US" sz="2200" dirty="0"/>
          </a:p>
        </p:txBody>
      </p:sp>
      <p:sp>
        <p:nvSpPr>
          <p:cNvPr id="6" name="Text 4"/>
          <p:cNvSpPr/>
          <p:nvPr/>
        </p:nvSpPr>
        <p:spPr>
          <a:xfrm>
            <a:off x="3236119" y="2576393"/>
            <a:ext cx="5589032" cy="383024"/>
          </a:xfrm>
          <a:prstGeom prst="rect">
            <a:avLst/>
          </a:prstGeom>
          <a:noFill/>
          <a:ln/>
        </p:spPr>
        <p:txBody>
          <a:bodyPr wrap="none" lIns="0" tIns="0" rIns="0" bIns="0" rtlCol="0" anchor="t"/>
          <a:lstStyle/>
          <a:p>
            <a:pPr algn="l"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Todos los nodos ven los mismos datos al mismo tiempo.</a:t>
            </a:r>
            <a:endParaRPr lang="en-US" sz="1850" dirty="0"/>
          </a:p>
        </p:txBody>
      </p:sp>
      <p:sp>
        <p:nvSpPr>
          <p:cNvPr id="7" name="Shape 5"/>
          <p:cNvSpPr/>
          <p:nvPr/>
        </p:nvSpPr>
        <p:spPr>
          <a:xfrm>
            <a:off x="3116461" y="3183493"/>
            <a:ext cx="10556558" cy="15240"/>
          </a:xfrm>
          <a:prstGeom prst="roundRect">
            <a:avLst>
              <a:gd name="adj" fmla="val 235611"/>
            </a:avLst>
          </a:prstGeom>
          <a:solidFill>
            <a:srgbClr val="D9CDBA"/>
          </a:solidFill>
          <a:ln/>
        </p:spPr>
      </p:sp>
      <p:sp>
        <p:nvSpPr>
          <p:cNvPr id="8" name="Shape 6"/>
          <p:cNvSpPr/>
          <p:nvPr/>
        </p:nvSpPr>
        <p:spPr>
          <a:xfrm>
            <a:off x="837724" y="3318391"/>
            <a:ext cx="4318278" cy="1357193"/>
          </a:xfrm>
          <a:prstGeom prst="roundRect">
            <a:avLst>
              <a:gd name="adj" fmla="val 2646"/>
            </a:avLst>
          </a:prstGeom>
          <a:solidFill>
            <a:srgbClr val="F3E7D4"/>
          </a:solidFill>
          <a:ln/>
        </p:spPr>
      </p:sp>
      <p:sp>
        <p:nvSpPr>
          <p:cNvPr id="9" name="Text 7"/>
          <p:cNvSpPr/>
          <p:nvPr/>
        </p:nvSpPr>
        <p:spPr>
          <a:xfrm>
            <a:off x="1077039" y="3757613"/>
            <a:ext cx="160615" cy="478631"/>
          </a:xfrm>
          <a:prstGeom prst="rect">
            <a:avLst/>
          </a:prstGeom>
          <a:noFill/>
          <a:ln/>
        </p:spPr>
        <p:txBody>
          <a:bodyPr wrap="none" lIns="0" tIns="0" rIns="0" bIns="0" rtlCol="0" anchor="t"/>
          <a:lstStyle/>
          <a:p>
            <a:pPr algn="ctr" indent="0" marL="0">
              <a:lnSpc>
                <a:spcPts val="3750"/>
              </a:lnSpc>
              <a:buNone/>
            </a:pPr>
            <a:r>
              <a:rPr lang="en-US" sz="2350" dirty="0">
                <a:solidFill>
                  <a:srgbClr val="3A3630"/>
                </a:solidFill>
                <a:latin typeface="Lora" pitchFamily="34" charset="0"/>
                <a:ea typeface="Lora" pitchFamily="34" charset="-122"/>
                <a:cs typeface="Lora" pitchFamily="34" charset="-120"/>
              </a:rPr>
              <a:t>2</a:t>
            </a:r>
            <a:endParaRPr lang="en-US" sz="2350" dirty="0"/>
          </a:p>
        </p:txBody>
      </p:sp>
      <p:sp>
        <p:nvSpPr>
          <p:cNvPr id="10" name="Text 8"/>
          <p:cNvSpPr/>
          <p:nvPr/>
        </p:nvSpPr>
        <p:spPr>
          <a:xfrm>
            <a:off x="5395317" y="3557707"/>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3A3630"/>
                </a:solidFill>
                <a:latin typeface="Lora" pitchFamily="34" charset="0"/>
                <a:ea typeface="Lora" pitchFamily="34" charset="-122"/>
                <a:cs typeface="Lora" pitchFamily="34" charset="-120"/>
              </a:rPr>
              <a:t>Disponibilidad</a:t>
            </a:r>
            <a:endParaRPr lang="en-US" sz="2200" dirty="0"/>
          </a:p>
        </p:txBody>
      </p:sp>
      <p:sp>
        <p:nvSpPr>
          <p:cNvPr id="11" name="Text 9"/>
          <p:cNvSpPr/>
          <p:nvPr/>
        </p:nvSpPr>
        <p:spPr>
          <a:xfrm>
            <a:off x="5395317" y="4053245"/>
            <a:ext cx="5981224" cy="383024"/>
          </a:xfrm>
          <a:prstGeom prst="rect">
            <a:avLst/>
          </a:prstGeom>
          <a:noFill/>
          <a:ln/>
        </p:spPr>
        <p:txBody>
          <a:bodyPr wrap="none" lIns="0" tIns="0" rIns="0" bIns="0" rtlCol="0" anchor="t"/>
          <a:lstStyle/>
          <a:p>
            <a:pPr algn="l"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Cualquier nodo puede leer y escribir en cualquier momento.</a:t>
            </a:r>
            <a:endParaRPr lang="en-US" sz="1850" dirty="0"/>
          </a:p>
        </p:txBody>
      </p:sp>
      <p:sp>
        <p:nvSpPr>
          <p:cNvPr id="12" name="Shape 10"/>
          <p:cNvSpPr/>
          <p:nvPr/>
        </p:nvSpPr>
        <p:spPr>
          <a:xfrm>
            <a:off x="5275659" y="4660344"/>
            <a:ext cx="8397359" cy="15240"/>
          </a:xfrm>
          <a:prstGeom prst="roundRect">
            <a:avLst>
              <a:gd name="adj" fmla="val 235611"/>
            </a:avLst>
          </a:prstGeom>
          <a:solidFill>
            <a:srgbClr val="D9CDBA"/>
          </a:solidFill>
          <a:ln/>
        </p:spPr>
      </p:sp>
      <p:sp>
        <p:nvSpPr>
          <p:cNvPr id="13" name="Shape 11"/>
          <p:cNvSpPr/>
          <p:nvPr/>
        </p:nvSpPr>
        <p:spPr>
          <a:xfrm>
            <a:off x="837724" y="4795242"/>
            <a:ext cx="6477476" cy="1357193"/>
          </a:xfrm>
          <a:prstGeom prst="roundRect">
            <a:avLst>
              <a:gd name="adj" fmla="val 2646"/>
            </a:avLst>
          </a:prstGeom>
          <a:solidFill>
            <a:srgbClr val="F3E7D4"/>
          </a:solidFill>
          <a:ln/>
        </p:spPr>
      </p:sp>
      <p:sp>
        <p:nvSpPr>
          <p:cNvPr id="14" name="Text 12"/>
          <p:cNvSpPr/>
          <p:nvPr/>
        </p:nvSpPr>
        <p:spPr>
          <a:xfrm>
            <a:off x="1077039" y="5234464"/>
            <a:ext cx="166688" cy="478631"/>
          </a:xfrm>
          <a:prstGeom prst="rect">
            <a:avLst/>
          </a:prstGeom>
          <a:noFill/>
          <a:ln/>
        </p:spPr>
        <p:txBody>
          <a:bodyPr wrap="none" lIns="0" tIns="0" rIns="0" bIns="0" rtlCol="0" anchor="t"/>
          <a:lstStyle/>
          <a:p>
            <a:pPr algn="ctr" indent="0" marL="0">
              <a:lnSpc>
                <a:spcPts val="3750"/>
              </a:lnSpc>
              <a:buNone/>
            </a:pPr>
            <a:r>
              <a:rPr lang="en-US" sz="2350" dirty="0">
                <a:solidFill>
                  <a:srgbClr val="3A3630"/>
                </a:solidFill>
                <a:latin typeface="Lora" pitchFamily="34" charset="0"/>
                <a:ea typeface="Lora" pitchFamily="34" charset="-122"/>
                <a:cs typeface="Lora" pitchFamily="34" charset="-120"/>
              </a:rPr>
              <a:t>3</a:t>
            </a:r>
            <a:endParaRPr lang="en-US" sz="2350" dirty="0"/>
          </a:p>
        </p:txBody>
      </p:sp>
      <p:sp>
        <p:nvSpPr>
          <p:cNvPr id="15" name="Text 13"/>
          <p:cNvSpPr/>
          <p:nvPr/>
        </p:nvSpPr>
        <p:spPr>
          <a:xfrm>
            <a:off x="7554516" y="5034558"/>
            <a:ext cx="3135868" cy="351949"/>
          </a:xfrm>
          <a:prstGeom prst="rect">
            <a:avLst/>
          </a:prstGeom>
          <a:noFill/>
          <a:ln/>
        </p:spPr>
        <p:txBody>
          <a:bodyPr wrap="none" lIns="0" tIns="0" rIns="0" bIns="0" rtlCol="0" anchor="t"/>
          <a:lstStyle/>
          <a:p>
            <a:pPr algn="l" indent="0" marL="0">
              <a:lnSpc>
                <a:spcPts val="2750"/>
              </a:lnSpc>
              <a:buNone/>
            </a:pPr>
            <a:r>
              <a:rPr lang="en-US" sz="2200" dirty="0">
                <a:solidFill>
                  <a:srgbClr val="3A3630"/>
                </a:solidFill>
                <a:latin typeface="Lora" pitchFamily="34" charset="0"/>
                <a:ea typeface="Lora" pitchFamily="34" charset="-122"/>
                <a:cs typeface="Lora" pitchFamily="34" charset="-120"/>
              </a:rPr>
              <a:t>Tolerancia a particiones</a:t>
            </a:r>
            <a:endParaRPr lang="en-US" sz="2200" dirty="0"/>
          </a:p>
        </p:txBody>
      </p:sp>
      <p:sp>
        <p:nvSpPr>
          <p:cNvPr id="16" name="Text 14"/>
          <p:cNvSpPr/>
          <p:nvPr/>
        </p:nvSpPr>
        <p:spPr>
          <a:xfrm>
            <a:off x="7554516" y="5530096"/>
            <a:ext cx="5289590" cy="383024"/>
          </a:xfrm>
          <a:prstGeom prst="rect">
            <a:avLst/>
          </a:prstGeom>
          <a:noFill/>
          <a:ln/>
        </p:spPr>
        <p:txBody>
          <a:bodyPr wrap="none" lIns="0" tIns="0" rIns="0" bIns="0" rtlCol="0" anchor="t"/>
          <a:lstStyle/>
          <a:p>
            <a:pPr algn="l"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El sistema sigue funcionando a pesar de fallas de red.</a:t>
            </a:r>
            <a:endParaRPr lang="en-US" sz="1850" dirty="0"/>
          </a:p>
        </p:txBody>
      </p:sp>
      <p:sp>
        <p:nvSpPr>
          <p:cNvPr id="17" name="Text 15"/>
          <p:cNvSpPr/>
          <p:nvPr/>
        </p:nvSpPr>
        <p:spPr>
          <a:xfrm>
            <a:off x="837724" y="6421636"/>
            <a:ext cx="12954952" cy="1149072"/>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El Teorema CAP establece que en un sistema distribuido solo se pueden garantizar dos de estas tres propiedades a la vez. Es decir, es imposible tener un sistema que sea 100% consistente, disponible y tolerante a particiones al mismo tiempo. Este teorema es fundamental para comprender los desafíos y trade-offs en el diseño de bases de datos distribuidas.</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736294"/>
          </a:xfrm>
          <a:prstGeom prst="rect">
            <a:avLst/>
          </a:prstGeom>
        </p:spPr>
      </p:pic>
      <p:pic>
        <p:nvPicPr>
          <p:cNvPr id="3" name="Image 1" descr="preencoded.png">    </p:cNvPr>
          <p:cNvPicPr>
            <a:picLocks noChangeAspect="1"/>
          </p:cNvPicPr>
          <p:nvPr/>
        </p:nvPicPr>
        <p:blipFill>
          <a:blip r:embed="rId2"/>
          <a:stretch>
            <a:fillRect/>
          </a:stretch>
        </p:blipFill>
        <p:spPr>
          <a:xfrm>
            <a:off x="6078379" y="273606"/>
            <a:ext cx="2473523" cy="2189083"/>
          </a:xfrm>
          <a:prstGeom prst="rect">
            <a:avLst/>
          </a:prstGeom>
        </p:spPr>
      </p:pic>
      <p:sp>
        <p:nvSpPr>
          <p:cNvPr id="4" name="Text 0"/>
          <p:cNvSpPr/>
          <p:nvPr/>
        </p:nvSpPr>
        <p:spPr>
          <a:xfrm>
            <a:off x="766167" y="3339703"/>
            <a:ext cx="5877163" cy="643771"/>
          </a:xfrm>
          <a:prstGeom prst="rect">
            <a:avLst/>
          </a:prstGeom>
          <a:noFill/>
          <a:ln/>
        </p:spPr>
        <p:txBody>
          <a:bodyPr wrap="none" lIns="0" tIns="0" rIns="0" bIns="0" rtlCol="0" anchor="t"/>
          <a:lstStyle/>
          <a:p>
            <a:pPr indent="0" marL="0">
              <a:lnSpc>
                <a:spcPts val="5050"/>
              </a:lnSpc>
              <a:buNone/>
            </a:pPr>
            <a:r>
              <a:rPr lang="en-US" sz="4050" dirty="0">
                <a:solidFill>
                  <a:srgbClr val="38512F"/>
                </a:solidFill>
                <a:latin typeface="Lora" pitchFamily="34" charset="0"/>
                <a:ea typeface="Lora" pitchFamily="34" charset="-122"/>
                <a:cs typeface="Lora" pitchFamily="34" charset="-120"/>
              </a:rPr>
              <a:t>Modelos de consistencia</a:t>
            </a:r>
            <a:endParaRPr lang="en-US" sz="4050" dirty="0"/>
          </a:p>
        </p:txBody>
      </p:sp>
      <p:sp>
        <p:nvSpPr>
          <p:cNvPr id="5" name="Shape 1"/>
          <p:cNvSpPr/>
          <p:nvPr/>
        </p:nvSpPr>
        <p:spPr>
          <a:xfrm>
            <a:off x="766167" y="4311729"/>
            <a:ext cx="4220170" cy="3314343"/>
          </a:xfrm>
          <a:prstGeom prst="roundRect">
            <a:avLst>
              <a:gd name="adj" fmla="val 991"/>
            </a:avLst>
          </a:prstGeom>
          <a:solidFill>
            <a:srgbClr val="F3E7D4"/>
          </a:solidFill>
          <a:ln/>
        </p:spPr>
      </p:sp>
      <p:sp>
        <p:nvSpPr>
          <p:cNvPr id="6" name="Text 2"/>
          <p:cNvSpPr/>
          <p:nvPr/>
        </p:nvSpPr>
        <p:spPr>
          <a:xfrm>
            <a:off x="985004" y="4530566"/>
            <a:ext cx="3782497" cy="643652"/>
          </a:xfrm>
          <a:prstGeom prst="rect">
            <a:avLst/>
          </a:prstGeom>
          <a:noFill/>
          <a:ln/>
        </p:spPr>
        <p:txBody>
          <a:bodyPr wrap="square" lIns="0" tIns="0" rIns="0" bIns="0" rtlCol="0" anchor="t"/>
          <a:lstStyle/>
          <a:p>
            <a:pPr indent="0" marL="0">
              <a:lnSpc>
                <a:spcPts val="2500"/>
              </a:lnSpc>
              <a:buNone/>
            </a:pPr>
            <a:r>
              <a:rPr lang="en-US" sz="2000" dirty="0">
                <a:solidFill>
                  <a:srgbClr val="3A3630"/>
                </a:solidFill>
                <a:latin typeface="Lora" pitchFamily="34" charset="0"/>
                <a:ea typeface="Lora" pitchFamily="34" charset="-122"/>
                <a:cs typeface="Lora" pitchFamily="34" charset="-120"/>
              </a:rPr>
              <a:t>Consistencia fuerte (strong consistency)</a:t>
            </a:r>
            <a:endParaRPr lang="en-US" sz="2000" dirty="0"/>
          </a:p>
        </p:txBody>
      </p:sp>
      <p:sp>
        <p:nvSpPr>
          <p:cNvPr id="7" name="Text 3"/>
          <p:cNvSpPr/>
          <p:nvPr/>
        </p:nvSpPr>
        <p:spPr>
          <a:xfrm>
            <a:off x="985004" y="5305544"/>
            <a:ext cx="3782497" cy="2101691"/>
          </a:xfrm>
          <a:prstGeom prst="rect">
            <a:avLst/>
          </a:prstGeom>
          <a:noFill/>
          <a:ln/>
        </p:spPr>
        <p:txBody>
          <a:bodyPr wrap="square" lIns="0" tIns="0" rIns="0" bIns="0" rtlCol="0" anchor="t"/>
          <a:lstStyle/>
          <a:p>
            <a:pPr indent="0" marL="0">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Garantiza que todos los nodos ven la misma versión de los datos en todo momento, sin inconsistencias. Es el modelo más estricto pero también el más difícil de implementar en sistemas distribuidos.</a:t>
            </a:r>
            <a:endParaRPr lang="en-US" sz="1700" dirty="0"/>
          </a:p>
        </p:txBody>
      </p:sp>
      <p:sp>
        <p:nvSpPr>
          <p:cNvPr id="8" name="Shape 4"/>
          <p:cNvSpPr/>
          <p:nvPr/>
        </p:nvSpPr>
        <p:spPr>
          <a:xfrm>
            <a:off x="5205174" y="4311729"/>
            <a:ext cx="4220170" cy="3314343"/>
          </a:xfrm>
          <a:prstGeom prst="roundRect">
            <a:avLst>
              <a:gd name="adj" fmla="val 991"/>
            </a:avLst>
          </a:prstGeom>
          <a:solidFill>
            <a:srgbClr val="F3E7D4"/>
          </a:solidFill>
          <a:ln/>
        </p:spPr>
      </p:sp>
      <p:sp>
        <p:nvSpPr>
          <p:cNvPr id="9" name="Text 5"/>
          <p:cNvSpPr/>
          <p:nvPr/>
        </p:nvSpPr>
        <p:spPr>
          <a:xfrm>
            <a:off x="5424011" y="4530566"/>
            <a:ext cx="3782497" cy="643652"/>
          </a:xfrm>
          <a:prstGeom prst="rect">
            <a:avLst/>
          </a:prstGeom>
          <a:noFill/>
          <a:ln/>
        </p:spPr>
        <p:txBody>
          <a:bodyPr wrap="square" lIns="0" tIns="0" rIns="0" bIns="0" rtlCol="0" anchor="t"/>
          <a:lstStyle/>
          <a:p>
            <a:pPr indent="0" marL="0">
              <a:lnSpc>
                <a:spcPts val="2500"/>
              </a:lnSpc>
              <a:buNone/>
            </a:pPr>
            <a:r>
              <a:rPr lang="en-US" sz="2000" dirty="0">
                <a:solidFill>
                  <a:srgbClr val="3A3630"/>
                </a:solidFill>
                <a:latin typeface="Lora" pitchFamily="34" charset="0"/>
                <a:ea typeface="Lora" pitchFamily="34" charset="-122"/>
                <a:cs typeface="Lora" pitchFamily="34" charset="-120"/>
              </a:rPr>
              <a:t>Consistencia eventual (eventual consistency)</a:t>
            </a:r>
            <a:endParaRPr lang="en-US" sz="2000" dirty="0"/>
          </a:p>
        </p:txBody>
      </p:sp>
      <p:sp>
        <p:nvSpPr>
          <p:cNvPr id="10" name="Text 6"/>
          <p:cNvSpPr/>
          <p:nvPr/>
        </p:nvSpPr>
        <p:spPr>
          <a:xfrm>
            <a:off x="5424011" y="5305544"/>
            <a:ext cx="3782497" cy="1751409"/>
          </a:xfrm>
          <a:prstGeom prst="rect">
            <a:avLst/>
          </a:prstGeom>
          <a:noFill/>
          <a:ln/>
        </p:spPr>
        <p:txBody>
          <a:bodyPr wrap="square" lIns="0" tIns="0" rIns="0" bIns="0" rtlCol="0" anchor="t"/>
          <a:lstStyle/>
          <a:p>
            <a:pPr indent="0" marL="0">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Permite que los nodos tengan versiones diferentes temporalmente, pero eventualmente convergerán a un estado consistente. Es más flexible pero puede generar inconsistencias temporales.</a:t>
            </a:r>
            <a:endParaRPr lang="en-US" sz="1700" dirty="0"/>
          </a:p>
        </p:txBody>
      </p:sp>
      <p:sp>
        <p:nvSpPr>
          <p:cNvPr id="11" name="Shape 7"/>
          <p:cNvSpPr/>
          <p:nvPr/>
        </p:nvSpPr>
        <p:spPr>
          <a:xfrm>
            <a:off x="9644182" y="4311729"/>
            <a:ext cx="4220170" cy="3314343"/>
          </a:xfrm>
          <a:prstGeom prst="roundRect">
            <a:avLst>
              <a:gd name="adj" fmla="val 991"/>
            </a:avLst>
          </a:prstGeom>
          <a:solidFill>
            <a:srgbClr val="F3E7D4"/>
          </a:solidFill>
          <a:ln/>
        </p:spPr>
      </p:sp>
      <p:sp>
        <p:nvSpPr>
          <p:cNvPr id="12" name="Text 8"/>
          <p:cNvSpPr/>
          <p:nvPr/>
        </p:nvSpPr>
        <p:spPr>
          <a:xfrm>
            <a:off x="9863018" y="4530566"/>
            <a:ext cx="3782497" cy="643652"/>
          </a:xfrm>
          <a:prstGeom prst="rect">
            <a:avLst/>
          </a:prstGeom>
          <a:noFill/>
          <a:ln/>
        </p:spPr>
        <p:txBody>
          <a:bodyPr wrap="square" lIns="0" tIns="0" rIns="0" bIns="0" rtlCol="0" anchor="t"/>
          <a:lstStyle/>
          <a:p>
            <a:pPr indent="0" marL="0">
              <a:lnSpc>
                <a:spcPts val="2500"/>
              </a:lnSpc>
              <a:buNone/>
            </a:pPr>
            <a:r>
              <a:rPr lang="en-US" sz="2000" dirty="0">
                <a:solidFill>
                  <a:srgbClr val="3A3630"/>
                </a:solidFill>
                <a:latin typeface="Lora" pitchFamily="34" charset="0"/>
                <a:ea typeface="Lora" pitchFamily="34" charset="-122"/>
                <a:cs typeface="Lora" pitchFamily="34" charset="-120"/>
              </a:rPr>
              <a:t>Consistencia de sesión (session consistency)</a:t>
            </a:r>
            <a:endParaRPr lang="en-US" sz="2000" dirty="0"/>
          </a:p>
        </p:txBody>
      </p:sp>
      <p:sp>
        <p:nvSpPr>
          <p:cNvPr id="13" name="Text 9"/>
          <p:cNvSpPr/>
          <p:nvPr/>
        </p:nvSpPr>
        <p:spPr>
          <a:xfrm>
            <a:off x="9863018" y="5305544"/>
            <a:ext cx="3782497" cy="1751409"/>
          </a:xfrm>
          <a:prstGeom prst="rect">
            <a:avLst/>
          </a:prstGeom>
          <a:noFill/>
          <a:ln/>
        </p:spPr>
        <p:txBody>
          <a:bodyPr wrap="square" lIns="0" tIns="0" rIns="0" bIns="0" rtlCol="0" anchor="t"/>
          <a:lstStyle/>
          <a:p>
            <a:pPr indent="0" marL="0">
              <a:lnSpc>
                <a:spcPts val="2750"/>
              </a:lnSpc>
              <a:buNone/>
            </a:pPr>
            <a:r>
              <a:rPr lang="en-US" sz="1700" dirty="0">
                <a:solidFill>
                  <a:srgbClr val="3A3630"/>
                </a:solidFill>
                <a:latin typeface="Source Sans Pro" pitchFamily="34" charset="0"/>
                <a:ea typeface="Source Sans Pro" pitchFamily="34" charset="-122"/>
                <a:cs typeface="Source Sans Pro" pitchFamily="34" charset="-120"/>
              </a:rPr>
              <a:t>Garantiza consistencia dentro de una sesión de usuario pero permite inconsistencias entre sesiones. Equilibra la necesidad de disponibilidad con la de consistencia.</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270629" y="1642229"/>
            <a:ext cx="4945142" cy="4945142"/>
          </a:xfrm>
          <a:prstGeom prst="rect">
            <a:avLst/>
          </a:prstGeom>
        </p:spPr>
      </p:pic>
      <p:sp>
        <p:nvSpPr>
          <p:cNvPr id="4" name="Text 0"/>
          <p:cNvSpPr/>
          <p:nvPr/>
        </p:nvSpPr>
        <p:spPr>
          <a:xfrm>
            <a:off x="6244233" y="767001"/>
            <a:ext cx="7628334" cy="1273493"/>
          </a:xfrm>
          <a:prstGeom prst="rect">
            <a:avLst/>
          </a:prstGeom>
          <a:noFill/>
          <a:ln/>
        </p:spPr>
        <p:txBody>
          <a:bodyPr wrap="square" lIns="0" tIns="0" rIns="0" bIns="0" rtlCol="0" anchor="t"/>
          <a:lstStyle/>
          <a:p>
            <a:pPr indent="0" marL="0">
              <a:lnSpc>
                <a:spcPts val="5000"/>
              </a:lnSpc>
              <a:buNone/>
            </a:pPr>
            <a:r>
              <a:rPr lang="en-US" sz="4000" dirty="0">
                <a:solidFill>
                  <a:srgbClr val="38512F"/>
                </a:solidFill>
                <a:latin typeface="Lora" pitchFamily="34" charset="0"/>
                <a:ea typeface="Lora" pitchFamily="34" charset="-122"/>
                <a:cs typeface="Lora" pitchFamily="34" charset="-120"/>
              </a:rPr>
              <a:t>Desafíos de gestión de sistemas distribuidos</a:t>
            </a:r>
            <a:endParaRPr lang="en-US" sz="4000" dirty="0"/>
          </a:p>
        </p:txBody>
      </p:sp>
      <p:sp>
        <p:nvSpPr>
          <p:cNvPr id="5" name="Shape 1"/>
          <p:cNvSpPr/>
          <p:nvPr/>
        </p:nvSpPr>
        <p:spPr>
          <a:xfrm>
            <a:off x="6244233" y="2365177"/>
            <a:ext cx="3705939" cy="2613660"/>
          </a:xfrm>
          <a:prstGeom prst="roundRect">
            <a:avLst>
              <a:gd name="adj" fmla="val 1243"/>
            </a:avLst>
          </a:prstGeom>
          <a:solidFill>
            <a:srgbClr val="F3E7D4"/>
          </a:solidFill>
          <a:ln/>
        </p:spPr>
      </p:sp>
      <p:sp>
        <p:nvSpPr>
          <p:cNvPr id="6" name="Text 2"/>
          <p:cNvSpPr/>
          <p:nvPr/>
        </p:nvSpPr>
        <p:spPr>
          <a:xfrm>
            <a:off x="6460688" y="2581632"/>
            <a:ext cx="2547342" cy="318492"/>
          </a:xfrm>
          <a:prstGeom prst="rect">
            <a:avLst/>
          </a:prstGeom>
          <a:noFill/>
          <a:ln/>
        </p:spPr>
        <p:txBody>
          <a:bodyPr wrap="none" lIns="0" tIns="0" rIns="0" bIns="0" rtlCol="0" anchor="t"/>
          <a:lstStyle/>
          <a:p>
            <a:pPr indent="0" marL="0">
              <a:lnSpc>
                <a:spcPts val="2500"/>
              </a:lnSpc>
              <a:buNone/>
            </a:pPr>
            <a:r>
              <a:rPr lang="en-US" sz="2000" dirty="0">
                <a:solidFill>
                  <a:srgbClr val="3A3630"/>
                </a:solidFill>
                <a:latin typeface="Lora" pitchFamily="34" charset="0"/>
                <a:ea typeface="Lora" pitchFamily="34" charset="-122"/>
                <a:cs typeface="Lora" pitchFamily="34" charset="-120"/>
              </a:rPr>
              <a:t>Complejidad</a:t>
            </a:r>
            <a:endParaRPr lang="en-US" sz="2000" dirty="0"/>
          </a:p>
        </p:txBody>
      </p:sp>
      <p:sp>
        <p:nvSpPr>
          <p:cNvPr id="7" name="Text 3"/>
          <p:cNvSpPr/>
          <p:nvPr/>
        </p:nvSpPr>
        <p:spPr>
          <a:xfrm>
            <a:off x="6460688" y="3030022"/>
            <a:ext cx="3273028" cy="1732359"/>
          </a:xfrm>
          <a:prstGeom prst="rect">
            <a:avLst/>
          </a:prstGeom>
          <a:noFill/>
          <a:ln/>
        </p:spPr>
        <p:txBody>
          <a:bodyPr wrap="square" lIns="0" tIns="0" rIns="0" bIns="0" rtlCol="0" anchor="t"/>
          <a:lstStyle/>
          <a:p>
            <a:pPr indent="0" marL="0">
              <a:lnSpc>
                <a:spcPts val="2700"/>
              </a:lnSpc>
              <a:buNone/>
            </a:pPr>
            <a:r>
              <a:rPr lang="en-US" sz="1700" dirty="0">
                <a:solidFill>
                  <a:srgbClr val="3A3630"/>
                </a:solidFill>
                <a:latin typeface="Source Sans Pro" pitchFamily="34" charset="0"/>
                <a:ea typeface="Source Sans Pro" pitchFamily="34" charset="-122"/>
                <a:cs typeface="Source Sans Pro" pitchFamily="34" charset="-120"/>
              </a:rPr>
              <a:t>La coordinación y sincronización entre múltiples nodos distribuidos conlleva un alto grado de complejidad en la gestión de estos sistemas.</a:t>
            </a:r>
            <a:endParaRPr lang="en-US" sz="1700" dirty="0"/>
          </a:p>
        </p:txBody>
      </p:sp>
      <p:sp>
        <p:nvSpPr>
          <p:cNvPr id="8" name="Shape 4"/>
          <p:cNvSpPr/>
          <p:nvPr/>
        </p:nvSpPr>
        <p:spPr>
          <a:xfrm>
            <a:off x="10166628" y="2365177"/>
            <a:ext cx="3705939" cy="2613660"/>
          </a:xfrm>
          <a:prstGeom prst="roundRect">
            <a:avLst>
              <a:gd name="adj" fmla="val 1243"/>
            </a:avLst>
          </a:prstGeom>
          <a:solidFill>
            <a:srgbClr val="F3E7D4"/>
          </a:solidFill>
          <a:ln/>
        </p:spPr>
      </p:sp>
      <p:sp>
        <p:nvSpPr>
          <p:cNvPr id="9" name="Text 5"/>
          <p:cNvSpPr/>
          <p:nvPr/>
        </p:nvSpPr>
        <p:spPr>
          <a:xfrm>
            <a:off x="10383083" y="2581632"/>
            <a:ext cx="2547342" cy="318492"/>
          </a:xfrm>
          <a:prstGeom prst="rect">
            <a:avLst/>
          </a:prstGeom>
          <a:noFill/>
          <a:ln/>
        </p:spPr>
        <p:txBody>
          <a:bodyPr wrap="none" lIns="0" tIns="0" rIns="0" bIns="0" rtlCol="0" anchor="t"/>
          <a:lstStyle/>
          <a:p>
            <a:pPr indent="0" marL="0">
              <a:lnSpc>
                <a:spcPts val="2500"/>
              </a:lnSpc>
              <a:buNone/>
            </a:pPr>
            <a:r>
              <a:rPr lang="en-US" sz="2000" dirty="0">
                <a:solidFill>
                  <a:srgbClr val="3A3630"/>
                </a:solidFill>
                <a:latin typeface="Lora" pitchFamily="34" charset="0"/>
                <a:ea typeface="Lora" pitchFamily="34" charset="-122"/>
                <a:cs typeface="Lora" pitchFamily="34" charset="-120"/>
              </a:rPr>
              <a:t>Escalabilidad</a:t>
            </a:r>
            <a:endParaRPr lang="en-US" sz="2000" dirty="0"/>
          </a:p>
        </p:txBody>
      </p:sp>
      <p:sp>
        <p:nvSpPr>
          <p:cNvPr id="10" name="Text 6"/>
          <p:cNvSpPr/>
          <p:nvPr/>
        </p:nvSpPr>
        <p:spPr>
          <a:xfrm>
            <a:off x="10383083" y="3030022"/>
            <a:ext cx="3273028" cy="1385888"/>
          </a:xfrm>
          <a:prstGeom prst="rect">
            <a:avLst/>
          </a:prstGeom>
          <a:noFill/>
          <a:ln/>
        </p:spPr>
        <p:txBody>
          <a:bodyPr wrap="square" lIns="0" tIns="0" rIns="0" bIns="0" rtlCol="0" anchor="t"/>
          <a:lstStyle/>
          <a:p>
            <a:pPr indent="0" marL="0">
              <a:lnSpc>
                <a:spcPts val="2700"/>
              </a:lnSpc>
              <a:buNone/>
            </a:pPr>
            <a:r>
              <a:rPr lang="en-US" sz="1700" dirty="0">
                <a:solidFill>
                  <a:srgbClr val="3A3630"/>
                </a:solidFill>
                <a:latin typeface="Source Sans Pro" pitchFamily="34" charset="0"/>
                <a:ea typeface="Source Sans Pro" pitchFamily="34" charset="-122"/>
                <a:cs typeface="Source Sans Pro" pitchFamily="34" charset="-120"/>
              </a:rPr>
              <a:t>Mantener un alto rendimiento y disponibilidad al agregar más elementos al sistema distribuido representa un reto significativo.</a:t>
            </a:r>
            <a:endParaRPr lang="en-US" sz="1700" dirty="0"/>
          </a:p>
        </p:txBody>
      </p:sp>
      <p:sp>
        <p:nvSpPr>
          <p:cNvPr id="11" name="Shape 7"/>
          <p:cNvSpPr/>
          <p:nvPr/>
        </p:nvSpPr>
        <p:spPr>
          <a:xfrm>
            <a:off x="6244233" y="5195292"/>
            <a:ext cx="3705939" cy="2267188"/>
          </a:xfrm>
          <a:prstGeom prst="roundRect">
            <a:avLst>
              <a:gd name="adj" fmla="val 1433"/>
            </a:avLst>
          </a:prstGeom>
          <a:solidFill>
            <a:srgbClr val="F3E7D4"/>
          </a:solidFill>
          <a:ln/>
        </p:spPr>
      </p:sp>
      <p:sp>
        <p:nvSpPr>
          <p:cNvPr id="12" name="Text 8"/>
          <p:cNvSpPr/>
          <p:nvPr/>
        </p:nvSpPr>
        <p:spPr>
          <a:xfrm>
            <a:off x="6460688" y="5411748"/>
            <a:ext cx="2547342" cy="318492"/>
          </a:xfrm>
          <a:prstGeom prst="rect">
            <a:avLst/>
          </a:prstGeom>
          <a:noFill/>
          <a:ln/>
        </p:spPr>
        <p:txBody>
          <a:bodyPr wrap="none" lIns="0" tIns="0" rIns="0" bIns="0" rtlCol="0" anchor="t"/>
          <a:lstStyle/>
          <a:p>
            <a:pPr indent="0" marL="0">
              <a:lnSpc>
                <a:spcPts val="2500"/>
              </a:lnSpc>
              <a:buNone/>
            </a:pPr>
            <a:r>
              <a:rPr lang="en-US" sz="2000" dirty="0">
                <a:solidFill>
                  <a:srgbClr val="3A3630"/>
                </a:solidFill>
                <a:latin typeface="Lora" pitchFamily="34" charset="0"/>
                <a:ea typeface="Lora" pitchFamily="34" charset="-122"/>
                <a:cs typeface="Lora" pitchFamily="34" charset="-120"/>
              </a:rPr>
              <a:t>Tolerancia a fallas</a:t>
            </a:r>
            <a:endParaRPr lang="en-US" sz="2000" dirty="0"/>
          </a:p>
        </p:txBody>
      </p:sp>
      <p:sp>
        <p:nvSpPr>
          <p:cNvPr id="13" name="Text 9"/>
          <p:cNvSpPr/>
          <p:nvPr/>
        </p:nvSpPr>
        <p:spPr>
          <a:xfrm>
            <a:off x="6460688" y="5860137"/>
            <a:ext cx="3273028" cy="1385888"/>
          </a:xfrm>
          <a:prstGeom prst="rect">
            <a:avLst/>
          </a:prstGeom>
          <a:noFill/>
          <a:ln/>
        </p:spPr>
        <p:txBody>
          <a:bodyPr wrap="square" lIns="0" tIns="0" rIns="0" bIns="0" rtlCol="0" anchor="t"/>
          <a:lstStyle/>
          <a:p>
            <a:pPr indent="0" marL="0">
              <a:lnSpc>
                <a:spcPts val="2700"/>
              </a:lnSpc>
              <a:buNone/>
            </a:pPr>
            <a:r>
              <a:rPr lang="en-US" sz="1700" dirty="0">
                <a:solidFill>
                  <a:srgbClr val="3A3630"/>
                </a:solidFill>
                <a:latin typeface="Source Sans Pro" pitchFamily="34" charset="0"/>
                <a:ea typeface="Source Sans Pro" pitchFamily="34" charset="-122"/>
                <a:cs typeface="Source Sans Pro" pitchFamily="34" charset="-120"/>
              </a:rPr>
              <a:t>Asegurar que el sistema siga funcionando correctamente a pesar de fallas parciales en alguno de los nodos es fundamental.</a:t>
            </a:r>
            <a:endParaRPr lang="en-US" sz="1700" dirty="0"/>
          </a:p>
        </p:txBody>
      </p:sp>
      <p:sp>
        <p:nvSpPr>
          <p:cNvPr id="14" name="Shape 10"/>
          <p:cNvSpPr/>
          <p:nvPr/>
        </p:nvSpPr>
        <p:spPr>
          <a:xfrm>
            <a:off x="10166628" y="5195292"/>
            <a:ext cx="3705939" cy="2267188"/>
          </a:xfrm>
          <a:prstGeom prst="roundRect">
            <a:avLst>
              <a:gd name="adj" fmla="val 1433"/>
            </a:avLst>
          </a:prstGeom>
          <a:solidFill>
            <a:srgbClr val="F3E7D4"/>
          </a:solidFill>
          <a:ln/>
        </p:spPr>
      </p:sp>
      <p:sp>
        <p:nvSpPr>
          <p:cNvPr id="15" name="Text 11"/>
          <p:cNvSpPr/>
          <p:nvPr/>
        </p:nvSpPr>
        <p:spPr>
          <a:xfrm>
            <a:off x="10383083" y="5411748"/>
            <a:ext cx="2694742" cy="318492"/>
          </a:xfrm>
          <a:prstGeom prst="rect">
            <a:avLst/>
          </a:prstGeom>
          <a:noFill/>
          <a:ln/>
        </p:spPr>
        <p:txBody>
          <a:bodyPr wrap="none" lIns="0" tIns="0" rIns="0" bIns="0" rtlCol="0" anchor="t"/>
          <a:lstStyle/>
          <a:p>
            <a:pPr indent="0" marL="0">
              <a:lnSpc>
                <a:spcPts val="2500"/>
              </a:lnSpc>
              <a:buNone/>
            </a:pPr>
            <a:r>
              <a:rPr lang="en-US" sz="2000" dirty="0">
                <a:solidFill>
                  <a:srgbClr val="3A3630"/>
                </a:solidFill>
                <a:latin typeface="Lora" pitchFamily="34" charset="0"/>
                <a:ea typeface="Lora" pitchFamily="34" charset="-122"/>
                <a:cs typeface="Lora" pitchFamily="34" charset="-120"/>
              </a:rPr>
              <a:t>Seguridad y privacidad</a:t>
            </a:r>
            <a:endParaRPr lang="en-US" sz="2000" dirty="0"/>
          </a:p>
        </p:txBody>
      </p:sp>
      <p:sp>
        <p:nvSpPr>
          <p:cNvPr id="16" name="Text 12"/>
          <p:cNvSpPr/>
          <p:nvPr/>
        </p:nvSpPr>
        <p:spPr>
          <a:xfrm>
            <a:off x="10383083" y="5860137"/>
            <a:ext cx="3273028" cy="1385888"/>
          </a:xfrm>
          <a:prstGeom prst="rect">
            <a:avLst/>
          </a:prstGeom>
          <a:noFill/>
          <a:ln/>
        </p:spPr>
        <p:txBody>
          <a:bodyPr wrap="square" lIns="0" tIns="0" rIns="0" bIns="0" rtlCol="0" anchor="t"/>
          <a:lstStyle/>
          <a:p>
            <a:pPr indent="0" marL="0">
              <a:lnSpc>
                <a:spcPts val="2700"/>
              </a:lnSpc>
              <a:buNone/>
            </a:pPr>
            <a:r>
              <a:rPr lang="en-US" sz="1700" dirty="0">
                <a:solidFill>
                  <a:srgbClr val="3A3630"/>
                </a:solidFill>
                <a:latin typeface="Source Sans Pro" pitchFamily="34" charset="0"/>
                <a:ea typeface="Source Sans Pro" pitchFamily="34" charset="-122"/>
                <a:cs typeface="Source Sans Pro" pitchFamily="34" charset="-120"/>
              </a:rPr>
              <a:t>Proteger la integridad y confidencialidad de los datos distribuidos en múltiples ubicaciones es un desafío crítico.</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1719739"/>
            <a:ext cx="11497032" cy="704017"/>
          </a:xfrm>
          <a:prstGeom prst="rect">
            <a:avLst/>
          </a:prstGeom>
          <a:noFill/>
          <a:ln/>
        </p:spPr>
        <p:txBody>
          <a:bodyPr wrap="none" lIns="0" tIns="0" rIns="0" bIns="0" rtlCol="0" anchor="t"/>
          <a:lstStyle/>
          <a:p>
            <a:pPr indent="0" marL="0">
              <a:lnSpc>
                <a:spcPts val="5500"/>
              </a:lnSpc>
              <a:buNone/>
            </a:pPr>
            <a:r>
              <a:rPr lang="en-US" sz="4400" dirty="0">
                <a:solidFill>
                  <a:srgbClr val="38512F"/>
                </a:solidFill>
                <a:latin typeface="Lora" pitchFamily="34" charset="0"/>
                <a:ea typeface="Lora" pitchFamily="34" charset="-122"/>
                <a:cs typeface="Lora" pitchFamily="34" charset="-120"/>
              </a:rPr>
              <a:t>Técnicas para mantener integridad de datos</a:t>
            </a:r>
            <a:endParaRPr lang="en-US" sz="4400" dirty="0"/>
          </a:p>
        </p:txBody>
      </p:sp>
      <p:sp>
        <p:nvSpPr>
          <p:cNvPr id="3" name="Text 1"/>
          <p:cNvSpPr/>
          <p:nvPr/>
        </p:nvSpPr>
        <p:spPr>
          <a:xfrm>
            <a:off x="837724" y="3022044"/>
            <a:ext cx="2800826" cy="351949"/>
          </a:xfrm>
          <a:prstGeom prst="rect">
            <a:avLst/>
          </a:prstGeom>
          <a:noFill/>
          <a:ln/>
        </p:spPr>
        <p:txBody>
          <a:bodyPr wrap="none" lIns="0" tIns="0" rIns="0" bIns="0" rtlCol="0" anchor="t"/>
          <a:lstStyle/>
          <a:p>
            <a:pPr indent="0" marL="0">
              <a:lnSpc>
                <a:spcPts val="2750"/>
              </a:lnSpc>
              <a:buNone/>
            </a:pPr>
            <a:r>
              <a:rPr lang="en-US" sz="2200" dirty="0">
                <a:solidFill>
                  <a:srgbClr val="38512F"/>
                </a:solidFill>
                <a:latin typeface="Lora" pitchFamily="34" charset="0"/>
                <a:ea typeface="Lora" pitchFamily="34" charset="-122"/>
                <a:cs typeface="Lora" pitchFamily="34" charset="-120"/>
              </a:rPr>
              <a:t>Replicación Síncrona</a:t>
            </a:r>
            <a:endParaRPr lang="en-US" sz="2200" dirty="0"/>
          </a:p>
        </p:txBody>
      </p:sp>
      <p:sp>
        <p:nvSpPr>
          <p:cNvPr id="4" name="Text 2"/>
          <p:cNvSpPr/>
          <p:nvPr/>
        </p:nvSpPr>
        <p:spPr>
          <a:xfrm>
            <a:off x="837724" y="3613309"/>
            <a:ext cx="2800826" cy="2298144"/>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La replicación síncrona garantiza que los datos se escriban simultáneamente en múltiples nodos, asegurando la integridad incluso ante fallos.</a:t>
            </a:r>
            <a:endParaRPr lang="en-US" sz="1850" dirty="0"/>
          </a:p>
        </p:txBody>
      </p:sp>
      <p:sp>
        <p:nvSpPr>
          <p:cNvPr id="5" name="Text 3"/>
          <p:cNvSpPr/>
          <p:nvPr/>
        </p:nvSpPr>
        <p:spPr>
          <a:xfrm>
            <a:off x="4230053" y="3022044"/>
            <a:ext cx="2800826" cy="351949"/>
          </a:xfrm>
          <a:prstGeom prst="rect">
            <a:avLst/>
          </a:prstGeom>
          <a:noFill/>
          <a:ln/>
        </p:spPr>
        <p:txBody>
          <a:bodyPr wrap="none" lIns="0" tIns="0" rIns="0" bIns="0" rtlCol="0" anchor="t"/>
          <a:lstStyle/>
          <a:p>
            <a:pPr indent="0" marL="0">
              <a:lnSpc>
                <a:spcPts val="2750"/>
              </a:lnSpc>
              <a:buNone/>
            </a:pPr>
            <a:r>
              <a:rPr lang="en-US" sz="2200" dirty="0">
                <a:solidFill>
                  <a:srgbClr val="38512F"/>
                </a:solidFill>
                <a:latin typeface="Lora" pitchFamily="34" charset="0"/>
                <a:ea typeface="Lora" pitchFamily="34" charset="-122"/>
                <a:cs typeface="Lora" pitchFamily="34" charset="-120"/>
              </a:rPr>
              <a:t>Transacciones ACID</a:t>
            </a:r>
            <a:endParaRPr lang="en-US" sz="2200" dirty="0"/>
          </a:p>
        </p:txBody>
      </p:sp>
      <p:sp>
        <p:nvSpPr>
          <p:cNvPr id="6" name="Text 4"/>
          <p:cNvSpPr/>
          <p:nvPr/>
        </p:nvSpPr>
        <p:spPr>
          <a:xfrm>
            <a:off x="4230053" y="3613309"/>
            <a:ext cx="2800826" cy="2681168"/>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Las transacciones atómicas, consistentes, aisladas y durables son fundamentales para mantener la integridad de los datos en entornos distribuidos.</a:t>
            </a:r>
            <a:endParaRPr lang="en-US" sz="1850" dirty="0"/>
          </a:p>
        </p:txBody>
      </p:sp>
      <p:sp>
        <p:nvSpPr>
          <p:cNvPr id="7" name="Text 5"/>
          <p:cNvSpPr/>
          <p:nvPr/>
        </p:nvSpPr>
        <p:spPr>
          <a:xfrm>
            <a:off x="7622381" y="3022044"/>
            <a:ext cx="2800826" cy="703898"/>
          </a:xfrm>
          <a:prstGeom prst="rect">
            <a:avLst/>
          </a:prstGeom>
          <a:noFill/>
          <a:ln/>
        </p:spPr>
        <p:txBody>
          <a:bodyPr wrap="square" lIns="0" tIns="0" rIns="0" bIns="0" rtlCol="0" anchor="t"/>
          <a:lstStyle/>
          <a:p>
            <a:pPr indent="0" marL="0">
              <a:lnSpc>
                <a:spcPts val="2750"/>
              </a:lnSpc>
              <a:buNone/>
            </a:pPr>
            <a:r>
              <a:rPr lang="en-US" sz="2200" dirty="0">
                <a:solidFill>
                  <a:srgbClr val="38512F"/>
                </a:solidFill>
                <a:latin typeface="Lora" pitchFamily="34" charset="0"/>
                <a:ea typeface="Lora" pitchFamily="34" charset="-122"/>
                <a:cs typeface="Lora" pitchFamily="34" charset="-120"/>
              </a:rPr>
              <a:t>Validación de Esquemas</a:t>
            </a:r>
            <a:endParaRPr lang="en-US" sz="2200" dirty="0"/>
          </a:p>
        </p:txBody>
      </p:sp>
      <p:sp>
        <p:nvSpPr>
          <p:cNvPr id="8" name="Text 6"/>
          <p:cNvSpPr/>
          <p:nvPr/>
        </p:nvSpPr>
        <p:spPr>
          <a:xfrm>
            <a:off x="7622381" y="3965258"/>
            <a:ext cx="2800826" cy="1915120"/>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Implementar validaciones de esquemas rigurosas evita que se inserten datos incorrectos o inconsistentes en el sistema distribuido.</a:t>
            </a:r>
            <a:endParaRPr lang="en-US" sz="1850" dirty="0"/>
          </a:p>
        </p:txBody>
      </p:sp>
      <p:sp>
        <p:nvSpPr>
          <p:cNvPr id="9" name="Text 7"/>
          <p:cNvSpPr/>
          <p:nvPr/>
        </p:nvSpPr>
        <p:spPr>
          <a:xfrm>
            <a:off x="11014710" y="3022044"/>
            <a:ext cx="2800826" cy="351949"/>
          </a:xfrm>
          <a:prstGeom prst="rect">
            <a:avLst/>
          </a:prstGeom>
          <a:noFill/>
          <a:ln/>
        </p:spPr>
        <p:txBody>
          <a:bodyPr wrap="none" lIns="0" tIns="0" rIns="0" bIns="0" rtlCol="0" anchor="t"/>
          <a:lstStyle/>
          <a:p>
            <a:pPr indent="0" marL="0">
              <a:lnSpc>
                <a:spcPts val="2750"/>
              </a:lnSpc>
              <a:buNone/>
            </a:pPr>
            <a:r>
              <a:rPr lang="en-US" sz="2200" dirty="0">
                <a:solidFill>
                  <a:srgbClr val="38512F"/>
                </a:solidFill>
                <a:latin typeface="Lora" pitchFamily="34" charset="0"/>
                <a:ea typeface="Lora" pitchFamily="34" charset="-122"/>
                <a:cs typeface="Lora" pitchFamily="34" charset="-120"/>
              </a:rPr>
              <a:t>Monitoreo Continuo</a:t>
            </a:r>
            <a:endParaRPr lang="en-US" sz="2200" dirty="0"/>
          </a:p>
        </p:txBody>
      </p:sp>
      <p:sp>
        <p:nvSpPr>
          <p:cNvPr id="10" name="Text 8"/>
          <p:cNvSpPr/>
          <p:nvPr/>
        </p:nvSpPr>
        <p:spPr>
          <a:xfrm>
            <a:off x="11014710" y="3613309"/>
            <a:ext cx="2800826" cy="2298144"/>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El monitoreo constante de métricas clave permite detectar problemas de integridad de datos e intervenir de manera oportuna.</a:t>
            </a: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272415" y="1841659"/>
            <a:ext cx="4941451" cy="4546163"/>
          </a:xfrm>
          <a:prstGeom prst="rect">
            <a:avLst/>
          </a:prstGeom>
        </p:spPr>
      </p:pic>
      <p:sp>
        <p:nvSpPr>
          <p:cNvPr id="4" name="Text 0"/>
          <p:cNvSpPr/>
          <p:nvPr/>
        </p:nvSpPr>
        <p:spPr>
          <a:xfrm>
            <a:off x="6249233" y="761167"/>
            <a:ext cx="7618333" cy="1282303"/>
          </a:xfrm>
          <a:prstGeom prst="rect">
            <a:avLst/>
          </a:prstGeom>
          <a:noFill/>
          <a:ln/>
        </p:spPr>
        <p:txBody>
          <a:bodyPr wrap="square" lIns="0" tIns="0" rIns="0" bIns="0" rtlCol="0" anchor="t"/>
          <a:lstStyle/>
          <a:p>
            <a:pPr indent="0" marL="0">
              <a:lnSpc>
                <a:spcPts val="5000"/>
              </a:lnSpc>
              <a:buNone/>
            </a:pPr>
            <a:r>
              <a:rPr lang="en-US" sz="4000" dirty="0">
                <a:solidFill>
                  <a:srgbClr val="38512F"/>
                </a:solidFill>
                <a:latin typeface="Lora" pitchFamily="34" charset="0"/>
                <a:ea typeface="Lora" pitchFamily="34" charset="-122"/>
                <a:cs typeface="Lora" pitchFamily="34" charset="-120"/>
              </a:rPr>
              <a:t>Técnicas para mantener disponibilidad de datos</a:t>
            </a:r>
            <a:endParaRPr lang="en-US" sz="4000" dirty="0"/>
          </a:p>
        </p:txBody>
      </p:sp>
      <p:sp>
        <p:nvSpPr>
          <p:cNvPr id="5" name="Shape 1"/>
          <p:cNvSpPr/>
          <p:nvPr/>
        </p:nvSpPr>
        <p:spPr>
          <a:xfrm>
            <a:off x="6249233" y="2615565"/>
            <a:ext cx="490418" cy="490418"/>
          </a:xfrm>
          <a:prstGeom prst="roundRect">
            <a:avLst>
              <a:gd name="adj" fmla="val 6667"/>
            </a:avLst>
          </a:prstGeom>
          <a:solidFill>
            <a:srgbClr val="F3E7D4"/>
          </a:solidFill>
          <a:ln/>
        </p:spPr>
      </p:sp>
      <p:sp>
        <p:nvSpPr>
          <p:cNvPr id="6" name="Text 2"/>
          <p:cNvSpPr/>
          <p:nvPr/>
        </p:nvSpPr>
        <p:spPr>
          <a:xfrm>
            <a:off x="6438424" y="2706886"/>
            <a:ext cx="112038" cy="307777"/>
          </a:xfrm>
          <a:prstGeom prst="rect">
            <a:avLst/>
          </a:prstGeom>
          <a:noFill/>
          <a:ln/>
        </p:spPr>
        <p:txBody>
          <a:bodyPr wrap="none" lIns="0" tIns="0" rIns="0" bIns="0" rtlCol="0" anchor="t"/>
          <a:lstStyle/>
          <a:p>
            <a:pPr algn="ctr" indent="0" marL="0">
              <a:lnSpc>
                <a:spcPts val="2400"/>
              </a:lnSpc>
              <a:buNone/>
            </a:pPr>
            <a:r>
              <a:rPr lang="en-US" sz="2400" dirty="0">
                <a:solidFill>
                  <a:srgbClr val="3A3630"/>
                </a:solidFill>
                <a:latin typeface="Lora" pitchFamily="34" charset="0"/>
                <a:ea typeface="Lora" pitchFamily="34" charset="-122"/>
                <a:cs typeface="Lora" pitchFamily="34" charset="-120"/>
              </a:rPr>
              <a:t>1</a:t>
            </a:r>
            <a:endParaRPr lang="en-US" sz="2400" dirty="0"/>
          </a:p>
        </p:txBody>
      </p:sp>
      <p:sp>
        <p:nvSpPr>
          <p:cNvPr id="7" name="Text 3"/>
          <p:cNvSpPr/>
          <p:nvPr/>
        </p:nvSpPr>
        <p:spPr>
          <a:xfrm>
            <a:off x="6957536" y="2615565"/>
            <a:ext cx="2564487" cy="320516"/>
          </a:xfrm>
          <a:prstGeom prst="rect">
            <a:avLst/>
          </a:prstGeom>
          <a:noFill/>
          <a:ln/>
        </p:spPr>
        <p:txBody>
          <a:bodyPr wrap="none" lIns="0" tIns="0" rIns="0" bIns="0" rtlCol="0" anchor="t"/>
          <a:lstStyle/>
          <a:p>
            <a:pPr indent="0" marL="0">
              <a:lnSpc>
                <a:spcPts val="2500"/>
              </a:lnSpc>
              <a:buNone/>
            </a:pPr>
            <a:r>
              <a:rPr lang="en-US" sz="2000" dirty="0">
                <a:solidFill>
                  <a:srgbClr val="3A3630"/>
                </a:solidFill>
                <a:latin typeface="Lora" pitchFamily="34" charset="0"/>
                <a:ea typeface="Lora" pitchFamily="34" charset="-122"/>
                <a:cs typeface="Lora" pitchFamily="34" charset="-120"/>
              </a:rPr>
              <a:t>Replicación de datos</a:t>
            </a:r>
            <a:endParaRPr lang="en-US" sz="2000" dirty="0"/>
          </a:p>
        </p:txBody>
      </p:sp>
      <p:sp>
        <p:nvSpPr>
          <p:cNvPr id="8" name="Text 4"/>
          <p:cNvSpPr/>
          <p:nvPr/>
        </p:nvSpPr>
        <p:spPr>
          <a:xfrm>
            <a:off x="6957536" y="3066812"/>
            <a:ext cx="2991922" cy="1743670"/>
          </a:xfrm>
          <a:prstGeom prst="rect">
            <a:avLst/>
          </a:prstGeom>
          <a:noFill/>
          <a:ln/>
        </p:spPr>
        <p:txBody>
          <a:bodyPr wrap="square" lIns="0" tIns="0" rIns="0" bIns="0" rtlCol="0" anchor="t"/>
          <a:lstStyle/>
          <a:p>
            <a:pPr indent="0" marL="0">
              <a:lnSpc>
                <a:spcPts val="2700"/>
              </a:lnSpc>
              <a:buNone/>
            </a:pPr>
            <a:r>
              <a:rPr lang="en-US" sz="1700" dirty="0">
                <a:solidFill>
                  <a:srgbClr val="3A3630"/>
                </a:solidFill>
                <a:latin typeface="Source Sans Pro" pitchFamily="34" charset="0"/>
                <a:ea typeface="Source Sans Pro" pitchFamily="34" charset="-122"/>
                <a:cs typeface="Source Sans Pro" pitchFamily="34" charset="-120"/>
              </a:rPr>
              <a:t>Mantener múltiples copias de los datos en diferentes servidores para asegurar que estén disponibles incluso si un servidor falla.</a:t>
            </a:r>
            <a:endParaRPr lang="en-US" sz="1700" dirty="0"/>
          </a:p>
        </p:txBody>
      </p:sp>
      <p:sp>
        <p:nvSpPr>
          <p:cNvPr id="9" name="Shape 5"/>
          <p:cNvSpPr/>
          <p:nvPr/>
        </p:nvSpPr>
        <p:spPr>
          <a:xfrm>
            <a:off x="10167342" y="2615565"/>
            <a:ext cx="490418" cy="490418"/>
          </a:xfrm>
          <a:prstGeom prst="roundRect">
            <a:avLst>
              <a:gd name="adj" fmla="val 6667"/>
            </a:avLst>
          </a:prstGeom>
          <a:solidFill>
            <a:srgbClr val="F3E7D4"/>
          </a:solidFill>
          <a:ln/>
        </p:spPr>
      </p:sp>
      <p:sp>
        <p:nvSpPr>
          <p:cNvPr id="10" name="Text 6"/>
          <p:cNvSpPr/>
          <p:nvPr/>
        </p:nvSpPr>
        <p:spPr>
          <a:xfrm>
            <a:off x="10329863" y="2706886"/>
            <a:ext cx="165259" cy="307777"/>
          </a:xfrm>
          <a:prstGeom prst="rect">
            <a:avLst/>
          </a:prstGeom>
          <a:noFill/>
          <a:ln/>
        </p:spPr>
        <p:txBody>
          <a:bodyPr wrap="none" lIns="0" tIns="0" rIns="0" bIns="0" rtlCol="0" anchor="t"/>
          <a:lstStyle/>
          <a:p>
            <a:pPr algn="ctr" indent="0" marL="0">
              <a:lnSpc>
                <a:spcPts val="2400"/>
              </a:lnSpc>
              <a:buNone/>
            </a:pPr>
            <a:r>
              <a:rPr lang="en-US" sz="2400" dirty="0">
                <a:solidFill>
                  <a:srgbClr val="3A3630"/>
                </a:solidFill>
                <a:latin typeface="Lora" pitchFamily="34" charset="0"/>
                <a:ea typeface="Lora" pitchFamily="34" charset="-122"/>
                <a:cs typeface="Lora" pitchFamily="34" charset="-120"/>
              </a:rPr>
              <a:t>2</a:t>
            </a:r>
            <a:endParaRPr lang="en-US" sz="2400" dirty="0"/>
          </a:p>
        </p:txBody>
      </p:sp>
      <p:sp>
        <p:nvSpPr>
          <p:cNvPr id="11" name="Text 7"/>
          <p:cNvSpPr/>
          <p:nvPr/>
        </p:nvSpPr>
        <p:spPr>
          <a:xfrm>
            <a:off x="10875645" y="2615565"/>
            <a:ext cx="2564487" cy="320516"/>
          </a:xfrm>
          <a:prstGeom prst="rect">
            <a:avLst/>
          </a:prstGeom>
          <a:noFill/>
          <a:ln/>
        </p:spPr>
        <p:txBody>
          <a:bodyPr wrap="none" lIns="0" tIns="0" rIns="0" bIns="0" rtlCol="0" anchor="t"/>
          <a:lstStyle/>
          <a:p>
            <a:pPr indent="0" marL="0">
              <a:lnSpc>
                <a:spcPts val="2500"/>
              </a:lnSpc>
              <a:buNone/>
            </a:pPr>
            <a:r>
              <a:rPr lang="en-US" sz="2000" dirty="0">
                <a:solidFill>
                  <a:srgbClr val="3A3630"/>
                </a:solidFill>
                <a:latin typeface="Lora" pitchFamily="34" charset="0"/>
                <a:ea typeface="Lora" pitchFamily="34" charset="-122"/>
                <a:cs typeface="Lora" pitchFamily="34" charset="-120"/>
              </a:rPr>
              <a:t>Balanceo de carga</a:t>
            </a:r>
            <a:endParaRPr lang="en-US" sz="2000" dirty="0"/>
          </a:p>
        </p:txBody>
      </p:sp>
      <p:sp>
        <p:nvSpPr>
          <p:cNvPr id="12" name="Text 8"/>
          <p:cNvSpPr/>
          <p:nvPr/>
        </p:nvSpPr>
        <p:spPr>
          <a:xfrm>
            <a:off x="10875645" y="3066812"/>
            <a:ext cx="2991922" cy="1394936"/>
          </a:xfrm>
          <a:prstGeom prst="rect">
            <a:avLst/>
          </a:prstGeom>
          <a:noFill/>
          <a:ln/>
        </p:spPr>
        <p:txBody>
          <a:bodyPr wrap="square" lIns="0" tIns="0" rIns="0" bIns="0" rtlCol="0" anchor="t"/>
          <a:lstStyle/>
          <a:p>
            <a:pPr indent="0" marL="0">
              <a:lnSpc>
                <a:spcPts val="2700"/>
              </a:lnSpc>
              <a:buNone/>
            </a:pPr>
            <a:r>
              <a:rPr lang="en-US" sz="1700" dirty="0">
                <a:solidFill>
                  <a:srgbClr val="3A3630"/>
                </a:solidFill>
                <a:latin typeface="Source Sans Pro" pitchFamily="34" charset="0"/>
                <a:ea typeface="Source Sans Pro" pitchFamily="34" charset="-122"/>
                <a:cs typeface="Source Sans Pro" pitchFamily="34" charset="-120"/>
              </a:rPr>
              <a:t>Distribuir la carga de trabajo entre varios servidores para evitar que un solo punto de fallo sature y deje de responder.</a:t>
            </a:r>
            <a:endParaRPr lang="en-US" sz="1700" dirty="0"/>
          </a:p>
        </p:txBody>
      </p:sp>
      <p:sp>
        <p:nvSpPr>
          <p:cNvPr id="13" name="Shape 9"/>
          <p:cNvSpPr/>
          <p:nvPr/>
        </p:nvSpPr>
        <p:spPr>
          <a:xfrm>
            <a:off x="6249233" y="5273516"/>
            <a:ext cx="490418" cy="490418"/>
          </a:xfrm>
          <a:prstGeom prst="roundRect">
            <a:avLst>
              <a:gd name="adj" fmla="val 6667"/>
            </a:avLst>
          </a:prstGeom>
          <a:solidFill>
            <a:srgbClr val="F3E7D4"/>
          </a:solidFill>
          <a:ln/>
        </p:spPr>
      </p:sp>
      <p:sp>
        <p:nvSpPr>
          <p:cNvPr id="14" name="Text 10"/>
          <p:cNvSpPr/>
          <p:nvPr/>
        </p:nvSpPr>
        <p:spPr>
          <a:xfrm>
            <a:off x="6408658" y="5364837"/>
            <a:ext cx="171450" cy="307777"/>
          </a:xfrm>
          <a:prstGeom prst="rect">
            <a:avLst/>
          </a:prstGeom>
          <a:noFill/>
          <a:ln/>
        </p:spPr>
        <p:txBody>
          <a:bodyPr wrap="none" lIns="0" tIns="0" rIns="0" bIns="0" rtlCol="0" anchor="t"/>
          <a:lstStyle/>
          <a:p>
            <a:pPr algn="ctr" indent="0" marL="0">
              <a:lnSpc>
                <a:spcPts val="2400"/>
              </a:lnSpc>
              <a:buNone/>
            </a:pPr>
            <a:r>
              <a:rPr lang="en-US" sz="2400" dirty="0">
                <a:solidFill>
                  <a:srgbClr val="3A3630"/>
                </a:solidFill>
                <a:latin typeface="Lora" pitchFamily="34" charset="0"/>
                <a:ea typeface="Lora" pitchFamily="34" charset="-122"/>
                <a:cs typeface="Lora" pitchFamily="34" charset="-120"/>
              </a:rPr>
              <a:t>3</a:t>
            </a:r>
            <a:endParaRPr lang="en-US" sz="2400" dirty="0"/>
          </a:p>
        </p:txBody>
      </p:sp>
      <p:sp>
        <p:nvSpPr>
          <p:cNvPr id="15" name="Text 11"/>
          <p:cNvSpPr/>
          <p:nvPr/>
        </p:nvSpPr>
        <p:spPr>
          <a:xfrm>
            <a:off x="6957536" y="5273516"/>
            <a:ext cx="2564487" cy="320516"/>
          </a:xfrm>
          <a:prstGeom prst="rect">
            <a:avLst/>
          </a:prstGeom>
          <a:noFill/>
          <a:ln/>
        </p:spPr>
        <p:txBody>
          <a:bodyPr wrap="none" lIns="0" tIns="0" rIns="0" bIns="0" rtlCol="0" anchor="t"/>
          <a:lstStyle/>
          <a:p>
            <a:pPr indent="0" marL="0">
              <a:lnSpc>
                <a:spcPts val="2500"/>
              </a:lnSpc>
              <a:buNone/>
            </a:pPr>
            <a:r>
              <a:rPr lang="en-US" sz="2000" dirty="0">
                <a:solidFill>
                  <a:srgbClr val="3A3630"/>
                </a:solidFill>
                <a:latin typeface="Lora" pitchFamily="34" charset="0"/>
                <a:ea typeface="Lora" pitchFamily="34" charset="-122"/>
                <a:cs typeface="Lora" pitchFamily="34" charset="-120"/>
              </a:rPr>
              <a:t>Tolerancia a fallos</a:t>
            </a:r>
            <a:endParaRPr lang="en-US" sz="2000" dirty="0"/>
          </a:p>
        </p:txBody>
      </p:sp>
      <p:sp>
        <p:nvSpPr>
          <p:cNvPr id="16" name="Text 12"/>
          <p:cNvSpPr/>
          <p:nvPr/>
        </p:nvSpPr>
        <p:spPr>
          <a:xfrm>
            <a:off x="6957536" y="5724763"/>
            <a:ext cx="2991922" cy="1743670"/>
          </a:xfrm>
          <a:prstGeom prst="rect">
            <a:avLst/>
          </a:prstGeom>
          <a:noFill/>
          <a:ln/>
        </p:spPr>
        <p:txBody>
          <a:bodyPr wrap="square" lIns="0" tIns="0" rIns="0" bIns="0" rtlCol="0" anchor="t"/>
          <a:lstStyle/>
          <a:p>
            <a:pPr indent="0" marL="0">
              <a:lnSpc>
                <a:spcPts val="2700"/>
              </a:lnSpc>
              <a:buNone/>
            </a:pPr>
            <a:r>
              <a:rPr lang="en-US" sz="1700" dirty="0">
                <a:solidFill>
                  <a:srgbClr val="3A3630"/>
                </a:solidFill>
                <a:latin typeface="Source Sans Pro" pitchFamily="34" charset="0"/>
                <a:ea typeface="Source Sans Pro" pitchFamily="34" charset="-122"/>
                <a:cs typeface="Source Sans Pro" pitchFamily="34" charset="-120"/>
              </a:rPr>
              <a:t>Diseñar el sistema para que pueda seguir funcionando incluso si uno o más componentes fallan de manera inesperada.</a:t>
            </a:r>
            <a:endParaRPr lang="en-US" sz="1700" dirty="0"/>
          </a:p>
        </p:txBody>
      </p:sp>
      <p:sp>
        <p:nvSpPr>
          <p:cNvPr id="17" name="Shape 13"/>
          <p:cNvSpPr/>
          <p:nvPr/>
        </p:nvSpPr>
        <p:spPr>
          <a:xfrm>
            <a:off x="10167342" y="5273516"/>
            <a:ext cx="490418" cy="490418"/>
          </a:xfrm>
          <a:prstGeom prst="roundRect">
            <a:avLst>
              <a:gd name="adj" fmla="val 6667"/>
            </a:avLst>
          </a:prstGeom>
          <a:solidFill>
            <a:srgbClr val="F3E7D4"/>
          </a:solidFill>
          <a:ln/>
        </p:spPr>
      </p:sp>
      <p:sp>
        <p:nvSpPr>
          <p:cNvPr id="18" name="Text 14"/>
          <p:cNvSpPr/>
          <p:nvPr/>
        </p:nvSpPr>
        <p:spPr>
          <a:xfrm>
            <a:off x="10329148" y="5364837"/>
            <a:ext cx="166807" cy="307777"/>
          </a:xfrm>
          <a:prstGeom prst="rect">
            <a:avLst/>
          </a:prstGeom>
          <a:noFill/>
          <a:ln/>
        </p:spPr>
        <p:txBody>
          <a:bodyPr wrap="none" lIns="0" tIns="0" rIns="0" bIns="0" rtlCol="0" anchor="t"/>
          <a:lstStyle/>
          <a:p>
            <a:pPr algn="ctr" indent="0" marL="0">
              <a:lnSpc>
                <a:spcPts val="2400"/>
              </a:lnSpc>
              <a:buNone/>
            </a:pPr>
            <a:r>
              <a:rPr lang="en-US" sz="2400" dirty="0">
                <a:solidFill>
                  <a:srgbClr val="3A3630"/>
                </a:solidFill>
                <a:latin typeface="Lora" pitchFamily="34" charset="0"/>
                <a:ea typeface="Lora" pitchFamily="34" charset="-122"/>
                <a:cs typeface="Lora" pitchFamily="34" charset="-120"/>
              </a:rPr>
              <a:t>4</a:t>
            </a:r>
            <a:endParaRPr lang="en-US" sz="2400" dirty="0"/>
          </a:p>
        </p:txBody>
      </p:sp>
      <p:sp>
        <p:nvSpPr>
          <p:cNvPr id="19" name="Text 15"/>
          <p:cNvSpPr/>
          <p:nvPr/>
        </p:nvSpPr>
        <p:spPr>
          <a:xfrm>
            <a:off x="10875645" y="5273516"/>
            <a:ext cx="2837736" cy="320516"/>
          </a:xfrm>
          <a:prstGeom prst="rect">
            <a:avLst/>
          </a:prstGeom>
          <a:noFill/>
          <a:ln/>
        </p:spPr>
        <p:txBody>
          <a:bodyPr wrap="none" lIns="0" tIns="0" rIns="0" bIns="0" rtlCol="0" anchor="t"/>
          <a:lstStyle/>
          <a:p>
            <a:pPr indent="0" marL="0">
              <a:lnSpc>
                <a:spcPts val="2500"/>
              </a:lnSpc>
              <a:buNone/>
            </a:pPr>
            <a:r>
              <a:rPr lang="en-US" sz="2000" dirty="0">
                <a:solidFill>
                  <a:srgbClr val="3A3630"/>
                </a:solidFill>
                <a:latin typeface="Lora" pitchFamily="34" charset="0"/>
                <a:ea typeface="Lora" pitchFamily="34" charset="-122"/>
                <a:cs typeface="Lora" pitchFamily="34" charset="-120"/>
              </a:rPr>
              <a:t>Escalabilidad horizontal</a:t>
            </a:r>
            <a:endParaRPr lang="en-US" sz="2000" dirty="0"/>
          </a:p>
        </p:txBody>
      </p:sp>
      <p:sp>
        <p:nvSpPr>
          <p:cNvPr id="20" name="Text 16"/>
          <p:cNvSpPr/>
          <p:nvPr/>
        </p:nvSpPr>
        <p:spPr>
          <a:xfrm>
            <a:off x="10875645" y="5724763"/>
            <a:ext cx="2991922" cy="1394936"/>
          </a:xfrm>
          <a:prstGeom prst="rect">
            <a:avLst/>
          </a:prstGeom>
          <a:noFill/>
          <a:ln/>
        </p:spPr>
        <p:txBody>
          <a:bodyPr wrap="square" lIns="0" tIns="0" rIns="0" bIns="0" rtlCol="0" anchor="t"/>
          <a:lstStyle/>
          <a:p>
            <a:pPr indent="0" marL="0">
              <a:lnSpc>
                <a:spcPts val="2700"/>
              </a:lnSpc>
              <a:buNone/>
            </a:pPr>
            <a:r>
              <a:rPr lang="en-US" sz="1700" dirty="0">
                <a:solidFill>
                  <a:srgbClr val="3A3630"/>
                </a:solidFill>
                <a:latin typeface="Source Sans Pro" pitchFamily="34" charset="0"/>
                <a:ea typeface="Source Sans Pro" pitchFamily="34" charset="-122"/>
                <a:cs typeface="Source Sans Pro" pitchFamily="34" charset="-120"/>
              </a:rPr>
              <a:t>Agregar más nodos a la infraestructura a medida que aumenta la demanda, sin que el rendimiento se vea afectado.</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43323" y="2491621"/>
            <a:ext cx="4887754" cy="3246358"/>
          </a:xfrm>
          <a:prstGeom prst="rect">
            <a:avLst/>
          </a:prstGeom>
        </p:spPr>
      </p:pic>
      <p:sp>
        <p:nvSpPr>
          <p:cNvPr id="4" name="Text 0"/>
          <p:cNvSpPr/>
          <p:nvPr/>
        </p:nvSpPr>
        <p:spPr>
          <a:xfrm>
            <a:off x="837724" y="1564600"/>
            <a:ext cx="7468553" cy="1408033"/>
          </a:xfrm>
          <a:prstGeom prst="rect">
            <a:avLst/>
          </a:prstGeom>
          <a:noFill/>
          <a:ln/>
        </p:spPr>
        <p:txBody>
          <a:bodyPr wrap="square" lIns="0" tIns="0" rIns="0" bIns="0" rtlCol="0" anchor="t"/>
          <a:lstStyle/>
          <a:p>
            <a:pPr indent="0" marL="0">
              <a:lnSpc>
                <a:spcPts val="5500"/>
              </a:lnSpc>
              <a:buNone/>
            </a:pPr>
            <a:r>
              <a:rPr lang="en-US" sz="4400" dirty="0">
                <a:solidFill>
                  <a:srgbClr val="38512F"/>
                </a:solidFill>
                <a:latin typeface="Lora" pitchFamily="34" charset="0"/>
                <a:ea typeface="Lora" pitchFamily="34" charset="-122"/>
                <a:cs typeface="Lora" pitchFamily="34" charset="-120"/>
              </a:rPr>
              <a:t>Casos de uso de sistemas distribuidos en la industria</a:t>
            </a:r>
            <a:endParaRPr lang="en-US" sz="4400" dirty="0"/>
          </a:p>
        </p:txBody>
      </p:sp>
      <p:sp>
        <p:nvSpPr>
          <p:cNvPr id="5" name="Text 1"/>
          <p:cNvSpPr/>
          <p:nvPr/>
        </p:nvSpPr>
        <p:spPr>
          <a:xfrm>
            <a:off x="837724" y="3331607"/>
            <a:ext cx="7468553" cy="1532096"/>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Los sistemas distribuidos han encontrado amplia aplicación en diversos sectores industriales, desde el manejo de big data hasta la coordinación de procesos en tiempo real. Ofrecen escalabilidad, tolerancia a fallos y mayor disponibilidad de los datos.</a:t>
            </a:r>
            <a:endParaRPr lang="en-US" sz="1850" dirty="0"/>
          </a:p>
        </p:txBody>
      </p:sp>
      <p:sp>
        <p:nvSpPr>
          <p:cNvPr id="6" name="Text 2"/>
          <p:cNvSpPr/>
          <p:nvPr/>
        </p:nvSpPr>
        <p:spPr>
          <a:xfrm>
            <a:off x="837724" y="5132903"/>
            <a:ext cx="7468553" cy="1532096"/>
          </a:xfrm>
          <a:prstGeom prst="rect">
            <a:avLst/>
          </a:prstGeom>
          <a:noFill/>
          <a:ln/>
        </p:spPr>
        <p:txBody>
          <a:bodyPr wrap="square" lIns="0" tIns="0" rIns="0" bIns="0" rtlCol="0" anchor="t"/>
          <a:lstStyle/>
          <a:p>
            <a:pPr indent="0" marL="0">
              <a:lnSpc>
                <a:spcPts val="3000"/>
              </a:lnSpc>
              <a:buNone/>
            </a:pPr>
            <a:r>
              <a:rPr lang="en-US" sz="1850" dirty="0">
                <a:solidFill>
                  <a:srgbClr val="3A3630"/>
                </a:solidFill>
                <a:latin typeface="Source Sans Pro" pitchFamily="34" charset="0"/>
                <a:ea typeface="Source Sans Pro" pitchFamily="34" charset="-122"/>
                <a:cs typeface="Source Sans Pro" pitchFamily="34" charset="-120"/>
              </a:rPr>
              <a:t>Algunos ejemplos incluyen sistemas de comercio electrónico, redes sociales, servicios de streaming, supervisión de procesos industriales y aplicaciones críticas como sistemas de transporte y gestión de emergencias.</a:t>
            </a:r>
            <a:endParaRPr lang="en-US" sz="1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402008" y="1794391"/>
            <a:ext cx="4970383" cy="4640699"/>
          </a:xfrm>
          <a:prstGeom prst="rect">
            <a:avLst/>
          </a:prstGeom>
        </p:spPr>
      </p:pic>
      <p:sp>
        <p:nvSpPr>
          <p:cNvPr id="4" name="Text 0"/>
          <p:cNvSpPr/>
          <p:nvPr/>
        </p:nvSpPr>
        <p:spPr>
          <a:xfrm>
            <a:off x="722114" y="732115"/>
            <a:ext cx="7699772" cy="1213723"/>
          </a:xfrm>
          <a:prstGeom prst="rect">
            <a:avLst/>
          </a:prstGeom>
          <a:noFill/>
          <a:ln/>
        </p:spPr>
        <p:txBody>
          <a:bodyPr wrap="square" lIns="0" tIns="0" rIns="0" bIns="0" rtlCol="0" anchor="t"/>
          <a:lstStyle/>
          <a:p>
            <a:pPr indent="0" marL="0">
              <a:lnSpc>
                <a:spcPts val="4750"/>
              </a:lnSpc>
              <a:buNone/>
            </a:pPr>
            <a:r>
              <a:rPr lang="en-US" sz="3800" dirty="0">
                <a:solidFill>
                  <a:srgbClr val="38512F"/>
                </a:solidFill>
                <a:latin typeface="Lora" pitchFamily="34" charset="0"/>
                <a:ea typeface="Lora" pitchFamily="34" charset="-122"/>
                <a:cs typeface="Lora" pitchFamily="34" charset="-120"/>
              </a:rPr>
              <a:t>Ejercicio práctico: Aplicar Teorema CAP</a:t>
            </a:r>
            <a:endParaRPr lang="en-US" sz="3800" dirty="0"/>
          </a:p>
        </p:txBody>
      </p:sp>
      <p:sp>
        <p:nvSpPr>
          <p:cNvPr id="5" name="Shape 1"/>
          <p:cNvSpPr/>
          <p:nvPr/>
        </p:nvSpPr>
        <p:spPr>
          <a:xfrm>
            <a:off x="1020128" y="2255282"/>
            <a:ext cx="22860" cy="5242203"/>
          </a:xfrm>
          <a:prstGeom prst="roundRect">
            <a:avLst>
              <a:gd name="adj" fmla="val 135392"/>
            </a:avLst>
          </a:prstGeom>
          <a:solidFill>
            <a:srgbClr val="D9CDBA"/>
          </a:solidFill>
          <a:ln/>
        </p:spPr>
      </p:sp>
      <p:sp>
        <p:nvSpPr>
          <p:cNvPr id="6" name="Shape 2"/>
          <p:cNvSpPr/>
          <p:nvPr/>
        </p:nvSpPr>
        <p:spPr>
          <a:xfrm>
            <a:off x="1240810" y="2707958"/>
            <a:ext cx="722114" cy="22860"/>
          </a:xfrm>
          <a:prstGeom prst="roundRect">
            <a:avLst>
              <a:gd name="adj" fmla="val 135392"/>
            </a:avLst>
          </a:prstGeom>
          <a:solidFill>
            <a:srgbClr val="D9CDBA"/>
          </a:solidFill>
          <a:ln/>
        </p:spPr>
      </p:sp>
      <p:sp>
        <p:nvSpPr>
          <p:cNvPr id="7" name="Shape 3"/>
          <p:cNvSpPr/>
          <p:nvPr/>
        </p:nvSpPr>
        <p:spPr>
          <a:xfrm>
            <a:off x="799445" y="2487335"/>
            <a:ext cx="464225" cy="464225"/>
          </a:xfrm>
          <a:prstGeom prst="roundRect">
            <a:avLst>
              <a:gd name="adj" fmla="val 6667"/>
            </a:avLst>
          </a:prstGeom>
          <a:solidFill>
            <a:srgbClr val="F3E7D4"/>
          </a:solidFill>
          <a:ln/>
        </p:spPr>
      </p:sp>
      <p:sp>
        <p:nvSpPr>
          <p:cNvPr id="8" name="Text 4"/>
          <p:cNvSpPr/>
          <p:nvPr/>
        </p:nvSpPr>
        <p:spPr>
          <a:xfrm>
            <a:off x="978515" y="2573774"/>
            <a:ext cx="106085" cy="291346"/>
          </a:xfrm>
          <a:prstGeom prst="rect">
            <a:avLst/>
          </a:prstGeom>
          <a:noFill/>
          <a:ln/>
        </p:spPr>
        <p:txBody>
          <a:bodyPr wrap="none" lIns="0" tIns="0" rIns="0" bIns="0" rtlCol="0" anchor="t"/>
          <a:lstStyle/>
          <a:p>
            <a:pPr algn="ctr" indent="0" marL="0">
              <a:lnSpc>
                <a:spcPts val="2250"/>
              </a:lnSpc>
              <a:buNone/>
            </a:pPr>
            <a:r>
              <a:rPr lang="en-US" sz="2250" dirty="0">
                <a:solidFill>
                  <a:srgbClr val="3A3630"/>
                </a:solidFill>
                <a:latin typeface="Lora" pitchFamily="34" charset="0"/>
                <a:ea typeface="Lora" pitchFamily="34" charset="-122"/>
                <a:cs typeface="Lora" pitchFamily="34" charset="-120"/>
              </a:rPr>
              <a:t>1</a:t>
            </a:r>
            <a:endParaRPr lang="en-US" sz="2250" dirty="0"/>
          </a:p>
        </p:txBody>
      </p:sp>
      <p:sp>
        <p:nvSpPr>
          <p:cNvPr id="9" name="Text 5"/>
          <p:cNvSpPr/>
          <p:nvPr/>
        </p:nvSpPr>
        <p:spPr>
          <a:xfrm>
            <a:off x="2166342" y="2461617"/>
            <a:ext cx="2572583" cy="303371"/>
          </a:xfrm>
          <a:prstGeom prst="rect">
            <a:avLst/>
          </a:prstGeom>
          <a:noFill/>
          <a:ln/>
        </p:spPr>
        <p:txBody>
          <a:bodyPr wrap="none" lIns="0" tIns="0" rIns="0" bIns="0" rtlCol="0" anchor="t"/>
          <a:lstStyle/>
          <a:p>
            <a:pPr algn="l" indent="0" marL="0">
              <a:lnSpc>
                <a:spcPts val="2350"/>
              </a:lnSpc>
              <a:buNone/>
            </a:pPr>
            <a:r>
              <a:rPr lang="en-US" sz="1900" dirty="0">
                <a:solidFill>
                  <a:srgbClr val="3A3630"/>
                </a:solidFill>
                <a:latin typeface="Lora" pitchFamily="34" charset="0"/>
                <a:ea typeface="Lora" pitchFamily="34" charset="-122"/>
                <a:cs typeface="Lora" pitchFamily="34" charset="-120"/>
              </a:rPr>
              <a:t>Identificar el problema</a:t>
            </a:r>
            <a:endParaRPr lang="en-US" sz="1900" dirty="0"/>
          </a:p>
        </p:txBody>
      </p:sp>
      <p:sp>
        <p:nvSpPr>
          <p:cNvPr id="10" name="Text 6"/>
          <p:cNvSpPr/>
          <p:nvPr/>
        </p:nvSpPr>
        <p:spPr>
          <a:xfrm>
            <a:off x="2166342" y="2888694"/>
            <a:ext cx="6255544" cy="990124"/>
          </a:xfrm>
          <a:prstGeom prst="rect">
            <a:avLst/>
          </a:prstGeom>
          <a:noFill/>
          <a:ln/>
        </p:spPr>
        <p:txBody>
          <a:bodyPr wrap="square" lIns="0" tIns="0" rIns="0" bIns="0" rtlCol="0" anchor="t"/>
          <a:lstStyle/>
          <a:p>
            <a:pPr algn="l" indent="0" marL="0">
              <a:lnSpc>
                <a:spcPts val="2550"/>
              </a:lnSpc>
              <a:buNone/>
            </a:pPr>
            <a:r>
              <a:rPr lang="en-US" sz="1600" dirty="0">
                <a:solidFill>
                  <a:srgbClr val="3A3630"/>
                </a:solidFill>
                <a:latin typeface="Source Sans Pro" pitchFamily="34" charset="0"/>
                <a:ea typeface="Source Sans Pro" pitchFamily="34" charset="-122"/>
                <a:cs typeface="Source Sans Pro" pitchFamily="34" charset="-120"/>
              </a:rPr>
              <a:t>Analizar un escenario específico de un sistema distribuido y determinar los atributos de consistencia, disponibilidad y tolerancia a particiones que se requieren.</a:t>
            </a:r>
            <a:endParaRPr lang="en-US" sz="1600" dirty="0"/>
          </a:p>
        </p:txBody>
      </p:sp>
      <p:sp>
        <p:nvSpPr>
          <p:cNvPr id="11" name="Shape 7"/>
          <p:cNvSpPr/>
          <p:nvPr/>
        </p:nvSpPr>
        <p:spPr>
          <a:xfrm>
            <a:off x="1240810" y="4744164"/>
            <a:ext cx="722114" cy="22860"/>
          </a:xfrm>
          <a:prstGeom prst="roundRect">
            <a:avLst>
              <a:gd name="adj" fmla="val 135392"/>
            </a:avLst>
          </a:prstGeom>
          <a:solidFill>
            <a:srgbClr val="D9CDBA"/>
          </a:solidFill>
          <a:ln/>
        </p:spPr>
      </p:sp>
      <p:sp>
        <p:nvSpPr>
          <p:cNvPr id="12" name="Shape 8"/>
          <p:cNvSpPr/>
          <p:nvPr/>
        </p:nvSpPr>
        <p:spPr>
          <a:xfrm>
            <a:off x="799445" y="4523542"/>
            <a:ext cx="464225" cy="464225"/>
          </a:xfrm>
          <a:prstGeom prst="roundRect">
            <a:avLst>
              <a:gd name="adj" fmla="val 6667"/>
            </a:avLst>
          </a:prstGeom>
          <a:solidFill>
            <a:srgbClr val="F3E7D4"/>
          </a:solidFill>
          <a:ln/>
        </p:spPr>
      </p:sp>
      <p:sp>
        <p:nvSpPr>
          <p:cNvPr id="13" name="Text 9"/>
          <p:cNvSpPr/>
          <p:nvPr/>
        </p:nvSpPr>
        <p:spPr>
          <a:xfrm>
            <a:off x="953274" y="4609981"/>
            <a:ext cx="156448" cy="291346"/>
          </a:xfrm>
          <a:prstGeom prst="rect">
            <a:avLst/>
          </a:prstGeom>
          <a:noFill/>
          <a:ln/>
        </p:spPr>
        <p:txBody>
          <a:bodyPr wrap="none" lIns="0" tIns="0" rIns="0" bIns="0" rtlCol="0" anchor="t"/>
          <a:lstStyle/>
          <a:p>
            <a:pPr algn="ctr" indent="0" marL="0">
              <a:lnSpc>
                <a:spcPts val="2250"/>
              </a:lnSpc>
              <a:buNone/>
            </a:pPr>
            <a:r>
              <a:rPr lang="en-US" sz="2250" dirty="0">
                <a:solidFill>
                  <a:srgbClr val="3A3630"/>
                </a:solidFill>
                <a:latin typeface="Lora" pitchFamily="34" charset="0"/>
                <a:ea typeface="Lora" pitchFamily="34" charset="-122"/>
                <a:cs typeface="Lora" pitchFamily="34" charset="-120"/>
              </a:rPr>
              <a:t>2</a:t>
            </a:r>
            <a:endParaRPr lang="en-US" sz="2250" dirty="0"/>
          </a:p>
        </p:txBody>
      </p:sp>
      <p:sp>
        <p:nvSpPr>
          <p:cNvPr id="14" name="Text 10"/>
          <p:cNvSpPr/>
          <p:nvPr/>
        </p:nvSpPr>
        <p:spPr>
          <a:xfrm>
            <a:off x="2166342" y="4497824"/>
            <a:ext cx="2637592" cy="303371"/>
          </a:xfrm>
          <a:prstGeom prst="rect">
            <a:avLst/>
          </a:prstGeom>
          <a:noFill/>
          <a:ln/>
        </p:spPr>
        <p:txBody>
          <a:bodyPr wrap="none" lIns="0" tIns="0" rIns="0" bIns="0" rtlCol="0" anchor="t"/>
          <a:lstStyle/>
          <a:p>
            <a:pPr algn="l" indent="0" marL="0">
              <a:lnSpc>
                <a:spcPts val="2350"/>
              </a:lnSpc>
              <a:buNone/>
            </a:pPr>
            <a:r>
              <a:rPr lang="en-US" sz="1900" dirty="0">
                <a:solidFill>
                  <a:srgbClr val="3A3630"/>
                </a:solidFill>
                <a:latin typeface="Lora" pitchFamily="34" charset="0"/>
                <a:ea typeface="Lora" pitchFamily="34" charset="-122"/>
                <a:cs typeface="Lora" pitchFamily="34" charset="-120"/>
              </a:rPr>
              <a:t>Aplicar el Teorema CAP</a:t>
            </a:r>
            <a:endParaRPr lang="en-US" sz="1900" dirty="0"/>
          </a:p>
        </p:txBody>
      </p:sp>
      <p:sp>
        <p:nvSpPr>
          <p:cNvPr id="15" name="Text 11"/>
          <p:cNvSpPr/>
          <p:nvPr/>
        </p:nvSpPr>
        <p:spPr>
          <a:xfrm>
            <a:off x="2166342" y="4924901"/>
            <a:ext cx="6255544" cy="660083"/>
          </a:xfrm>
          <a:prstGeom prst="rect">
            <a:avLst/>
          </a:prstGeom>
          <a:noFill/>
          <a:ln/>
        </p:spPr>
        <p:txBody>
          <a:bodyPr wrap="square" lIns="0" tIns="0" rIns="0" bIns="0" rtlCol="0" anchor="t"/>
          <a:lstStyle/>
          <a:p>
            <a:pPr algn="l" indent="0" marL="0">
              <a:lnSpc>
                <a:spcPts val="2550"/>
              </a:lnSpc>
              <a:buNone/>
            </a:pPr>
            <a:r>
              <a:rPr lang="en-US" sz="1600" dirty="0">
                <a:solidFill>
                  <a:srgbClr val="3A3630"/>
                </a:solidFill>
                <a:latin typeface="Source Sans Pro" pitchFamily="34" charset="0"/>
                <a:ea typeface="Source Sans Pro" pitchFamily="34" charset="-122"/>
                <a:cs typeface="Source Sans Pro" pitchFamily="34" charset="-120"/>
              </a:rPr>
              <a:t>Utilizar el Teorema CAP para evaluar qué atributos se pueden lograr simultáneamente y cuáles se deben priorizar.</a:t>
            </a:r>
            <a:endParaRPr lang="en-US" sz="1600" dirty="0"/>
          </a:p>
        </p:txBody>
      </p:sp>
      <p:sp>
        <p:nvSpPr>
          <p:cNvPr id="16" name="Shape 12"/>
          <p:cNvSpPr/>
          <p:nvPr/>
        </p:nvSpPr>
        <p:spPr>
          <a:xfrm>
            <a:off x="1240810" y="6450330"/>
            <a:ext cx="722114" cy="22860"/>
          </a:xfrm>
          <a:prstGeom prst="roundRect">
            <a:avLst>
              <a:gd name="adj" fmla="val 135392"/>
            </a:avLst>
          </a:prstGeom>
          <a:solidFill>
            <a:srgbClr val="D9CDBA"/>
          </a:solidFill>
          <a:ln/>
        </p:spPr>
      </p:sp>
      <p:sp>
        <p:nvSpPr>
          <p:cNvPr id="17" name="Shape 13"/>
          <p:cNvSpPr/>
          <p:nvPr/>
        </p:nvSpPr>
        <p:spPr>
          <a:xfrm>
            <a:off x="799445" y="6229707"/>
            <a:ext cx="464225" cy="464225"/>
          </a:xfrm>
          <a:prstGeom prst="roundRect">
            <a:avLst>
              <a:gd name="adj" fmla="val 6667"/>
            </a:avLst>
          </a:prstGeom>
          <a:solidFill>
            <a:srgbClr val="F3E7D4"/>
          </a:solidFill>
          <a:ln/>
        </p:spPr>
      </p:sp>
      <p:sp>
        <p:nvSpPr>
          <p:cNvPr id="18" name="Text 14"/>
          <p:cNvSpPr/>
          <p:nvPr/>
        </p:nvSpPr>
        <p:spPr>
          <a:xfrm>
            <a:off x="950416" y="6316147"/>
            <a:ext cx="162282" cy="291346"/>
          </a:xfrm>
          <a:prstGeom prst="rect">
            <a:avLst/>
          </a:prstGeom>
          <a:noFill/>
          <a:ln/>
        </p:spPr>
        <p:txBody>
          <a:bodyPr wrap="none" lIns="0" tIns="0" rIns="0" bIns="0" rtlCol="0" anchor="t"/>
          <a:lstStyle/>
          <a:p>
            <a:pPr algn="ctr" indent="0" marL="0">
              <a:lnSpc>
                <a:spcPts val="2250"/>
              </a:lnSpc>
              <a:buNone/>
            </a:pPr>
            <a:r>
              <a:rPr lang="en-US" sz="2250" dirty="0">
                <a:solidFill>
                  <a:srgbClr val="3A3630"/>
                </a:solidFill>
                <a:latin typeface="Lora" pitchFamily="34" charset="0"/>
                <a:ea typeface="Lora" pitchFamily="34" charset="-122"/>
                <a:cs typeface="Lora" pitchFamily="34" charset="-120"/>
              </a:rPr>
              <a:t>3</a:t>
            </a:r>
            <a:endParaRPr lang="en-US" sz="2250" dirty="0"/>
          </a:p>
        </p:txBody>
      </p:sp>
      <p:sp>
        <p:nvSpPr>
          <p:cNvPr id="19" name="Text 15"/>
          <p:cNvSpPr/>
          <p:nvPr/>
        </p:nvSpPr>
        <p:spPr>
          <a:xfrm>
            <a:off x="2166342" y="6203990"/>
            <a:ext cx="2427446" cy="303371"/>
          </a:xfrm>
          <a:prstGeom prst="rect">
            <a:avLst/>
          </a:prstGeom>
          <a:noFill/>
          <a:ln/>
        </p:spPr>
        <p:txBody>
          <a:bodyPr wrap="none" lIns="0" tIns="0" rIns="0" bIns="0" rtlCol="0" anchor="t"/>
          <a:lstStyle/>
          <a:p>
            <a:pPr algn="l" indent="0" marL="0">
              <a:lnSpc>
                <a:spcPts val="2350"/>
              </a:lnSpc>
              <a:buNone/>
            </a:pPr>
            <a:r>
              <a:rPr lang="en-US" sz="1900" dirty="0">
                <a:solidFill>
                  <a:srgbClr val="3A3630"/>
                </a:solidFill>
                <a:latin typeface="Lora" pitchFamily="34" charset="0"/>
                <a:ea typeface="Lora" pitchFamily="34" charset="-122"/>
                <a:cs typeface="Lora" pitchFamily="34" charset="-120"/>
              </a:rPr>
              <a:t>Diseñar la solución</a:t>
            </a:r>
            <a:endParaRPr lang="en-US" sz="1900" dirty="0"/>
          </a:p>
        </p:txBody>
      </p:sp>
      <p:sp>
        <p:nvSpPr>
          <p:cNvPr id="20" name="Text 16"/>
          <p:cNvSpPr/>
          <p:nvPr/>
        </p:nvSpPr>
        <p:spPr>
          <a:xfrm>
            <a:off x="2166342" y="6631067"/>
            <a:ext cx="6255544" cy="660083"/>
          </a:xfrm>
          <a:prstGeom prst="rect">
            <a:avLst/>
          </a:prstGeom>
          <a:noFill/>
          <a:ln/>
        </p:spPr>
        <p:txBody>
          <a:bodyPr wrap="square" lIns="0" tIns="0" rIns="0" bIns="0" rtlCol="0" anchor="t"/>
          <a:lstStyle/>
          <a:p>
            <a:pPr algn="l" indent="0" marL="0">
              <a:lnSpc>
                <a:spcPts val="2550"/>
              </a:lnSpc>
              <a:buNone/>
            </a:pPr>
            <a:r>
              <a:rPr lang="en-US" sz="1600" dirty="0">
                <a:solidFill>
                  <a:srgbClr val="3A3630"/>
                </a:solidFill>
                <a:latin typeface="Source Sans Pro" pitchFamily="34" charset="0"/>
                <a:ea typeface="Source Sans Pro" pitchFamily="34" charset="-122"/>
                <a:cs typeface="Source Sans Pro" pitchFamily="34" charset="-120"/>
              </a:rPr>
              <a:t>Proponer un diseño de sistema distribuido que cumpla con los requisitos identificados, teniendo en cuenta las limitaciones del Teorema CAP.</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92110" y="1309688"/>
            <a:ext cx="12497991" cy="581620"/>
          </a:xfrm>
          <a:prstGeom prst="rect">
            <a:avLst/>
          </a:prstGeom>
          <a:noFill/>
          <a:ln/>
        </p:spPr>
        <p:txBody>
          <a:bodyPr wrap="none" lIns="0" tIns="0" rIns="0" bIns="0" rtlCol="0" anchor="t"/>
          <a:lstStyle/>
          <a:p>
            <a:pPr indent="0" marL="0">
              <a:lnSpc>
                <a:spcPts val="4550"/>
              </a:lnSpc>
              <a:buNone/>
            </a:pPr>
            <a:r>
              <a:rPr lang="en-US" sz="3650" dirty="0">
                <a:solidFill>
                  <a:srgbClr val="38512F"/>
                </a:solidFill>
                <a:latin typeface="Lora" pitchFamily="34" charset="0"/>
                <a:ea typeface="Lora" pitchFamily="34" charset="-122"/>
                <a:cs typeface="Lora" pitchFamily="34" charset="-120"/>
              </a:rPr>
              <a:t>Ejercicio práctico: Mantener consistencia y disponibilidad</a:t>
            </a:r>
            <a:endParaRPr lang="en-US" sz="3650" dirty="0"/>
          </a:p>
        </p:txBody>
      </p:sp>
      <p:pic>
        <p:nvPicPr>
          <p:cNvPr id="3" name="Image 0" descr="preencoded.png">    </p:cNvPr>
          <p:cNvPicPr>
            <a:picLocks noChangeAspect="1"/>
          </p:cNvPicPr>
          <p:nvPr/>
        </p:nvPicPr>
        <p:blipFill>
          <a:blip r:embed="rId1"/>
          <a:stretch>
            <a:fillRect/>
          </a:stretch>
        </p:blipFill>
        <p:spPr>
          <a:xfrm>
            <a:off x="2910840" y="2286714"/>
            <a:ext cx="2185511" cy="1120973"/>
          </a:xfrm>
          <a:prstGeom prst="rect">
            <a:avLst/>
          </a:prstGeom>
        </p:spPr>
      </p:pic>
      <p:sp>
        <p:nvSpPr>
          <p:cNvPr id="4" name="Text 1"/>
          <p:cNvSpPr/>
          <p:nvPr/>
        </p:nvSpPr>
        <p:spPr>
          <a:xfrm>
            <a:off x="3958590" y="2787968"/>
            <a:ext cx="90011" cy="395407"/>
          </a:xfrm>
          <a:prstGeom prst="rect">
            <a:avLst/>
          </a:prstGeom>
          <a:noFill/>
          <a:ln/>
        </p:spPr>
        <p:txBody>
          <a:bodyPr wrap="none" lIns="0" tIns="0" rIns="0" bIns="0" rtlCol="0" anchor="t"/>
          <a:lstStyle/>
          <a:p>
            <a:pPr algn="ctr" indent="0" marL="0">
              <a:lnSpc>
                <a:spcPts val="3100"/>
              </a:lnSpc>
              <a:buNone/>
            </a:pPr>
            <a:r>
              <a:rPr lang="en-US" sz="1900" dirty="0">
                <a:solidFill>
                  <a:srgbClr val="3A3630"/>
                </a:solidFill>
                <a:latin typeface="Lora" pitchFamily="34" charset="0"/>
                <a:ea typeface="Lora" pitchFamily="34" charset="-122"/>
                <a:cs typeface="Lora" pitchFamily="34" charset="-120"/>
              </a:rPr>
              <a:t>1</a:t>
            </a:r>
            <a:endParaRPr lang="en-US" sz="1900" dirty="0"/>
          </a:p>
        </p:txBody>
      </p:sp>
      <p:sp>
        <p:nvSpPr>
          <p:cNvPr id="5" name="Text 2"/>
          <p:cNvSpPr/>
          <p:nvPr/>
        </p:nvSpPr>
        <p:spPr>
          <a:xfrm>
            <a:off x="5293995" y="2484358"/>
            <a:ext cx="2546271" cy="290751"/>
          </a:xfrm>
          <a:prstGeom prst="rect">
            <a:avLst/>
          </a:prstGeom>
          <a:noFill/>
          <a:ln/>
        </p:spPr>
        <p:txBody>
          <a:bodyPr wrap="none" lIns="0" tIns="0" rIns="0" bIns="0" rtlCol="0" anchor="t"/>
          <a:lstStyle/>
          <a:p>
            <a:pPr algn="l" indent="0" marL="0">
              <a:lnSpc>
                <a:spcPts val="2250"/>
              </a:lnSpc>
              <a:buNone/>
            </a:pPr>
            <a:r>
              <a:rPr lang="en-US" sz="1800" dirty="0">
                <a:solidFill>
                  <a:srgbClr val="3A3630"/>
                </a:solidFill>
                <a:latin typeface="Lora" pitchFamily="34" charset="0"/>
                <a:ea typeface="Lora" pitchFamily="34" charset="-122"/>
                <a:cs typeface="Lora" pitchFamily="34" charset="-120"/>
              </a:rPr>
              <a:t>Modelo de consistencia</a:t>
            </a:r>
            <a:endParaRPr lang="en-US" sz="1800" dirty="0"/>
          </a:p>
        </p:txBody>
      </p:sp>
      <p:sp>
        <p:nvSpPr>
          <p:cNvPr id="6" name="Text 3"/>
          <p:cNvSpPr/>
          <p:nvPr/>
        </p:nvSpPr>
        <p:spPr>
          <a:xfrm>
            <a:off x="5293995" y="2893695"/>
            <a:ext cx="6071235" cy="316349"/>
          </a:xfrm>
          <a:prstGeom prst="rect">
            <a:avLst/>
          </a:prstGeom>
          <a:noFill/>
          <a:ln/>
        </p:spPr>
        <p:txBody>
          <a:bodyPr wrap="none" lIns="0" tIns="0" rIns="0" bIns="0" rtlCol="0" anchor="t"/>
          <a:lstStyle/>
          <a:p>
            <a:pPr algn="l" indent="0" marL="0">
              <a:lnSpc>
                <a:spcPts val="2450"/>
              </a:lnSpc>
              <a:buNone/>
            </a:pPr>
            <a:r>
              <a:rPr lang="en-US" sz="1550" dirty="0">
                <a:solidFill>
                  <a:srgbClr val="3A3630"/>
                </a:solidFill>
                <a:latin typeface="Source Sans Pro" pitchFamily="34" charset="0"/>
                <a:ea typeface="Source Sans Pro" pitchFamily="34" charset="-122"/>
                <a:cs typeface="Source Sans Pro" pitchFamily="34" charset="-120"/>
              </a:rPr>
              <a:t>Elegir el modelo de consistencia apropiado para los requisitos del negocio</a:t>
            </a:r>
            <a:endParaRPr lang="en-US" sz="1550" dirty="0"/>
          </a:p>
        </p:txBody>
      </p:sp>
      <p:sp>
        <p:nvSpPr>
          <p:cNvPr id="7" name="Shape 4"/>
          <p:cNvSpPr/>
          <p:nvPr/>
        </p:nvSpPr>
        <p:spPr>
          <a:xfrm>
            <a:off x="5145762" y="3422809"/>
            <a:ext cx="8743117" cy="11430"/>
          </a:xfrm>
          <a:prstGeom prst="roundRect">
            <a:avLst>
              <a:gd name="adj" fmla="val 259512"/>
            </a:avLst>
          </a:prstGeom>
          <a:solidFill>
            <a:srgbClr val="D9CDBA"/>
          </a:solidFill>
          <a:ln/>
        </p:spPr>
      </p:sp>
      <p:pic>
        <p:nvPicPr>
          <p:cNvPr id="8" name="Image 1" descr="preencoded.png">    </p:cNvPr>
          <p:cNvPicPr>
            <a:picLocks noChangeAspect="1"/>
          </p:cNvPicPr>
          <p:nvPr/>
        </p:nvPicPr>
        <p:blipFill>
          <a:blip r:embed="rId2"/>
          <a:stretch>
            <a:fillRect/>
          </a:stretch>
        </p:blipFill>
        <p:spPr>
          <a:xfrm>
            <a:off x="1817965" y="3457099"/>
            <a:ext cx="4371142" cy="1120973"/>
          </a:xfrm>
          <a:prstGeom prst="rect">
            <a:avLst/>
          </a:prstGeom>
        </p:spPr>
      </p:pic>
      <p:sp>
        <p:nvSpPr>
          <p:cNvPr id="9" name="Text 5"/>
          <p:cNvSpPr/>
          <p:nvPr/>
        </p:nvSpPr>
        <p:spPr>
          <a:xfrm>
            <a:off x="3937159" y="3819882"/>
            <a:ext cx="132755" cy="395407"/>
          </a:xfrm>
          <a:prstGeom prst="rect">
            <a:avLst/>
          </a:prstGeom>
          <a:noFill/>
          <a:ln/>
        </p:spPr>
        <p:txBody>
          <a:bodyPr wrap="none" lIns="0" tIns="0" rIns="0" bIns="0" rtlCol="0" anchor="t"/>
          <a:lstStyle/>
          <a:p>
            <a:pPr algn="ctr" indent="0" marL="0">
              <a:lnSpc>
                <a:spcPts val="3100"/>
              </a:lnSpc>
              <a:buNone/>
            </a:pPr>
            <a:r>
              <a:rPr lang="en-US" sz="1900" dirty="0">
                <a:solidFill>
                  <a:srgbClr val="3A3630"/>
                </a:solidFill>
                <a:latin typeface="Lora" pitchFamily="34" charset="0"/>
                <a:ea typeface="Lora" pitchFamily="34" charset="-122"/>
                <a:cs typeface="Lora" pitchFamily="34" charset="-120"/>
              </a:rPr>
              <a:t>2</a:t>
            </a:r>
            <a:endParaRPr lang="en-US" sz="1900" dirty="0"/>
          </a:p>
        </p:txBody>
      </p:sp>
      <p:sp>
        <p:nvSpPr>
          <p:cNvPr id="10" name="Text 6"/>
          <p:cNvSpPr/>
          <p:nvPr/>
        </p:nvSpPr>
        <p:spPr>
          <a:xfrm>
            <a:off x="6386751" y="3654743"/>
            <a:ext cx="2326362" cy="290751"/>
          </a:xfrm>
          <a:prstGeom prst="rect">
            <a:avLst/>
          </a:prstGeom>
          <a:noFill/>
          <a:ln/>
        </p:spPr>
        <p:txBody>
          <a:bodyPr wrap="none" lIns="0" tIns="0" rIns="0" bIns="0" rtlCol="0" anchor="t"/>
          <a:lstStyle/>
          <a:p>
            <a:pPr algn="l" indent="0" marL="0">
              <a:lnSpc>
                <a:spcPts val="2250"/>
              </a:lnSpc>
              <a:buNone/>
            </a:pPr>
            <a:r>
              <a:rPr lang="en-US" sz="1800" dirty="0">
                <a:solidFill>
                  <a:srgbClr val="3A3630"/>
                </a:solidFill>
                <a:latin typeface="Lora" pitchFamily="34" charset="0"/>
                <a:ea typeface="Lora" pitchFamily="34" charset="-122"/>
                <a:cs typeface="Lora" pitchFamily="34" charset="-120"/>
              </a:rPr>
              <a:t>Replicación de datos</a:t>
            </a:r>
            <a:endParaRPr lang="en-US" sz="1800" dirty="0"/>
          </a:p>
        </p:txBody>
      </p:sp>
      <p:sp>
        <p:nvSpPr>
          <p:cNvPr id="11" name="Text 7"/>
          <p:cNvSpPr/>
          <p:nvPr/>
        </p:nvSpPr>
        <p:spPr>
          <a:xfrm>
            <a:off x="6386751" y="4064079"/>
            <a:ext cx="5797748" cy="316349"/>
          </a:xfrm>
          <a:prstGeom prst="rect">
            <a:avLst/>
          </a:prstGeom>
          <a:noFill/>
          <a:ln/>
        </p:spPr>
        <p:txBody>
          <a:bodyPr wrap="none" lIns="0" tIns="0" rIns="0" bIns="0" rtlCol="0" anchor="t"/>
          <a:lstStyle/>
          <a:p>
            <a:pPr algn="l" indent="0" marL="0">
              <a:lnSpc>
                <a:spcPts val="2450"/>
              </a:lnSpc>
              <a:buNone/>
            </a:pPr>
            <a:r>
              <a:rPr lang="en-US" sz="1550" dirty="0">
                <a:solidFill>
                  <a:srgbClr val="3A3630"/>
                </a:solidFill>
                <a:latin typeface="Source Sans Pro" pitchFamily="34" charset="0"/>
                <a:ea typeface="Source Sans Pro" pitchFamily="34" charset="-122"/>
                <a:cs typeface="Source Sans Pro" pitchFamily="34" charset="-120"/>
              </a:rPr>
              <a:t>Implementar estrategias de replicación para asegurar la disponibilidad</a:t>
            </a:r>
            <a:endParaRPr lang="en-US" sz="1550" dirty="0"/>
          </a:p>
        </p:txBody>
      </p:sp>
      <p:sp>
        <p:nvSpPr>
          <p:cNvPr id="12" name="Shape 8"/>
          <p:cNvSpPr/>
          <p:nvPr/>
        </p:nvSpPr>
        <p:spPr>
          <a:xfrm>
            <a:off x="6238518" y="4593193"/>
            <a:ext cx="7650361" cy="11430"/>
          </a:xfrm>
          <a:prstGeom prst="roundRect">
            <a:avLst>
              <a:gd name="adj" fmla="val 259512"/>
            </a:avLst>
          </a:prstGeom>
          <a:solidFill>
            <a:srgbClr val="D9CDBA"/>
          </a:solidFill>
          <a:ln/>
        </p:spPr>
      </p:sp>
      <p:pic>
        <p:nvPicPr>
          <p:cNvPr id="13" name="Image 2" descr="preencoded.png">    </p:cNvPr>
          <p:cNvPicPr>
            <a:picLocks noChangeAspect="1"/>
          </p:cNvPicPr>
          <p:nvPr/>
        </p:nvPicPr>
        <p:blipFill>
          <a:blip r:embed="rId3"/>
          <a:stretch>
            <a:fillRect/>
          </a:stretch>
        </p:blipFill>
        <p:spPr>
          <a:xfrm>
            <a:off x="725210" y="4627483"/>
            <a:ext cx="6556772" cy="1120973"/>
          </a:xfrm>
          <a:prstGeom prst="rect">
            <a:avLst/>
          </a:prstGeom>
        </p:spPr>
      </p:pic>
      <p:sp>
        <p:nvSpPr>
          <p:cNvPr id="14" name="Text 9"/>
          <p:cNvSpPr/>
          <p:nvPr/>
        </p:nvSpPr>
        <p:spPr>
          <a:xfrm>
            <a:off x="3934658" y="4990267"/>
            <a:ext cx="137636" cy="395407"/>
          </a:xfrm>
          <a:prstGeom prst="rect">
            <a:avLst/>
          </a:prstGeom>
          <a:noFill/>
          <a:ln/>
        </p:spPr>
        <p:txBody>
          <a:bodyPr wrap="none" lIns="0" tIns="0" rIns="0" bIns="0" rtlCol="0" anchor="t"/>
          <a:lstStyle/>
          <a:p>
            <a:pPr algn="ctr" indent="0" marL="0">
              <a:lnSpc>
                <a:spcPts val="3100"/>
              </a:lnSpc>
              <a:buNone/>
            </a:pPr>
            <a:r>
              <a:rPr lang="en-US" sz="1900" dirty="0">
                <a:solidFill>
                  <a:srgbClr val="3A3630"/>
                </a:solidFill>
                <a:latin typeface="Lora" pitchFamily="34" charset="0"/>
                <a:ea typeface="Lora" pitchFamily="34" charset="-122"/>
                <a:cs typeface="Lora" pitchFamily="34" charset="-120"/>
              </a:rPr>
              <a:t>3</a:t>
            </a:r>
            <a:endParaRPr lang="en-US" sz="1900" dirty="0"/>
          </a:p>
        </p:txBody>
      </p:sp>
      <p:sp>
        <p:nvSpPr>
          <p:cNvPr id="15" name="Text 10"/>
          <p:cNvSpPr/>
          <p:nvPr/>
        </p:nvSpPr>
        <p:spPr>
          <a:xfrm>
            <a:off x="7479625" y="4825127"/>
            <a:ext cx="2326362" cy="290751"/>
          </a:xfrm>
          <a:prstGeom prst="rect">
            <a:avLst/>
          </a:prstGeom>
          <a:noFill/>
          <a:ln/>
        </p:spPr>
        <p:txBody>
          <a:bodyPr wrap="none" lIns="0" tIns="0" rIns="0" bIns="0" rtlCol="0" anchor="t"/>
          <a:lstStyle/>
          <a:p>
            <a:pPr algn="l" indent="0" marL="0">
              <a:lnSpc>
                <a:spcPts val="2250"/>
              </a:lnSpc>
              <a:buNone/>
            </a:pPr>
            <a:r>
              <a:rPr lang="en-US" sz="1800" dirty="0">
                <a:solidFill>
                  <a:srgbClr val="3A3630"/>
                </a:solidFill>
                <a:latin typeface="Lora" pitchFamily="34" charset="0"/>
                <a:ea typeface="Lora" pitchFamily="34" charset="-122"/>
                <a:cs typeface="Lora" pitchFamily="34" charset="-120"/>
              </a:rPr>
              <a:t>Tolerancia a fallos</a:t>
            </a:r>
            <a:endParaRPr lang="en-US" sz="1800" dirty="0"/>
          </a:p>
        </p:txBody>
      </p:sp>
      <p:sp>
        <p:nvSpPr>
          <p:cNvPr id="16" name="Text 11"/>
          <p:cNvSpPr/>
          <p:nvPr/>
        </p:nvSpPr>
        <p:spPr>
          <a:xfrm>
            <a:off x="7479625" y="5234464"/>
            <a:ext cx="5788104" cy="316349"/>
          </a:xfrm>
          <a:prstGeom prst="rect">
            <a:avLst/>
          </a:prstGeom>
          <a:noFill/>
          <a:ln/>
        </p:spPr>
        <p:txBody>
          <a:bodyPr wrap="none" lIns="0" tIns="0" rIns="0" bIns="0" rtlCol="0" anchor="t"/>
          <a:lstStyle/>
          <a:p>
            <a:pPr algn="l" indent="0" marL="0">
              <a:lnSpc>
                <a:spcPts val="2450"/>
              </a:lnSpc>
              <a:buNone/>
            </a:pPr>
            <a:r>
              <a:rPr lang="en-US" sz="1550" dirty="0">
                <a:solidFill>
                  <a:srgbClr val="3A3630"/>
                </a:solidFill>
                <a:latin typeface="Source Sans Pro" pitchFamily="34" charset="0"/>
                <a:ea typeface="Source Sans Pro" pitchFamily="34" charset="-122"/>
                <a:cs typeface="Source Sans Pro" pitchFamily="34" charset="-120"/>
              </a:rPr>
              <a:t>Diseñar mecanismos de tolerancia a fallos para mantener la integridad</a:t>
            </a:r>
            <a:endParaRPr lang="en-US" sz="1550" dirty="0"/>
          </a:p>
        </p:txBody>
      </p:sp>
      <p:sp>
        <p:nvSpPr>
          <p:cNvPr id="17" name="Text 12"/>
          <p:cNvSpPr/>
          <p:nvPr/>
        </p:nvSpPr>
        <p:spPr>
          <a:xfrm>
            <a:off x="692110" y="5970865"/>
            <a:ext cx="13246179" cy="949047"/>
          </a:xfrm>
          <a:prstGeom prst="rect">
            <a:avLst/>
          </a:prstGeom>
          <a:noFill/>
          <a:ln/>
        </p:spPr>
        <p:txBody>
          <a:bodyPr wrap="square" lIns="0" tIns="0" rIns="0" bIns="0" rtlCol="0" anchor="t"/>
          <a:lstStyle/>
          <a:p>
            <a:pPr indent="0" marL="0">
              <a:lnSpc>
                <a:spcPts val="2450"/>
              </a:lnSpc>
              <a:buNone/>
            </a:pPr>
            <a:r>
              <a:rPr lang="en-US" sz="1550" dirty="0">
                <a:solidFill>
                  <a:srgbClr val="3A3630"/>
                </a:solidFill>
                <a:latin typeface="Source Sans Pro" pitchFamily="34" charset="0"/>
                <a:ea typeface="Source Sans Pro" pitchFamily="34" charset="-122"/>
                <a:cs typeface="Source Sans Pro" pitchFamily="34" charset="-120"/>
              </a:rPr>
              <a:t>En este ejercicio práctico, los estudiantes aplicarán los conceptos aprendidos sobre modelos de consistencia, replicación de datos y tolerancia a fallos. Deberán analizar un caso de uso de la industria y diseñar una solución que equilibre la consistencia y disponibilidad de los datos distribuidos, cumpliendo con los requisitos del negocio.</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857262"/>
          </a:xfrm>
          <a:prstGeom prst="rect">
            <a:avLst/>
          </a:prstGeom>
        </p:spPr>
      </p:pic>
      <p:pic>
        <p:nvPicPr>
          <p:cNvPr id="3" name="Image 1" descr="preencoded.png">    </p:cNvPr>
          <p:cNvPicPr>
            <a:picLocks noChangeAspect="1"/>
          </p:cNvPicPr>
          <p:nvPr/>
        </p:nvPicPr>
        <p:blipFill>
          <a:blip r:embed="rId2"/>
          <a:stretch>
            <a:fillRect/>
          </a:stretch>
        </p:blipFill>
        <p:spPr>
          <a:xfrm>
            <a:off x="5283160" y="285631"/>
            <a:ext cx="4063960" cy="2286000"/>
          </a:xfrm>
          <a:prstGeom prst="rect">
            <a:avLst/>
          </a:prstGeom>
        </p:spPr>
      </p:pic>
      <p:sp>
        <p:nvSpPr>
          <p:cNvPr id="4" name="Text 0"/>
          <p:cNvSpPr/>
          <p:nvPr/>
        </p:nvSpPr>
        <p:spPr>
          <a:xfrm>
            <a:off x="799981" y="3485793"/>
            <a:ext cx="11001970" cy="672227"/>
          </a:xfrm>
          <a:prstGeom prst="rect">
            <a:avLst/>
          </a:prstGeom>
          <a:noFill/>
          <a:ln/>
        </p:spPr>
        <p:txBody>
          <a:bodyPr wrap="none" lIns="0" tIns="0" rIns="0" bIns="0" rtlCol="0" anchor="t"/>
          <a:lstStyle/>
          <a:p>
            <a:pPr indent="0" marL="0">
              <a:lnSpc>
                <a:spcPts val="5250"/>
              </a:lnSpc>
              <a:buNone/>
            </a:pPr>
            <a:r>
              <a:rPr lang="en-US" sz="4200" dirty="0">
                <a:solidFill>
                  <a:srgbClr val="38512F"/>
                </a:solidFill>
                <a:latin typeface="Lora" pitchFamily="34" charset="0"/>
                <a:ea typeface="Lora" pitchFamily="34" charset="-122"/>
                <a:cs typeface="Lora" pitchFamily="34" charset="-120"/>
              </a:rPr>
              <a:t>Conclusiones y resumen de conceptos clave</a:t>
            </a:r>
            <a:endParaRPr lang="en-US" sz="4200" dirty="0"/>
          </a:p>
        </p:txBody>
      </p:sp>
      <p:pic>
        <p:nvPicPr>
          <p:cNvPr id="5" name="Image 2" descr="preencoded.png">    </p:cNvPr>
          <p:cNvPicPr>
            <a:picLocks noChangeAspect="1"/>
          </p:cNvPicPr>
          <p:nvPr/>
        </p:nvPicPr>
        <p:blipFill>
          <a:blip r:embed="rId3"/>
          <a:stretch>
            <a:fillRect/>
          </a:stretch>
        </p:blipFill>
        <p:spPr>
          <a:xfrm>
            <a:off x="799981" y="4500801"/>
            <a:ext cx="571381" cy="571381"/>
          </a:xfrm>
          <a:prstGeom prst="rect">
            <a:avLst/>
          </a:prstGeom>
        </p:spPr>
      </p:pic>
      <p:sp>
        <p:nvSpPr>
          <p:cNvPr id="6" name="Text 1"/>
          <p:cNvSpPr/>
          <p:nvPr/>
        </p:nvSpPr>
        <p:spPr>
          <a:xfrm>
            <a:off x="799981" y="5300663"/>
            <a:ext cx="2890599" cy="336113"/>
          </a:xfrm>
          <a:prstGeom prst="rect">
            <a:avLst/>
          </a:prstGeom>
          <a:noFill/>
          <a:ln/>
        </p:spPr>
        <p:txBody>
          <a:bodyPr wrap="none" lIns="0" tIns="0" rIns="0" bIns="0" rtlCol="0" anchor="t"/>
          <a:lstStyle/>
          <a:p>
            <a:pPr algn="l" indent="0" marL="0">
              <a:lnSpc>
                <a:spcPts val="2600"/>
              </a:lnSpc>
              <a:buNone/>
            </a:pPr>
            <a:r>
              <a:rPr lang="en-US" sz="2100" dirty="0">
                <a:solidFill>
                  <a:srgbClr val="3A3630"/>
                </a:solidFill>
                <a:latin typeface="Lora" pitchFamily="34" charset="0"/>
                <a:ea typeface="Lora" pitchFamily="34" charset="-122"/>
                <a:cs typeface="Lora" pitchFamily="34" charset="-120"/>
              </a:rPr>
              <a:t>Resumen de conceptos</a:t>
            </a:r>
            <a:endParaRPr lang="en-US" sz="2100" dirty="0"/>
          </a:p>
        </p:txBody>
      </p:sp>
      <p:sp>
        <p:nvSpPr>
          <p:cNvPr id="7" name="Text 2"/>
          <p:cNvSpPr/>
          <p:nvPr/>
        </p:nvSpPr>
        <p:spPr>
          <a:xfrm>
            <a:off x="799981" y="5773817"/>
            <a:ext cx="4114919" cy="1828800"/>
          </a:xfrm>
          <a:prstGeom prst="rect">
            <a:avLst/>
          </a:prstGeom>
          <a:noFill/>
          <a:ln/>
        </p:spPr>
        <p:txBody>
          <a:bodyPr wrap="square" lIns="0" tIns="0" rIns="0" bIns="0" rtlCol="0" anchor="t"/>
          <a:lstStyle/>
          <a:p>
            <a:pPr algn="l" indent="0" marL="0">
              <a:lnSpc>
                <a:spcPts val="2850"/>
              </a:lnSpc>
              <a:buNone/>
            </a:pPr>
            <a:r>
              <a:rPr lang="en-US" sz="1750" dirty="0">
                <a:solidFill>
                  <a:srgbClr val="3A3630"/>
                </a:solidFill>
                <a:latin typeface="Source Sans Pro" pitchFamily="34" charset="0"/>
                <a:ea typeface="Source Sans Pro" pitchFamily="34" charset="-122"/>
                <a:cs typeface="Source Sans Pro" pitchFamily="34" charset="-120"/>
              </a:rPr>
              <a:t>Hemos revisado los principios fundamentales de los sistemas distribuidos, incluyendo los tipos de arquitecturas, el Teorema CAP y los modelos de consistencia.</a:t>
            </a:r>
            <a:endParaRPr lang="en-US" sz="1750" dirty="0"/>
          </a:p>
        </p:txBody>
      </p:sp>
      <p:pic>
        <p:nvPicPr>
          <p:cNvPr id="8" name="Image 3" descr="preencoded.png">    </p:cNvPr>
          <p:cNvPicPr>
            <a:picLocks noChangeAspect="1"/>
          </p:cNvPicPr>
          <p:nvPr/>
        </p:nvPicPr>
        <p:blipFill>
          <a:blip r:embed="rId4"/>
          <a:stretch>
            <a:fillRect/>
          </a:stretch>
        </p:blipFill>
        <p:spPr>
          <a:xfrm>
            <a:off x="5257681" y="4500801"/>
            <a:ext cx="571381" cy="571381"/>
          </a:xfrm>
          <a:prstGeom prst="rect">
            <a:avLst/>
          </a:prstGeom>
        </p:spPr>
      </p:pic>
      <p:sp>
        <p:nvSpPr>
          <p:cNvPr id="9" name="Text 3"/>
          <p:cNvSpPr/>
          <p:nvPr/>
        </p:nvSpPr>
        <p:spPr>
          <a:xfrm>
            <a:off x="5257681" y="5300663"/>
            <a:ext cx="2689146" cy="336113"/>
          </a:xfrm>
          <a:prstGeom prst="rect">
            <a:avLst/>
          </a:prstGeom>
          <a:noFill/>
          <a:ln/>
        </p:spPr>
        <p:txBody>
          <a:bodyPr wrap="none" lIns="0" tIns="0" rIns="0" bIns="0" rtlCol="0" anchor="t"/>
          <a:lstStyle/>
          <a:p>
            <a:pPr algn="l" indent="0" marL="0">
              <a:lnSpc>
                <a:spcPts val="2600"/>
              </a:lnSpc>
              <a:buNone/>
            </a:pPr>
            <a:r>
              <a:rPr lang="en-US" sz="2100" dirty="0">
                <a:solidFill>
                  <a:srgbClr val="3A3630"/>
                </a:solidFill>
                <a:latin typeface="Lora" pitchFamily="34" charset="0"/>
                <a:ea typeface="Lora" pitchFamily="34" charset="-122"/>
                <a:cs typeface="Lora" pitchFamily="34" charset="-120"/>
              </a:rPr>
              <a:t>Desafíos de gestión</a:t>
            </a:r>
            <a:endParaRPr lang="en-US" sz="2100" dirty="0"/>
          </a:p>
        </p:txBody>
      </p:sp>
      <p:sp>
        <p:nvSpPr>
          <p:cNvPr id="10" name="Text 4"/>
          <p:cNvSpPr/>
          <p:nvPr/>
        </p:nvSpPr>
        <p:spPr>
          <a:xfrm>
            <a:off x="5257681" y="5773817"/>
            <a:ext cx="4114919" cy="1463040"/>
          </a:xfrm>
          <a:prstGeom prst="rect">
            <a:avLst/>
          </a:prstGeom>
          <a:noFill/>
          <a:ln/>
        </p:spPr>
        <p:txBody>
          <a:bodyPr wrap="square" lIns="0" tIns="0" rIns="0" bIns="0" rtlCol="0" anchor="t"/>
          <a:lstStyle/>
          <a:p>
            <a:pPr algn="l" indent="0" marL="0">
              <a:lnSpc>
                <a:spcPts val="2850"/>
              </a:lnSpc>
              <a:buNone/>
            </a:pPr>
            <a:r>
              <a:rPr lang="en-US" sz="1750" dirty="0">
                <a:solidFill>
                  <a:srgbClr val="3A3630"/>
                </a:solidFill>
                <a:latin typeface="Source Sans Pro" pitchFamily="34" charset="0"/>
                <a:ea typeface="Source Sans Pro" pitchFamily="34" charset="-122"/>
                <a:cs typeface="Source Sans Pro" pitchFamily="34" charset="-120"/>
              </a:rPr>
              <a:t>Mantener la integridad y disponibilidad de los datos en entornos distribuidos implica abordar importantes retos técnicos y organizacionales.</a:t>
            </a:r>
            <a:endParaRPr lang="en-US" sz="1750" dirty="0"/>
          </a:p>
        </p:txBody>
      </p:sp>
      <p:pic>
        <p:nvPicPr>
          <p:cNvPr id="11" name="Image 4" descr="preencoded.png">    </p:cNvPr>
          <p:cNvPicPr>
            <a:picLocks noChangeAspect="1"/>
          </p:cNvPicPr>
          <p:nvPr/>
        </p:nvPicPr>
        <p:blipFill>
          <a:blip r:embed="rId5"/>
          <a:stretch>
            <a:fillRect/>
          </a:stretch>
        </p:blipFill>
        <p:spPr>
          <a:xfrm>
            <a:off x="9715381" y="4500801"/>
            <a:ext cx="571381" cy="571381"/>
          </a:xfrm>
          <a:prstGeom prst="rect">
            <a:avLst/>
          </a:prstGeom>
        </p:spPr>
      </p:pic>
      <p:sp>
        <p:nvSpPr>
          <p:cNvPr id="12" name="Text 5"/>
          <p:cNvSpPr/>
          <p:nvPr/>
        </p:nvSpPr>
        <p:spPr>
          <a:xfrm>
            <a:off x="9715381" y="5300663"/>
            <a:ext cx="3419951" cy="336113"/>
          </a:xfrm>
          <a:prstGeom prst="rect">
            <a:avLst/>
          </a:prstGeom>
          <a:noFill/>
          <a:ln/>
        </p:spPr>
        <p:txBody>
          <a:bodyPr wrap="none" lIns="0" tIns="0" rIns="0" bIns="0" rtlCol="0" anchor="t"/>
          <a:lstStyle/>
          <a:p>
            <a:pPr algn="l" indent="0" marL="0">
              <a:lnSpc>
                <a:spcPts val="2600"/>
              </a:lnSpc>
              <a:buNone/>
            </a:pPr>
            <a:r>
              <a:rPr lang="en-US" sz="2100" dirty="0">
                <a:solidFill>
                  <a:srgbClr val="3A3630"/>
                </a:solidFill>
                <a:latin typeface="Lora" pitchFamily="34" charset="0"/>
                <a:ea typeface="Lora" pitchFamily="34" charset="-122"/>
                <a:cs typeface="Lora" pitchFamily="34" charset="-120"/>
              </a:rPr>
              <a:t>Aplicaciones en la industria</a:t>
            </a:r>
            <a:endParaRPr lang="en-US" sz="2100" dirty="0"/>
          </a:p>
        </p:txBody>
      </p:sp>
      <p:sp>
        <p:nvSpPr>
          <p:cNvPr id="13" name="Text 6"/>
          <p:cNvSpPr/>
          <p:nvPr/>
        </p:nvSpPr>
        <p:spPr>
          <a:xfrm>
            <a:off x="9715381" y="5773817"/>
            <a:ext cx="4115038" cy="1463040"/>
          </a:xfrm>
          <a:prstGeom prst="rect">
            <a:avLst/>
          </a:prstGeom>
          <a:noFill/>
          <a:ln/>
        </p:spPr>
        <p:txBody>
          <a:bodyPr wrap="square" lIns="0" tIns="0" rIns="0" bIns="0" rtlCol="0" anchor="t"/>
          <a:lstStyle/>
          <a:p>
            <a:pPr algn="l" indent="0" marL="0">
              <a:lnSpc>
                <a:spcPts val="2850"/>
              </a:lnSpc>
              <a:buNone/>
            </a:pPr>
            <a:r>
              <a:rPr lang="en-US" sz="1750" dirty="0">
                <a:solidFill>
                  <a:srgbClr val="3A3630"/>
                </a:solidFill>
                <a:latin typeface="Source Sans Pro" pitchFamily="34" charset="0"/>
                <a:ea typeface="Source Sans Pro" pitchFamily="34" charset="-122"/>
                <a:cs typeface="Source Sans Pro" pitchFamily="34" charset="-120"/>
              </a:rPr>
              <a:t>Los sistemas distribuidos tienen numerosas aplicaciones en áreas como la computación en la nube, el big data y los sistemas de IoT.</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2024-11-05T07:57:31Z</dcterms:created>
  <dcterms:modified xsi:type="dcterms:W3CDTF">2024-11-05T07:57:31Z</dcterms:modified>
</cp:coreProperties>
</file>