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6.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84083"/>
            <a:ext cx="75564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Sistemas de Bases de Datos 2 - Laboratorio</a:t>
            </a:r>
            <a:endParaRPr lang="en-US" sz="4450" dirty="0"/>
          </a:p>
        </p:txBody>
      </p:sp>
      <p:sp>
        <p:nvSpPr>
          <p:cNvPr id="4" name="Text 1"/>
          <p:cNvSpPr/>
          <p:nvPr/>
        </p:nvSpPr>
        <p:spPr>
          <a:xfrm>
            <a:off x="793790" y="3941802"/>
            <a:ext cx="7556421"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Bienvenidos al laboratorio del curso Sistemas de Bases de Datos 2. En esta sección, exploraremos los conceptos fundamentales de la gestión de la concurrencia y la optimización de transacciones en el manejo de bases de datos.</a:t>
            </a:r>
            <a:endParaRPr lang="en-US" sz="1750" dirty="0"/>
          </a:p>
        </p:txBody>
      </p:sp>
      <p:sp>
        <p:nvSpPr>
          <p:cNvPr id="5" name="Shape 2"/>
          <p:cNvSpPr/>
          <p:nvPr/>
        </p:nvSpPr>
        <p:spPr>
          <a:xfrm>
            <a:off x="793790" y="5665470"/>
            <a:ext cx="362903" cy="362903"/>
          </a:xfrm>
          <a:prstGeom prst="roundRect">
            <a:avLst>
              <a:gd name="adj" fmla="val 25194296"/>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801410" y="5673090"/>
            <a:ext cx="347663" cy="347663"/>
          </a:xfrm>
          <a:prstGeom prst="rect">
            <a:avLst/>
          </a:prstGeom>
        </p:spPr>
      </p:pic>
      <p:sp>
        <p:nvSpPr>
          <p:cNvPr id="7" name="Text 3"/>
          <p:cNvSpPr/>
          <p:nvPr/>
        </p:nvSpPr>
        <p:spPr>
          <a:xfrm>
            <a:off x="1270040" y="5648563"/>
            <a:ext cx="6079569" cy="396835"/>
          </a:xfrm>
          <a:prstGeom prst="rect">
            <a:avLst/>
          </a:prstGeom>
          <a:noFill/>
          <a:ln/>
        </p:spPr>
        <p:txBody>
          <a:bodyPr wrap="none" lIns="0" tIns="0" rIns="0" bIns="0" rtlCol="0" anchor="t"/>
          <a:lstStyle/>
          <a:p>
            <a:pPr algn="l" indent="0" marL="0">
              <a:lnSpc>
                <a:spcPts val="3100"/>
              </a:lnSpc>
              <a:buNone/>
            </a:pPr>
            <a:r>
              <a:rPr lang="en-US" sz="2200" b="1" spc="-36" kern="0" dirty="0">
                <a:solidFill>
                  <a:srgbClr val="272525"/>
                </a:solidFill>
                <a:latin typeface="Inter Bold" pitchFamily="34" charset="0"/>
                <a:ea typeface="Inter Bold" pitchFamily="34" charset="-122"/>
                <a:cs typeface="Inter Bold" pitchFamily="34" charset="-120"/>
              </a:rPr>
              <a:t>by DIEGO ANDRE MAZARIEGOS BARRIENTOS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87110"/>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Gestión de la Concurrencia y Optimización de Transacciones</a:t>
            </a:r>
            <a:endParaRPr lang="en-US" sz="4450" dirty="0"/>
          </a:p>
        </p:txBody>
      </p:sp>
      <p:sp>
        <p:nvSpPr>
          <p:cNvPr id="3" name="Shape 1"/>
          <p:cNvSpPr/>
          <p:nvPr/>
        </p:nvSpPr>
        <p:spPr>
          <a:xfrm>
            <a:off x="793790" y="2813447"/>
            <a:ext cx="510302" cy="510302"/>
          </a:xfrm>
          <a:prstGeom prst="roundRect">
            <a:avLst>
              <a:gd name="adj" fmla="val 18669"/>
            </a:avLst>
          </a:prstGeom>
          <a:solidFill>
            <a:srgbClr val="DADBF1"/>
          </a:solidFill>
          <a:ln w="7620">
            <a:solidFill>
              <a:srgbClr val="C0C1D7"/>
            </a:solidFill>
            <a:prstDash val="solid"/>
          </a:ln>
        </p:spPr>
      </p:sp>
      <p:sp>
        <p:nvSpPr>
          <p:cNvPr id="4" name="Text 2"/>
          <p:cNvSpPr/>
          <p:nvPr/>
        </p:nvSpPr>
        <p:spPr>
          <a:xfrm>
            <a:off x="980599" y="2898457"/>
            <a:ext cx="136565"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1</a:t>
            </a:r>
            <a:endParaRPr lang="en-US" sz="2650" dirty="0"/>
          </a:p>
        </p:txBody>
      </p:sp>
      <p:sp>
        <p:nvSpPr>
          <p:cNvPr id="5" name="Text 3"/>
          <p:cNvSpPr/>
          <p:nvPr/>
        </p:nvSpPr>
        <p:spPr>
          <a:xfrm>
            <a:off x="1530906" y="2813447"/>
            <a:ext cx="3620810"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Desafíos de la concurrencia</a:t>
            </a:r>
            <a:endParaRPr lang="en-US" sz="2200" dirty="0"/>
          </a:p>
        </p:txBody>
      </p:sp>
      <p:sp>
        <p:nvSpPr>
          <p:cNvPr id="6" name="Text 4"/>
          <p:cNvSpPr/>
          <p:nvPr/>
        </p:nvSpPr>
        <p:spPr>
          <a:xfrm>
            <a:off x="1530906" y="3303865"/>
            <a:ext cx="5670947"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 gestión de la concurrencia en sistemas de bases de datos es fundamental para garantizar la integridad y consistencia de los datos cuando múltiples usuarios acceden y modifican información simultáneamente.</a:t>
            </a:r>
            <a:endParaRPr lang="en-US" sz="1750" dirty="0"/>
          </a:p>
        </p:txBody>
      </p:sp>
      <p:sp>
        <p:nvSpPr>
          <p:cNvPr id="7" name="Shape 5"/>
          <p:cNvSpPr/>
          <p:nvPr/>
        </p:nvSpPr>
        <p:spPr>
          <a:xfrm>
            <a:off x="7428667" y="2813447"/>
            <a:ext cx="510302" cy="510302"/>
          </a:xfrm>
          <a:prstGeom prst="roundRect">
            <a:avLst>
              <a:gd name="adj" fmla="val 18669"/>
            </a:avLst>
          </a:prstGeom>
          <a:solidFill>
            <a:srgbClr val="DADBF1"/>
          </a:solidFill>
          <a:ln w="7620">
            <a:solidFill>
              <a:srgbClr val="C0C1D7"/>
            </a:solidFill>
            <a:prstDash val="solid"/>
          </a:ln>
        </p:spPr>
      </p:sp>
      <p:sp>
        <p:nvSpPr>
          <p:cNvPr id="8" name="Text 6"/>
          <p:cNvSpPr/>
          <p:nvPr/>
        </p:nvSpPr>
        <p:spPr>
          <a:xfrm>
            <a:off x="7581781" y="2898457"/>
            <a:ext cx="204073"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2</a:t>
            </a:r>
            <a:endParaRPr lang="en-US" sz="2650" dirty="0"/>
          </a:p>
        </p:txBody>
      </p:sp>
      <p:sp>
        <p:nvSpPr>
          <p:cNvPr id="9" name="Text 7"/>
          <p:cNvSpPr/>
          <p:nvPr/>
        </p:nvSpPr>
        <p:spPr>
          <a:xfrm>
            <a:off x="8165783" y="2813447"/>
            <a:ext cx="4035862"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Optimización de transacciones</a:t>
            </a:r>
            <a:endParaRPr lang="en-US" sz="2200" dirty="0"/>
          </a:p>
        </p:txBody>
      </p:sp>
      <p:sp>
        <p:nvSpPr>
          <p:cNvPr id="10" name="Text 8"/>
          <p:cNvSpPr/>
          <p:nvPr/>
        </p:nvSpPr>
        <p:spPr>
          <a:xfrm>
            <a:off x="8165783" y="3303865"/>
            <a:ext cx="5670947"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 optimización de transacciones busca maximizar el rendimiento y la eficiencia de las operaciones de lectura y escritura en la base de datos, minimizando tiempos de espera y conflictos entre usuarios.</a:t>
            </a:r>
            <a:endParaRPr lang="en-US" sz="1750" dirty="0"/>
          </a:p>
        </p:txBody>
      </p:sp>
      <p:sp>
        <p:nvSpPr>
          <p:cNvPr id="11" name="Shape 9"/>
          <p:cNvSpPr/>
          <p:nvPr/>
        </p:nvSpPr>
        <p:spPr>
          <a:xfrm>
            <a:off x="793790" y="5237440"/>
            <a:ext cx="510302" cy="510302"/>
          </a:xfrm>
          <a:prstGeom prst="roundRect">
            <a:avLst>
              <a:gd name="adj" fmla="val 18669"/>
            </a:avLst>
          </a:prstGeom>
          <a:solidFill>
            <a:srgbClr val="DADBF1"/>
          </a:solidFill>
          <a:ln w="7620">
            <a:solidFill>
              <a:srgbClr val="C0C1D7"/>
            </a:solidFill>
            <a:prstDash val="solid"/>
          </a:ln>
        </p:spPr>
      </p:sp>
      <p:sp>
        <p:nvSpPr>
          <p:cNvPr id="12" name="Text 10"/>
          <p:cNvSpPr/>
          <p:nvPr/>
        </p:nvSpPr>
        <p:spPr>
          <a:xfrm>
            <a:off x="944166" y="5322451"/>
            <a:ext cx="209431"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3" name="Text 11"/>
          <p:cNvSpPr/>
          <p:nvPr/>
        </p:nvSpPr>
        <p:spPr>
          <a:xfrm>
            <a:off x="1530906" y="5237440"/>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Técnicas de control</a:t>
            </a:r>
            <a:endParaRPr lang="en-US" sz="2200" dirty="0"/>
          </a:p>
        </p:txBody>
      </p:sp>
      <p:sp>
        <p:nvSpPr>
          <p:cNvPr id="14" name="Text 12"/>
          <p:cNvSpPr/>
          <p:nvPr/>
        </p:nvSpPr>
        <p:spPr>
          <a:xfrm>
            <a:off x="1530906" y="5727859"/>
            <a:ext cx="5670947"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Existen diversas técnicas de control de concurrencia, como el bloqueo (locking) y el marcado de tiempo (time-stamping), que permiten regular el acceso a los datos y resolver problemas como los bloqueos y los interbloqueos.</a:t>
            </a:r>
            <a:endParaRPr lang="en-US" sz="1750" dirty="0"/>
          </a:p>
        </p:txBody>
      </p:sp>
      <p:sp>
        <p:nvSpPr>
          <p:cNvPr id="15" name="Shape 13"/>
          <p:cNvSpPr/>
          <p:nvPr/>
        </p:nvSpPr>
        <p:spPr>
          <a:xfrm>
            <a:off x="7428667" y="5237440"/>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7573804" y="5322451"/>
            <a:ext cx="219908"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4</a:t>
            </a:r>
            <a:endParaRPr lang="en-US" sz="2650" dirty="0"/>
          </a:p>
        </p:txBody>
      </p:sp>
      <p:sp>
        <p:nvSpPr>
          <p:cNvPr id="17" name="Text 15"/>
          <p:cNvSpPr/>
          <p:nvPr/>
        </p:nvSpPr>
        <p:spPr>
          <a:xfrm>
            <a:off x="8165783" y="5237440"/>
            <a:ext cx="497145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Recuperación y niveles de aislamiento</a:t>
            </a:r>
            <a:endParaRPr lang="en-US" sz="2200" dirty="0"/>
          </a:p>
        </p:txBody>
      </p:sp>
      <p:sp>
        <p:nvSpPr>
          <p:cNvPr id="18" name="Text 16"/>
          <p:cNvSpPr/>
          <p:nvPr/>
        </p:nvSpPr>
        <p:spPr>
          <a:xfrm>
            <a:off x="8165783" y="5727859"/>
            <a:ext cx="5670947"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mecanismos de recuperación de transacciones, como los puntos de guardado y los rollbacks, así como los niveles de aislamiento, son esenciales para garantizar la integridad de los datos ante fallas o conflictos.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84503"/>
            <a:ext cx="12736473"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Introducción a la concurrencia en bases de datos</a:t>
            </a:r>
            <a:endParaRPr lang="en-US" sz="4450" dirty="0"/>
          </a:p>
        </p:txBody>
      </p:sp>
      <p:pic>
        <p:nvPicPr>
          <p:cNvPr id="3" name="Image 0" descr="preencoded.png">    </p:cNvPr>
          <p:cNvPicPr>
            <a:picLocks noChangeAspect="1"/>
          </p:cNvPicPr>
          <p:nvPr/>
        </p:nvPicPr>
        <p:blipFill>
          <a:blip r:embed="rId1"/>
          <a:stretch>
            <a:fillRect/>
          </a:stretch>
        </p:blipFill>
        <p:spPr>
          <a:xfrm>
            <a:off x="793790" y="1946910"/>
            <a:ext cx="4120753" cy="2546747"/>
          </a:xfrm>
          <a:prstGeom prst="rect">
            <a:avLst/>
          </a:prstGeom>
        </p:spPr>
      </p:pic>
      <p:sp>
        <p:nvSpPr>
          <p:cNvPr id="4" name="Text 1"/>
          <p:cNvSpPr/>
          <p:nvPr/>
        </p:nvSpPr>
        <p:spPr>
          <a:xfrm>
            <a:off x="793790" y="4777145"/>
            <a:ext cx="392620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Carga de Trabajo Concurrente</a:t>
            </a:r>
            <a:endParaRPr lang="en-US" sz="2200" dirty="0"/>
          </a:p>
        </p:txBody>
      </p:sp>
      <p:sp>
        <p:nvSpPr>
          <p:cNvPr id="5" name="Text 2"/>
          <p:cNvSpPr/>
          <p:nvPr/>
        </p:nvSpPr>
        <p:spPr>
          <a:xfrm>
            <a:off x="793790" y="5267563"/>
            <a:ext cx="4120753" cy="2177415"/>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Las bases de datos modernas deben manejar múltiples transacciones simultáneas para satisfacer la demanda de los usuarios. Esto requiere una cuidadosa administración de la concurrencia.</a:t>
            </a:r>
            <a:endParaRPr lang="en-US" sz="1750" dirty="0"/>
          </a:p>
        </p:txBody>
      </p:sp>
      <p:pic>
        <p:nvPicPr>
          <p:cNvPr id="6" name="Image 1" descr="preencoded.png">    </p:cNvPr>
          <p:cNvPicPr>
            <a:picLocks noChangeAspect="1"/>
          </p:cNvPicPr>
          <p:nvPr/>
        </p:nvPicPr>
        <p:blipFill>
          <a:blip r:embed="rId2"/>
          <a:stretch>
            <a:fillRect/>
          </a:stretch>
        </p:blipFill>
        <p:spPr>
          <a:xfrm>
            <a:off x="5254704" y="1946910"/>
            <a:ext cx="4120872" cy="2546866"/>
          </a:xfrm>
          <a:prstGeom prst="rect">
            <a:avLst/>
          </a:prstGeom>
        </p:spPr>
      </p:pic>
      <p:sp>
        <p:nvSpPr>
          <p:cNvPr id="7" name="Text 3"/>
          <p:cNvSpPr/>
          <p:nvPr/>
        </p:nvSpPr>
        <p:spPr>
          <a:xfrm>
            <a:off x="5254704" y="4777264"/>
            <a:ext cx="352365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Interacción de los Usuarios</a:t>
            </a:r>
            <a:endParaRPr lang="en-US" sz="2200" dirty="0"/>
          </a:p>
        </p:txBody>
      </p:sp>
      <p:sp>
        <p:nvSpPr>
          <p:cNvPr id="8" name="Text 4"/>
          <p:cNvSpPr/>
          <p:nvPr/>
        </p:nvSpPr>
        <p:spPr>
          <a:xfrm>
            <a:off x="5254704" y="5267682"/>
            <a:ext cx="4120872"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Varios usuarios accediendo y modificando los mismos datos simultáneamente pueden causar inconsistencias si no se controla adecuadamente la concurrencia.</a:t>
            </a:r>
            <a:endParaRPr lang="en-US" sz="1750" dirty="0"/>
          </a:p>
        </p:txBody>
      </p:sp>
      <p:pic>
        <p:nvPicPr>
          <p:cNvPr id="9" name="Image 2" descr="preencoded.png">    </p:cNvPr>
          <p:cNvPicPr>
            <a:picLocks noChangeAspect="1"/>
          </p:cNvPicPr>
          <p:nvPr/>
        </p:nvPicPr>
        <p:blipFill>
          <a:blip r:embed="rId3"/>
          <a:stretch>
            <a:fillRect/>
          </a:stretch>
        </p:blipFill>
        <p:spPr>
          <a:xfrm>
            <a:off x="9715738" y="1946910"/>
            <a:ext cx="4120753" cy="2546747"/>
          </a:xfrm>
          <a:prstGeom prst="rect">
            <a:avLst/>
          </a:prstGeom>
        </p:spPr>
      </p:pic>
      <p:sp>
        <p:nvSpPr>
          <p:cNvPr id="10" name="Text 5"/>
          <p:cNvSpPr/>
          <p:nvPr/>
        </p:nvSpPr>
        <p:spPr>
          <a:xfrm>
            <a:off x="9715738" y="4777145"/>
            <a:ext cx="3095506"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Mecanismos de Control</a:t>
            </a:r>
            <a:endParaRPr lang="en-US" sz="2200" dirty="0"/>
          </a:p>
        </p:txBody>
      </p:sp>
      <p:sp>
        <p:nvSpPr>
          <p:cNvPr id="11" name="Text 6"/>
          <p:cNvSpPr/>
          <p:nvPr/>
        </p:nvSpPr>
        <p:spPr>
          <a:xfrm>
            <a:off x="9715738" y="5267563"/>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sistemas de gestión de bases de datos implementan técnicas como bloqueo y sellado de tiempo para coordinar el acceso concurrente a los datos.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04060"/>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Problemas de concurrencia: bloqueos y deadlocks</a:t>
            </a:r>
            <a:endParaRPr lang="en-US" sz="4450" dirty="0"/>
          </a:p>
        </p:txBody>
      </p:sp>
      <p:sp>
        <p:nvSpPr>
          <p:cNvPr id="3" name="Text 1"/>
          <p:cNvSpPr/>
          <p:nvPr/>
        </p:nvSpPr>
        <p:spPr>
          <a:xfrm>
            <a:off x="793790" y="3988594"/>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Bloqueos (Locks)</a:t>
            </a:r>
            <a:endParaRPr lang="en-US" sz="2200" dirty="0"/>
          </a:p>
        </p:txBody>
      </p:sp>
      <p:sp>
        <p:nvSpPr>
          <p:cNvPr id="4" name="Text 2"/>
          <p:cNvSpPr/>
          <p:nvPr/>
        </p:nvSpPr>
        <p:spPr>
          <a:xfrm>
            <a:off x="793790" y="4569738"/>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bloqueos ocurren cuando múltiples procesos intentan acceder a los mismos recursos de manera exclusiva, lo que genera conflictos y retrasos en la ejecución de las transacciones.</a:t>
            </a:r>
            <a:endParaRPr lang="en-US" sz="1750" dirty="0"/>
          </a:p>
        </p:txBody>
      </p:sp>
      <p:sp>
        <p:nvSpPr>
          <p:cNvPr id="5" name="Text 3"/>
          <p:cNvSpPr/>
          <p:nvPr/>
        </p:nvSpPr>
        <p:spPr>
          <a:xfrm>
            <a:off x="7599521" y="3988594"/>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Deadlocks</a:t>
            </a:r>
            <a:endParaRPr lang="en-US" sz="2200" dirty="0"/>
          </a:p>
        </p:txBody>
      </p:sp>
      <p:sp>
        <p:nvSpPr>
          <p:cNvPr id="6" name="Text 4"/>
          <p:cNvSpPr/>
          <p:nvPr/>
        </p:nvSpPr>
        <p:spPr>
          <a:xfrm>
            <a:off x="7599521" y="4569738"/>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Un deadlock es una situación de bloqueo circular en la que dos o más procesos se mantienen mutuamente bloqueados, esperando recursos que nunca serán liberados. Esto paraliza por completo el sistema.</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5925" y="746998"/>
            <a:ext cx="10971252" cy="656987"/>
          </a:xfrm>
          <a:prstGeom prst="rect">
            <a:avLst/>
          </a:prstGeom>
          <a:noFill/>
          <a:ln/>
        </p:spPr>
        <p:txBody>
          <a:bodyPr wrap="none" lIns="0" tIns="0" rIns="0" bIns="0" rtlCol="0" anchor="t"/>
          <a:lstStyle/>
          <a:p>
            <a:pPr indent="0" marL="0">
              <a:lnSpc>
                <a:spcPts val="5150"/>
              </a:lnSpc>
              <a:buNone/>
            </a:pPr>
            <a:r>
              <a:rPr lang="en-US" sz="4100" b="1" spc="-124" kern="0" dirty="0">
                <a:solidFill>
                  <a:srgbClr val="000000"/>
                </a:solidFill>
                <a:latin typeface="Inter Bold" pitchFamily="34" charset="0"/>
                <a:ea typeface="Inter Bold" pitchFamily="34" charset="-122"/>
                <a:cs typeface="Inter Bold" pitchFamily="34" charset="-120"/>
              </a:rPr>
              <a:t>Técnicas de control de concurrencia: Locking</a:t>
            </a:r>
            <a:endParaRPr lang="en-US" sz="4100" dirty="0"/>
          </a:p>
        </p:txBody>
      </p:sp>
      <p:pic>
        <p:nvPicPr>
          <p:cNvPr id="3" name="Image 0" descr="preencoded.png">    </p:cNvPr>
          <p:cNvPicPr>
            <a:picLocks noChangeAspect="1"/>
          </p:cNvPicPr>
          <p:nvPr/>
        </p:nvPicPr>
        <p:blipFill>
          <a:blip r:embed="rId1"/>
          <a:stretch>
            <a:fillRect/>
          </a:stretch>
        </p:blipFill>
        <p:spPr>
          <a:xfrm>
            <a:off x="2939891" y="1824514"/>
            <a:ext cx="2171105" cy="1547932"/>
          </a:xfrm>
          <a:prstGeom prst="rect">
            <a:avLst/>
          </a:prstGeom>
        </p:spPr>
      </p:pic>
      <p:sp>
        <p:nvSpPr>
          <p:cNvPr id="4" name="Text 1"/>
          <p:cNvSpPr/>
          <p:nvPr/>
        </p:nvSpPr>
        <p:spPr>
          <a:xfrm>
            <a:off x="3972639" y="2588776"/>
            <a:ext cx="105489" cy="420529"/>
          </a:xfrm>
          <a:prstGeom prst="rect">
            <a:avLst/>
          </a:prstGeom>
          <a:noFill/>
          <a:ln/>
        </p:spPr>
        <p:txBody>
          <a:bodyPr wrap="none" lIns="0" tIns="0" rIns="0" bIns="0" rtlCol="0" anchor="t"/>
          <a:lstStyle/>
          <a:p>
            <a:pPr algn="ctr" indent="0" marL="0">
              <a:lnSpc>
                <a:spcPts val="3300"/>
              </a:lnSpc>
              <a:buNone/>
            </a:pPr>
            <a:r>
              <a:rPr lang="en-US" sz="2050" b="1" spc="-62" kern="0" dirty="0">
                <a:solidFill>
                  <a:srgbClr val="272525"/>
                </a:solidFill>
                <a:latin typeface="Inter Bold" pitchFamily="34" charset="0"/>
                <a:ea typeface="Inter Bold" pitchFamily="34" charset="-122"/>
                <a:cs typeface="Inter Bold" pitchFamily="34" charset="-120"/>
              </a:rPr>
              <a:t>1</a:t>
            </a:r>
            <a:endParaRPr lang="en-US" sz="2050" dirty="0"/>
          </a:p>
        </p:txBody>
      </p:sp>
      <p:sp>
        <p:nvSpPr>
          <p:cNvPr id="5" name="Text 2"/>
          <p:cNvSpPr/>
          <p:nvPr/>
        </p:nvSpPr>
        <p:spPr>
          <a:xfrm>
            <a:off x="5321260" y="2202894"/>
            <a:ext cx="2628424" cy="328613"/>
          </a:xfrm>
          <a:prstGeom prst="rect">
            <a:avLst/>
          </a:prstGeom>
          <a:noFill/>
          <a:ln/>
        </p:spPr>
        <p:txBody>
          <a:bodyPr wrap="non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Bloqueo exclusivo</a:t>
            </a:r>
            <a:endParaRPr lang="en-US" sz="2050" dirty="0"/>
          </a:p>
        </p:txBody>
      </p:sp>
      <p:sp>
        <p:nvSpPr>
          <p:cNvPr id="6" name="Text 3"/>
          <p:cNvSpPr/>
          <p:nvPr/>
        </p:nvSpPr>
        <p:spPr>
          <a:xfrm>
            <a:off x="5321260" y="2657594"/>
            <a:ext cx="5513189" cy="336352"/>
          </a:xfrm>
          <a:prstGeom prst="rect">
            <a:avLst/>
          </a:prstGeom>
          <a:noFill/>
          <a:ln/>
        </p:spPr>
        <p:txBody>
          <a:bodyPr wrap="none" lIns="0" tIns="0" rIns="0" bIns="0" rtlCol="0" anchor="t"/>
          <a:lstStyle/>
          <a:p>
            <a:pPr algn="l" indent="0" marL="0">
              <a:lnSpc>
                <a:spcPts val="2600"/>
              </a:lnSpc>
              <a:buNone/>
            </a:pPr>
            <a:r>
              <a:rPr lang="en-US" sz="1650" spc="-33" kern="0" dirty="0">
                <a:solidFill>
                  <a:srgbClr val="272525"/>
                </a:solidFill>
                <a:latin typeface="Inter" pitchFamily="34" charset="0"/>
                <a:ea typeface="Inter" pitchFamily="34" charset="-122"/>
                <a:cs typeface="Inter" pitchFamily="34" charset="-120"/>
              </a:rPr>
              <a:t>Solo un usuario puede tener acceso a un recurso a la vez.</a:t>
            </a:r>
            <a:endParaRPr lang="en-US" sz="1650" dirty="0"/>
          </a:p>
        </p:txBody>
      </p:sp>
      <p:sp>
        <p:nvSpPr>
          <p:cNvPr id="7" name="Shape 4"/>
          <p:cNvSpPr/>
          <p:nvPr/>
        </p:nvSpPr>
        <p:spPr>
          <a:xfrm>
            <a:off x="5163503" y="3389114"/>
            <a:ext cx="8678466" cy="11430"/>
          </a:xfrm>
          <a:prstGeom prst="roundRect">
            <a:avLst>
              <a:gd name="adj" fmla="val 772676"/>
            </a:avLst>
          </a:prstGeom>
          <a:solidFill>
            <a:srgbClr val="C0C1D7"/>
          </a:solidFill>
          <a:ln/>
        </p:spPr>
      </p:sp>
      <p:pic>
        <p:nvPicPr>
          <p:cNvPr id="8" name="Image 1" descr="preencoded.png">    </p:cNvPr>
          <p:cNvPicPr>
            <a:picLocks noChangeAspect="1"/>
          </p:cNvPicPr>
          <p:nvPr/>
        </p:nvPicPr>
        <p:blipFill>
          <a:blip r:embed="rId2"/>
          <a:stretch>
            <a:fillRect/>
          </a:stretch>
        </p:blipFill>
        <p:spPr>
          <a:xfrm>
            <a:off x="1854398" y="3424952"/>
            <a:ext cx="4342209" cy="1547932"/>
          </a:xfrm>
          <a:prstGeom prst="rect">
            <a:avLst/>
          </a:prstGeom>
        </p:spPr>
      </p:pic>
      <p:sp>
        <p:nvSpPr>
          <p:cNvPr id="9" name="Text 5"/>
          <p:cNvSpPr/>
          <p:nvPr/>
        </p:nvSpPr>
        <p:spPr>
          <a:xfrm>
            <a:off x="3946684" y="3988594"/>
            <a:ext cx="157639" cy="420529"/>
          </a:xfrm>
          <a:prstGeom prst="rect">
            <a:avLst/>
          </a:prstGeom>
          <a:noFill/>
          <a:ln/>
        </p:spPr>
        <p:txBody>
          <a:bodyPr wrap="none" lIns="0" tIns="0" rIns="0" bIns="0" rtlCol="0" anchor="t"/>
          <a:lstStyle/>
          <a:p>
            <a:pPr algn="ctr" indent="0" marL="0">
              <a:lnSpc>
                <a:spcPts val="3300"/>
              </a:lnSpc>
              <a:buNone/>
            </a:pPr>
            <a:r>
              <a:rPr lang="en-US" sz="2050" b="1" spc="-62" kern="0" dirty="0">
                <a:solidFill>
                  <a:srgbClr val="272525"/>
                </a:solidFill>
                <a:latin typeface="Inter Bold" pitchFamily="34" charset="0"/>
                <a:ea typeface="Inter Bold" pitchFamily="34" charset="-122"/>
                <a:cs typeface="Inter Bold" pitchFamily="34" charset="-120"/>
              </a:rPr>
              <a:t>2</a:t>
            </a:r>
            <a:endParaRPr lang="en-US" sz="2050" dirty="0"/>
          </a:p>
        </p:txBody>
      </p:sp>
      <p:sp>
        <p:nvSpPr>
          <p:cNvPr id="10" name="Text 6"/>
          <p:cNvSpPr/>
          <p:nvPr/>
        </p:nvSpPr>
        <p:spPr>
          <a:xfrm>
            <a:off x="6406872" y="3803333"/>
            <a:ext cx="2628424" cy="328613"/>
          </a:xfrm>
          <a:prstGeom prst="rect">
            <a:avLst/>
          </a:prstGeom>
          <a:noFill/>
          <a:ln/>
        </p:spPr>
        <p:txBody>
          <a:bodyPr wrap="non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Bloqueo compartido</a:t>
            </a:r>
            <a:endParaRPr lang="en-US" sz="2050" dirty="0"/>
          </a:p>
        </p:txBody>
      </p:sp>
      <p:sp>
        <p:nvSpPr>
          <p:cNvPr id="11" name="Text 7"/>
          <p:cNvSpPr/>
          <p:nvPr/>
        </p:nvSpPr>
        <p:spPr>
          <a:xfrm>
            <a:off x="6406872" y="4258032"/>
            <a:ext cx="6656427" cy="336352"/>
          </a:xfrm>
          <a:prstGeom prst="rect">
            <a:avLst/>
          </a:prstGeom>
          <a:noFill/>
          <a:ln/>
        </p:spPr>
        <p:txBody>
          <a:bodyPr wrap="none" lIns="0" tIns="0" rIns="0" bIns="0" rtlCol="0" anchor="t"/>
          <a:lstStyle/>
          <a:p>
            <a:pPr algn="l" indent="0" marL="0">
              <a:lnSpc>
                <a:spcPts val="2600"/>
              </a:lnSpc>
              <a:buNone/>
            </a:pPr>
            <a:r>
              <a:rPr lang="en-US" sz="1650" spc="-33" kern="0" dirty="0">
                <a:solidFill>
                  <a:srgbClr val="272525"/>
                </a:solidFill>
                <a:latin typeface="Inter" pitchFamily="34" charset="0"/>
                <a:ea typeface="Inter" pitchFamily="34" charset="-122"/>
                <a:cs typeface="Inter" pitchFamily="34" charset="-120"/>
              </a:rPr>
              <a:t>Múltiples usuarios pueden acceder a un recurso de forma simultánea.</a:t>
            </a:r>
            <a:endParaRPr lang="en-US" sz="1650" dirty="0"/>
          </a:p>
        </p:txBody>
      </p:sp>
      <p:sp>
        <p:nvSpPr>
          <p:cNvPr id="12" name="Shape 8"/>
          <p:cNvSpPr/>
          <p:nvPr/>
        </p:nvSpPr>
        <p:spPr>
          <a:xfrm>
            <a:off x="6249114" y="4989552"/>
            <a:ext cx="7592854" cy="11430"/>
          </a:xfrm>
          <a:prstGeom prst="roundRect">
            <a:avLst>
              <a:gd name="adj" fmla="val 772676"/>
            </a:avLst>
          </a:prstGeom>
          <a:solidFill>
            <a:srgbClr val="C0C1D7"/>
          </a:solidFill>
          <a:ln/>
        </p:spPr>
      </p:sp>
      <p:pic>
        <p:nvPicPr>
          <p:cNvPr id="13" name="Image 2" descr="preencoded.png">    </p:cNvPr>
          <p:cNvPicPr>
            <a:picLocks noChangeAspect="1"/>
          </p:cNvPicPr>
          <p:nvPr/>
        </p:nvPicPr>
        <p:blipFill>
          <a:blip r:embed="rId3"/>
          <a:stretch>
            <a:fillRect/>
          </a:stretch>
        </p:blipFill>
        <p:spPr>
          <a:xfrm>
            <a:off x="768787" y="5025390"/>
            <a:ext cx="6513433" cy="1547932"/>
          </a:xfrm>
          <a:prstGeom prst="rect">
            <a:avLst/>
          </a:prstGeom>
        </p:spPr>
      </p:pic>
      <p:sp>
        <p:nvSpPr>
          <p:cNvPr id="14" name="Text 9"/>
          <p:cNvSpPr/>
          <p:nvPr/>
        </p:nvSpPr>
        <p:spPr>
          <a:xfrm>
            <a:off x="3944541" y="5589032"/>
            <a:ext cx="161806" cy="420529"/>
          </a:xfrm>
          <a:prstGeom prst="rect">
            <a:avLst/>
          </a:prstGeom>
          <a:noFill/>
          <a:ln/>
        </p:spPr>
        <p:txBody>
          <a:bodyPr wrap="none" lIns="0" tIns="0" rIns="0" bIns="0" rtlCol="0" anchor="t"/>
          <a:lstStyle/>
          <a:p>
            <a:pPr algn="ctr" indent="0" marL="0">
              <a:lnSpc>
                <a:spcPts val="3300"/>
              </a:lnSpc>
              <a:buNone/>
            </a:pPr>
            <a:r>
              <a:rPr lang="en-US" sz="2050" b="1" spc="-62" kern="0" dirty="0">
                <a:solidFill>
                  <a:srgbClr val="272525"/>
                </a:solidFill>
                <a:latin typeface="Inter Bold" pitchFamily="34" charset="0"/>
                <a:ea typeface="Inter Bold" pitchFamily="34" charset="-122"/>
                <a:cs typeface="Inter Bold" pitchFamily="34" charset="-120"/>
              </a:rPr>
              <a:t>3</a:t>
            </a:r>
            <a:endParaRPr lang="en-US" sz="2050" dirty="0"/>
          </a:p>
        </p:txBody>
      </p:sp>
      <p:sp>
        <p:nvSpPr>
          <p:cNvPr id="15" name="Text 10"/>
          <p:cNvSpPr/>
          <p:nvPr/>
        </p:nvSpPr>
        <p:spPr>
          <a:xfrm>
            <a:off x="7492484" y="5235654"/>
            <a:ext cx="2648188" cy="328613"/>
          </a:xfrm>
          <a:prstGeom prst="rect">
            <a:avLst/>
          </a:prstGeom>
          <a:noFill/>
          <a:ln/>
        </p:spPr>
        <p:txBody>
          <a:bodyPr wrap="non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Escalado de bloqueos</a:t>
            </a:r>
            <a:endParaRPr lang="en-US" sz="2050" dirty="0"/>
          </a:p>
        </p:txBody>
      </p:sp>
      <p:sp>
        <p:nvSpPr>
          <p:cNvPr id="16" name="Text 11"/>
          <p:cNvSpPr/>
          <p:nvPr/>
        </p:nvSpPr>
        <p:spPr>
          <a:xfrm>
            <a:off x="7492484" y="5690354"/>
            <a:ext cx="6191726" cy="672703"/>
          </a:xfrm>
          <a:prstGeom prst="rect">
            <a:avLst/>
          </a:prstGeom>
          <a:noFill/>
          <a:ln/>
        </p:spPr>
        <p:txBody>
          <a:bodyPr wrap="square" lIns="0" tIns="0" rIns="0" bIns="0" rtlCol="0" anchor="t"/>
          <a:lstStyle/>
          <a:p>
            <a:pPr algn="l" indent="0" marL="0">
              <a:lnSpc>
                <a:spcPts val="2600"/>
              </a:lnSpc>
              <a:buNone/>
            </a:pPr>
            <a:r>
              <a:rPr lang="en-US" sz="1650" spc="-33" kern="0" dirty="0">
                <a:solidFill>
                  <a:srgbClr val="272525"/>
                </a:solidFill>
                <a:latin typeface="Inter" pitchFamily="34" charset="0"/>
                <a:ea typeface="Inter" pitchFamily="34" charset="-122"/>
                <a:cs typeface="Inter" pitchFamily="34" charset="-120"/>
              </a:rPr>
              <a:t>Los bloqueos pueden aplicarse a diferentes niveles (fila, tabla, base de datos).</a:t>
            </a:r>
            <a:endParaRPr lang="en-US" sz="1650" dirty="0"/>
          </a:p>
        </p:txBody>
      </p:sp>
      <p:sp>
        <p:nvSpPr>
          <p:cNvPr id="17" name="Text 12"/>
          <p:cNvSpPr/>
          <p:nvPr/>
        </p:nvSpPr>
        <p:spPr>
          <a:xfrm>
            <a:off x="735925" y="6809780"/>
            <a:ext cx="13158549" cy="672703"/>
          </a:xfrm>
          <a:prstGeom prst="rect">
            <a:avLst/>
          </a:prstGeom>
          <a:noFill/>
          <a:ln/>
        </p:spPr>
        <p:txBody>
          <a:bodyPr wrap="square" lIns="0" tIns="0" rIns="0" bIns="0" rtlCol="0" anchor="t"/>
          <a:lstStyle/>
          <a:p>
            <a:pPr indent="0" marL="0">
              <a:lnSpc>
                <a:spcPts val="2600"/>
              </a:lnSpc>
              <a:buNone/>
            </a:pPr>
            <a:r>
              <a:rPr lang="en-US" sz="1650" spc="-33" kern="0" dirty="0">
                <a:solidFill>
                  <a:srgbClr val="272525"/>
                </a:solidFill>
                <a:latin typeface="Inter" pitchFamily="34" charset="0"/>
                <a:ea typeface="Inter" pitchFamily="34" charset="-122"/>
                <a:cs typeface="Inter" pitchFamily="34" charset="-120"/>
              </a:rPr>
              <a:t>El mecanismo de bloqueo es una técnica fundamental para el control de concurrencia en sistemas de gestión de bases de datos. Permite regular el acceso de múltiples usuarios a los mismos recursos, evitando conflictos y garantizando la integridad de los datos.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32460" y="523637"/>
            <a:ext cx="7879080" cy="1129189"/>
          </a:xfrm>
          <a:prstGeom prst="rect">
            <a:avLst/>
          </a:prstGeom>
          <a:noFill/>
          <a:ln/>
        </p:spPr>
        <p:txBody>
          <a:bodyPr wrap="square" lIns="0" tIns="0" rIns="0" bIns="0" rtlCol="0" anchor="t"/>
          <a:lstStyle/>
          <a:p>
            <a:pPr indent="0" marL="0">
              <a:lnSpc>
                <a:spcPts val="4400"/>
              </a:lnSpc>
              <a:buNone/>
            </a:pPr>
            <a:r>
              <a:rPr lang="en-US" sz="3550" b="1" spc="-107" kern="0" dirty="0">
                <a:solidFill>
                  <a:srgbClr val="000000"/>
                </a:solidFill>
                <a:latin typeface="Inter Bold" pitchFamily="34" charset="0"/>
                <a:ea typeface="Inter Bold" pitchFamily="34" charset="-122"/>
                <a:cs typeface="Inter Bold" pitchFamily="34" charset="-120"/>
              </a:rPr>
              <a:t>Técnicas de control de concurrencia: Time-stamping</a:t>
            </a:r>
            <a:endParaRPr lang="en-US" sz="3550" dirty="0"/>
          </a:p>
        </p:txBody>
      </p:sp>
      <p:pic>
        <p:nvPicPr>
          <p:cNvPr id="4" name="Image 1" descr="preencoded.png">    </p:cNvPr>
          <p:cNvPicPr>
            <a:picLocks noChangeAspect="1"/>
          </p:cNvPicPr>
          <p:nvPr/>
        </p:nvPicPr>
        <p:blipFill>
          <a:blip r:embed="rId2"/>
          <a:stretch>
            <a:fillRect/>
          </a:stretch>
        </p:blipFill>
        <p:spPr>
          <a:xfrm>
            <a:off x="632460" y="1923812"/>
            <a:ext cx="903446" cy="1445538"/>
          </a:xfrm>
          <a:prstGeom prst="rect">
            <a:avLst/>
          </a:prstGeom>
        </p:spPr>
      </p:pic>
      <p:sp>
        <p:nvSpPr>
          <p:cNvPr id="5" name="Text 1"/>
          <p:cNvSpPr/>
          <p:nvPr/>
        </p:nvSpPr>
        <p:spPr>
          <a:xfrm>
            <a:off x="1806892" y="2104430"/>
            <a:ext cx="3386018" cy="282297"/>
          </a:xfrm>
          <a:prstGeom prst="rect">
            <a:avLst/>
          </a:prstGeom>
          <a:noFill/>
          <a:ln/>
        </p:spPr>
        <p:txBody>
          <a:bodyPr wrap="none" lIns="0" tIns="0" rIns="0" bIns="0" rtlCol="0" anchor="t"/>
          <a:lstStyle/>
          <a:p>
            <a:pPr algn="l" indent="0" marL="0">
              <a:lnSpc>
                <a:spcPts val="2200"/>
              </a:lnSpc>
              <a:buNone/>
            </a:pPr>
            <a:r>
              <a:rPr lang="en-US" sz="1750" b="1" spc="-53" kern="0" dirty="0">
                <a:solidFill>
                  <a:srgbClr val="272525"/>
                </a:solidFill>
                <a:latin typeface="Inter Bold" pitchFamily="34" charset="0"/>
                <a:ea typeface="Inter Bold" pitchFamily="34" charset="-122"/>
                <a:cs typeface="Inter Bold" pitchFamily="34" charset="-120"/>
              </a:rPr>
              <a:t>Asignación de marcas de tiempo</a:t>
            </a:r>
            <a:endParaRPr lang="en-US" sz="1750" dirty="0"/>
          </a:p>
        </p:txBody>
      </p:sp>
      <p:sp>
        <p:nvSpPr>
          <p:cNvPr id="6" name="Text 2"/>
          <p:cNvSpPr/>
          <p:nvPr/>
        </p:nvSpPr>
        <p:spPr>
          <a:xfrm>
            <a:off x="1806892" y="2495074"/>
            <a:ext cx="6704648" cy="578168"/>
          </a:xfrm>
          <a:prstGeom prst="rect">
            <a:avLst/>
          </a:prstGeom>
          <a:noFill/>
          <a:ln/>
        </p:spPr>
        <p:txBody>
          <a:bodyPr wrap="square" lIns="0" tIns="0" rIns="0" bIns="0" rtlCol="0" anchor="t"/>
          <a:lstStyle/>
          <a:p>
            <a:pPr algn="l" indent="0" marL="0">
              <a:lnSpc>
                <a:spcPts val="2250"/>
              </a:lnSpc>
              <a:buNone/>
            </a:pPr>
            <a:r>
              <a:rPr lang="en-US" sz="1400" spc="-28" kern="0" dirty="0">
                <a:solidFill>
                  <a:srgbClr val="272525"/>
                </a:solidFill>
                <a:latin typeface="Inter" pitchFamily="34" charset="0"/>
                <a:ea typeface="Inter" pitchFamily="34" charset="-122"/>
                <a:cs typeface="Inter" pitchFamily="34" charset="-120"/>
              </a:rPr>
              <a:t>Cada transacción recibe una marca de tiempo única al iniciar su ejecución, que se utiliza para ordenar y resolver conflictos.</a:t>
            </a:r>
            <a:endParaRPr lang="en-US" sz="1400" dirty="0"/>
          </a:p>
        </p:txBody>
      </p:sp>
      <p:pic>
        <p:nvPicPr>
          <p:cNvPr id="7" name="Image 2" descr="preencoded.png">    </p:cNvPr>
          <p:cNvPicPr>
            <a:picLocks noChangeAspect="1"/>
          </p:cNvPicPr>
          <p:nvPr/>
        </p:nvPicPr>
        <p:blipFill>
          <a:blip r:embed="rId3"/>
          <a:stretch>
            <a:fillRect/>
          </a:stretch>
        </p:blipFill>
        <p:spPr>
          <a:xfrm>
            <a:off x="632460" y="3369350"/>
            <a:ext cx="903446" cy="1445538"/>
          </a:xfrm>
          <a:prstGeom prst="rect">
            <a:avLst/>
          </a:prstGeom>
        </p:spPr>
      </p:pic>
      <p:sp>
        <p:nvSpPr>
          <p:cNvPr id="8" name="Text 3"/>
          <p:cNvSpPr/>
          <p:nvPr/>
        </p:nvSpPr>
        <p:spPr>
          <a:xfrm>
            <a:off x="1806892" y="3549968"/>
            <a:ext cx="2258735" cy="282297"/>
          </a:xfrm>
          <a:prstGeom prst="rect">
            <a:avLst/>
          </a:prstGeom>
          <a:noFill/>
          <a:ln/>
        </p:spPr>
        <p:txBody>
          <a:bodyPr wrap="none" lIns="0" tIns="0" rIns="0" bIns="0" rtlCol="0" anchor="t"/>
          <a:lstStyle/>
          <a:p>
            <a:pPr algn="l" indent="0" marL="0">
              <a:lnSpc>
                <a:spcPts val="2200"/>
              </a:lnSpc>
              <a:buNone/>
            </a:pPr>
            <a:r>
              <a:rPr lang="en-US" sz="1750" b="1" spc="-53" kern="0" dirty="0">
                <a:solidFill>
                  <a:srgbClr val="272525"/>
                </a:solidFill>
                <a:latin typeface="Inter Bold" pitchFamily="34" charset="0"/>
                <a:ea typeface="Inter Bold" pitchFamily="34" charset="-122"/>
                <a:cs typeface="Inter Bold" pitchFamily="34" charset="-120"/>
              </a:rPr>
              <a:t>Control de conflictos</a:t>
            </a:r>
            <a:endParaRPr lang="en-US" sz="1750" dirty="0"/>
          </a:p>
        </p:txBody>
      </p:sp>
      <p:sp>
        <p:nvSpPr>
          <p:cNvPr id="9" name="Text 4"/>
          <p:cNvSpPr/>
          <p:nvPr/>
        </p:nvSpPr>
        <p:spPr>
          <a:xfrm>
            <a:off x="1806892" y="3940612"/>
            <a:ext cx="6704648" cy="578168"/>
          </a:xfrm>
          <a:prstGeom prst="rect">
            <a:avLst/>
          </a:prstGeom>
          <a:noFill/>
          <a:ln/>
        </p:spPr>
        <p:txBody>
          <a:bodyPr wrap="square" lIns="0" tIns="0" rIns="0" bIns="0" rtlCol="0" anchor="t"/>
          <a:lstStyle/>
          <a:p>
            <a:pPr algn="l" indent="0" marL="0">
              <a:lnSpc>
                <a:spcPts val="2250"/>
              </a:lnSpc>
              <a:buNone/>
            </a:pPr>
            <a:r>
              <a:rPr lang="en-US" sz="1400" spc="-28" kern="0" dirty="0">
                <a:solidFill>
                  <a:srgbClr val="272525"/>
                </a:solidFill>
                <a:latin typeface="Inter" pitchFamily="34" charset="0"/>
                <a:ea typeface="Inter" pitchFamily="34" charset="-122"/>
                <a:cs typeface="Inter" pitchFamily="34" charset="-120"/>
              </a:rPr>
              <a:t>Cuando hay conflictos de concurrencia, se resuelven comparando las marcas de tiempo de las transacciones involucradas.</a:t>
            </a:r>
            <a:endParaRPr lang="en-US" sz="1400" dirty="0"/>
          </a:p>
        </p:txBody>
      </p:sp>
      <p:pic>
        <p:nvPicPr>
          <p:cNvPr id="10" name="Image 3" descr="preencoded.png">    </p:cNvPr>
          <p:cNvPicPr>
            <a:picLocks noChangeAspect="1"/>
          </p:cNvPicPr>
          <p:nvPr/>
        </p:nvPicPr>
        <p:blipFill>
          <a:blip r:embed="rId4"/>
          <a:stretch>
            <a:fillRect/>
          </a:stretch>
        </p:blipFill>
        <p:spPr>
          <a:xfrm>
            <a:off x="632460" y="4814888"/>
            <a:ext cx="903446" cy="1445538"/>
          </a:xfrm>
          <a:prstGeom prst="rect">
            <a:avLst/>
          </a:prstGeom>
        </p:spPr>
      </p:pic>
      <p:sp>
        <p:nvSpPr>
          <p:cNvPr id="11" name="Text 5"/>
          <p:cNvSpPr/>
          <p:nvPr/>
        </p:nvSpPr>
        <p:spPr>
          <a:xfrm>
            <a:off x="1806892" y="4995505"/>
            <a:ext cx="2515791" cy="282297"/>
          </a:xfrm>
          <a:prstGeom prst="rect">
            <a:avLst/>
          </a:prstGeom>
          <a:noFill/>
          <a:ln/>
        </p:spPr>
        <p:txBody>
          <a:bodyPr wrap="none" lIns="0" tIns="0" rIns="0" bIns="0" rtlCol="0" anchor="t"/>
          <a:lstStyle/>
          <a:p>
            <a:pPr algn="l" indent="0" marL="0">
              <a:lnSpc>
                <a:spcPts val="2200"/>
              </a:lnSpc>
              <a:buNone/>
            </a:pPr>
            <a:r>
              <a:rPr lang="en-US" sz="1750" b="1" spc="-53" kern="0" dirty="0">
                <a:solidFill>
                  <a:srgbClr val="272525"/>
                </a:solidFill>
                <a:latin typeface="Inter Bold" pitchFamily="34" charset="0"/>
                <a:ea typeface="Inter Bold" pitchFamily="34" charset="-122"/>
                <a:cs typeface="Inter Bold" pitchFamily="34" charset="-120"/>
              </a:rPr>
              <a:t>Detección de Deadlocks</a:t>
            </a:r>
            <a:endParaRPr lang="en-US" sz="1750" dirty="0"/>
          </a:p>
        </p:txBody>
      </p:sp>
      <p:sp>
        <p:nvSpPr>
          <p:cNvPr id="12" name="Text 6"/>
          <p:cNvSpPr/>
          <p:nvPr/>
        </p:nvSpPr>
        <p:spPr>
          <a:xfrm>
            <a:off x="1806892" y="5386149"/>
            <a:ext cx="6704648" cy="578168"/>
          </a:xfrm>
          <a:prstGeom prst="rect">
            <a:avLst/>
          </a:prstGeom>
          <a:noFill/>
          <a:ln/>
        </p:spPr>
        <p:txBody>
          <a:bodyPr wrap="square" lIns="0" tIns="0" rIns="0" bIns="0" rtlCol="0" anchor="t"/>
          <a:lstStyle/>
          <a:p>
            <a:pPr algn="l" indent="0" marL="0">
              <a:lnSpc>
                <a:spcPts val="2250"/>
              </a:lnSpc>
              <a:buNone/>
            </a:pPr>
            <a:r>
              <a:rPr lang="en-US" sz="1400" spc="-28" kern="0" dirty="0">
                <a:solidFill>
                  <a:srgbClr val="272525"/>
                </a:solidFill>
                <a:latin typeface="Inter" pitchFamily="34" charset="0"/>
                <a:ea typeface="Inter" pitchFamily="34" charset="-122"/>
                <a:cs typeface="Inter" pitchFamily="34" charset="-120"/>
              </a:rPr>
              <a:t>El sistema monitorea las marcas de tiempo para detectar posibles situaciones de deadlock y aplicar medidas correctivas.</a:t>
            </a:r>
            <a:endParaRPr lang="en-US" sz="1400" dirty="0"/>
          </a:p>
        </p:txBody>
      </p:sp>
      <p:pic>
        <p:nvPicPr>
          <p:cNvPr id="13" name="Image 4" descr="preencoded.png">    </p:cNvPr>
          <p:cNvPicPr>
            <a:picLocks noChangeAspect="1"/>
          </p:cNvPicPr>
          <p:nvPr/>
        </p:nvPicPr>
        <p:blipFill>
          <a:blip r:embed="rId5"/>
          <a:stretch>
            <a:fillRect/>
          </a:stretch>
        </p:blipFill>
        <p:spPr>
          <a:xfrm>
            <a:off x="632460" y="6260425"/>
            <a:ext cx="903446" cy="1445538"/>
          </a:xfrm>
          <a:prstGeom prst="rect">
            <a:avLst/>
          </a:prstGeom>
        </p:spPr>
      </p:pic>
      <p:sp>
        <p:nvSpPr>
          <p:cNvPr id="14" name="Text 7"/>
          <p:cNvSpPr/>
          <p:nvPr/>
        </p:nvSpPr>
        <p:spPr>
          <a:xfrm>
            <a:off x="1806892" y="6441043"/>
            <a:ext cx="2258735" cy="282297"/>
          </a:xfrm>
          <a:prstGeom prst="rect">
            <a:avLst/>
          </a:prstGeom>
          <a:noFill/>
          <a:ln/>
        </p:spPr>
        <p:txBody>
          <a:bodyPr wrap="none" lIns="0" tIns="0" rIns="0" bIns="0" rtlCol="0" anchor="t"/>
          <a:lstStyle/>
          <a:p>
            <a:pPr algn="l" indent="0" marL="0">
              <a:lnSpc>
                <a:spcPts val="2200"/>
              </a:lnSpc>
              <a:buNone/>
            </a:pPr>
            <a:r>
              <a:rPr lang="en-US" sz="1750" b="1" spc="-53" kern="0" dirty="0">
                <a:solidFill>
                  <a:srgbClr val="272525"/>
                </a:solidFill>
                <a:latin typeface="Inter Bold" pitchFamily="34" charset="0"/>
                <a:ea typeface="Inter Bold" pitchFamily="34" charset="-122"/>
                <a:cs typeface="Inter Bold" pitchFamily="34" charset="-120"/>
              </a:rPr>
              <a:t>Ventajas</a:t>
            </a:r>
            <a:endParaRPr lang="en-US" sz="1750" dirty="0"/>
          </a:p>
        </p:txBody>
      </p:sp>
      <p:sp>
        <p:nvSpPr>
          <p:cNvPr id="15" name="Text 8"/>
          <p:cNvSpPr/>
          <p:nvPr/>
        </p:nvSpPr>
        <p:spPr>
          <a:xfrm>
            <a:off x="1806892" y="6831687"/>
            <a:ext cx="6704648" cy="578168"/>
          </a:xfrm>
          <a:prstGeom prst="rect">
            <a:avLst/>
          </a:prstGeom>
          <a:noFill/>
          <a:ln/>
        </p:spPr>
        <p:txBody>
          <a:bodyPr wrap="square" lIns="0" tIns="0" rIns="0" bIns="0" rtlCol="0" anchor="t"/>
          <a:lstStyle/>
          <a:p>
            <a:pPr algn="l" indent="0" marL="0">
              <a:lnSpc>
                <a:spcPts val="2250"/>
              </a:lnSpc>
              <a:buNone/>
            </a:pPr>
            <a:r>
              <a:rPr lang="en-US" sz="1400" spc="-28" kern="0" dirty="0">
                <a:solidFill>
                  <a:srgbClr val="272525"/>
                </a:solidFill>
                <a:latin typeface="Inter" pitchFamily="34" charset="0"/>
                <a:ea typeface="Inter" pitchFamily="34" charset="-122"/>
                <a:cs typeface="Inter" pitchFamily="34" charset="-120"/>
              </a:rPr>
              <a:t>El time-stamping es sencillo de implementar y evita bloqueos, pero puede generar más abortos de transacciones.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61051" y="2794873"/>
            <a:ext cx="5052298" cy="2639854"/>
          </a:xfrm>
          <a:prstGeom prst="rect">
            <a:avLst/>
          </a:prstGeom>
        </p:spPr>
      </p:pic>
      <p:sp>
        <p:nvSpPr>
          <p:cNvPr id="4" name="Text 0"/>
          <p:cNvSpPr/>
          <p:nvPr/>
        </p:nvSpPr>
        <p:spPr>
          <a:xfrm>
            <a:off x="607695" y="966668"/>
            <a:ext cx="7108269" cy="542568"/>
          </a:xfrm>
          <a:prstGeom prst="rect">
            <a:avLst/>
          </a:prstGeom>
          <a:noFill/>
          <a:ln/>
        </p:spPr>
        <p:txBody>
          <a:bodyPr wrap="none" lIns="0" tIns="0" rIns="0" bIns="0" rtlCol="0" anchor="t"/>
          <a:lstStyle/>
          <a:p>
            <a:pPr indent="0" marL="0">
              <a:lnSpc>
                <a:spcPts val="4250"/>
              </a:lnSpc>
              <a:buNone/>
            </a:pPr>
            <a:r>
              <a:rPr lang="en-US" sz="3400" b="1" spc="-103" kern="0" dirty="0">
                <a:solidFill>
                  <a:srgbClr val="000000"/>
                </a:solidFill>
                <a:latin typeface="Inter Bold" pitchFamily="34" charset="0"/>
                <a:ea typeface="Inter Bold" pitchFamily="34" charset="-122"/>
                <a:cs typeface="Inter Bold" pitchFamily="34" charset="-120"/>
              </a:rPr>
              <a:t>Niveles de aislamiento y su impacto</a:t>
            </a:r>
            <a:endParaRPr lang="en-US" sz="3400" dirty="0"/>
          </a:p>
        </p:txBody>
      </p:sp>
      <p:sp>
        <p:nvSpPr>
          <p:cNvPr id="5" name="Shape 1"/>
          <p:cNvSpPr/>
          <p:nvPr/>
        </p:nvSpPr>
        <p:spPr>
          <a:xfrm>
            <a:off x="607695" y="1769626"/>
            <a:ext cx="7928610" cy="4465082"/>
          </a:xfrm>
          <a:prstGeom prst="roundRect">
            <a:avLst>
              <a:gd name="adj" fmla="val 1633"/>
            </a:avLst>
          </a:prstGeom>
          <a:noFill/>
          <a:ln w="7620">
            <a:solidFill>
              <a:srgbClr val="000000">
                <a:alpha val="8000"/>
              </a:srgbClr>
            </a:solidFill>
            <a:prstDash val="solid"/>
          </a:ln>
        </p:spPr>
      </p:sp>
      <p:sp>
        <p:nvSpPr>
          <p:cNvPr id="6" name="Shape 2"/>
          <p:cNvSpPr/>
          <p:nvPr/>
        </p:nvSpPr>
        <p:spPr>
          <a:xfrm>
            <a:off x="615315" y="1777246"/>
            <a:ext cx="7912537" cy="501253"/>
          </a:xfrm>
          <a:prstGeom prst="rect">
            <a:avLst/>
          </a:prstGeom>
          <a:solidFill>
            <a:srgbClr val="FFFFFF">
              <a:alpha val="4000"/>
            </a:srgbClr>
          </a:solidFill>
          <a:ln/>
        </p:spPr>
      </p:sp>
      <p:sp>
        <p:nvSpPr>
          <p:cNvPr id="7" name="Text 3"/>
          <p:cNvSpPr/>
          <p:nvPr/>
        </p:nvSpPr>
        <p:spPr>
          <a:xfrm>
            <a:off x="789742" y="1889046"/>
            <a:ext cx="2286238" cy="277654"/>
          </a:xfrm>
          <a:prstGeom prst="rect">
            <a:avLst/>
          </a:prstGeom>
          <a:noFill/>
          <a:ln/>
        </p:spPr>
        <p:txBody>
          <a:bodyPr wrap="none" lIns="0" tIns="0" rIns="0" bIns="0" rtlCol="0" anchor="t"/>
          <a:lstStyle/>
          <a:p>
            <a:pPr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Nivel de Aislamiento</a:t>
            </a:r>
            <a:endParaRPr lang="en-US" sz="1350" dirty="0"/>
          </a:p>
        </p:txBody>
      </p:sp>
      <p:sp>
        <p:nvSpPr>
          <p:cNvPr id="8" name="Text 4"/>
          <p:cNvSpPr/>
          <p:nvPr/>
        </p:nvSpPr>
        <p:spPr>
          <a:xfrm>
            <a:off x="3430786" y="1889046"/>
            <a:ext cx="2282428" cy="277654"/>
          </a:xfrm>
          <a:prstGeom prst="rect">
            <a:avLst/>
          </a:prstGeom>
          <a:noFill/>
          <a:ln/>
        </p:spPr>
        <p:txBody>
          <a:bodyPr wrap="none" lIns="0" tIns="0" rIns="0" bIns="0" rtlCol="0" anchor="t"/>
          <a:lstStyle/>
          <a:p>
            <a:pPr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Descripción</a:t>
            </a:r>
            <a:endParaRPr lang="en-US" sz="1350" dirty="0"/>
          </a:p>
        </p:txBody>
      </p:sp>
      <p:sp>
        <p:nvSpPr>
          <p:cNvPr id="9" name="Text 5"/>
          <p:cNvSpPr/>
          <p:nvPr/>
        </p:nvSpPr>
        <p:spPr>
          <a:xfrm>
            <a:off x="6068020" y="1889046"/>
            <a:ext cx="2286238" cy="277654"/>
          </a:xfrm>
          <a:prstGeom prst="rect">
            <a:avLst/>
          </a:prstGeom>
          <a:noFill/>
          <a:ln/>
        </p:spPr>
        <p:txBody>
          <a:bodyPr wrap="none" lIns="0" tIns="0" rIns="0" bIns="0" rtlCol="0" anchor="t"/>
          <a:lstStyle/>
          <a:p>
            <a:pPr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Impacto en la concurrencia</a:t>
            </a:r>
            <a:endParaRPr lang="en-US" sz="1350" dirty="0"/>
          </a:p>
        </p:txBody>
      </p:sp>
      <p:sp>
        <p:nvSpPr>
          <p:cNvPr id="10" name="Shape 6"/>
          <p:cNvSpPr/>
          <p:nvPr/>
        </p:nvSpPr>
        <p:spPr>
          <a:xfrm>
            <a:off x="615315" y="2278499"/>
            <a:ext cx="7912537" cy="1056561"/>
          </a:xfrm>
          <a:prstGeom prst="rect">
            <a:avLst/>
          </a:prstGeom>
          <a:solidFill>
            <a:srgbClr val="000000">
              <a:alpha val="4000"/>
            </a:srgbClr>
          </a:solidFill>
          <a:ln/>
        </p:spPr>
      </p:sp>
      <p:sp>
        <p:nvSpPr>
          <p:cNvPr id="11" name="Text 7"/>
          <p:cNvSpPr/>
          <p:nvPr/>
        </p:nvSpPr>
        <p:spPr>
          <a:xfrm>
            <a:off x="789742" y="2390299"/>
            <a:ext cx="2286238" cy="277654"/>
          </a:xfrm>
          <a:prstGeom prst="rect">
            <a:avLst/>
          </a:prstGeom>
          <a:noFill/>
          <a:ln/>
        </p:spPr>
        <p:txBody>
          <a:bodyPr wrap="non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READ UNCOMMITTED</a:t>
            </a:r>
            <a:endParaRPr lang="en-US" sz="1350" dirty="0"/>
          </a:p>
        </p:txBody>
      </p:sp>
      <p:sp>
        <p:nvSpPr>
          <p:cNvPr id="12" name="Text 8"/>
          <p:cNvSpPr/>
          <p:nvPr/>
        </p:nvSpPr>
        <p:spPr>
          <a:xfrm>
            <a:off x="3430786" y="2390299"/>
            <a:ext cx="2282428" cy="555308"/>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Permite leer datos que no han sido confirmados aún</a:t>
            </a:r>
            <a:endParaRPr lang="en-US" sz="1350" dirty="0"/>
          </a:p>
        </p:txBody>
      </p:sp>
      <p:sp>
        <p:nvSpPr>
          <p:cNvPr id="13" name="Text 9"/>
          <p:cNvSpPr/>
          <p:nvPr/>
        </p:nvSpPr>
        <p:spPr>
          <a:xfrm>
            <a:off x="6068020" y="2390299"/>
            <a:ext cx="2286238" cy="832961"/>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Mayor concurrencia, pero posibilidad de leer datos sucios</a:t>
            </a:r>
            <a:endParaRPr lang="en-US" sz="1350" dirty="0"/>
          </a:p>
        </p:txBody>
      </p:sp>
      <p:sp>
        <p:nvSpPr>
          <p:cNvPr id="14" name="Shape 10"/>
          <p:cNvSpPr/>
          <p:nvPr/>
        </p:nvSpPr>
        <p:spPr>
          <a:xfrm>
            <a:off x="615315" y="3335060"/>
            <a:ext cx="7912537" cy="778907"/>
          </a:xfrm>
          <a:prstGeom prst="rect">
            <a:avLst/>
          </a:prstGeom>
          <a:solidFill>
            <a:srgbClr val="FFFFFF">
              <a:alpha val="4000"/>
            </a:srgbClr>
          </a:solidFill>
          <a:ln/>
        </p:spPr>
      </p:sp>
      <p:sp>
        <p:nvSpPr>
          <p:cNvPr id="15" name="Text 11"/>
          <p:cNvSpPr/>
          <p:nvPr/>
        </p:nvSpPr>
        <p:spPr>
          <a:xfrm>
            <a:off x="789742" y="3446859"/>
            <a:ext cx="2286238" cy="277654"/>
          </a:xfrm>
          <a:prstGeom prst="rect">
            <a:avLst/>
          </a:prstGeom>
          <a:noFill/>
          <a:ln/>
        </p:spPr>
        <p:txBody>
          <a:bodyPr wrap="non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READ COMMITTED</a:t>
            </a:r>
            <a:endParaRPr lang="en-US" sz="1350" dirty="0"/>
          </a:p>
        </p:txBody>
      </p:sp>
      <p:sp>
        <p:nvSpPr>
          <p:cNvPr id="16" name="Text 12"/>
          <p:cNvSpPr/>
          <p:nvPr/>
        </p:nvSpPr>
        <p:spPr>
          <a:xfrm>
            <a:off x="3430786" y="3446859"/>
            <a:ext cx="2282428" cy="555308"/>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Sólo permite leer datos confirmados</a:t>
            </a:r>
            <a:endParaRPr lang="en-US" sz="1350" dirty="0"/>
          </a:p>
        </p:txBody>
      </p:sp>
      <p:sp>
        <p:nvSpPr>
          <p:cNvPr id="17" name="Text 13"/>
          <p:cNvSpPr/>
          <p:nvPr/>
        </p:nvSpPr>
        <p:spPr>
          <a:xfrm>
            <a:off x="6068020" y="3446859"/>
            <a:ext cx="2286238" cy="555308"/>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Equilibrio entre concurrencia y consistencia de datos</a:t>
            </a:r>
            <a:endParaRPr lang="en-US" sz="1350" dirty="0"/>
          </a:p>
        </p:txBody>
      </p:sp>
      <p:sp>
        <p:nvSpPr>
          <p:cNvPr id="18" name="Shape 14"/>
          <p:cNvSpPr/>
          <p:nvPr/>
        </p:nvSpPr>
        <p:spPr>
          <a:xfrm>
            <a:off x="615315" y="4113967"/>
            <a:ext cx="7912537" cy="1056561"/>
          </a:xfrm>
          <a:prstGeom prst="rect">
            <a:avLst/>
          </a:prstGeom>
          <a:solidFill>
            <a:srgbClr val="000000">
              <a:alpha val="4000"/>
            </a:srgbClr>
          </a:solidFill>
          <a:ln/>
        </p:spPr>
      </p:sp>
      <p:sp>
        <p:nvSpPr>
          <p:cNvPr id="19" name="Text 15"/>
          <p:cNvSpPr/>
          <p:nvPr/>
        </p:nvSpPr>
        <p:spPr>
          <a:xfrm>
            <a:off x="789742" y="4225766"/>
            <a:ext cx="2286238" cy="277654"/>
          </a:xfrm>
          <a:prstGeom prst="rect">
            <a:avLst/>
          </a:prstGeom>
          <a:noFill/>
          <a:ln/>
        </p:spPr>
        <p:txBody>
          <a:bodyPr wrap="non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REPEATABLE READ</a:t>
            </a:r>
            <a:endParaRPr lang="en-US" sz="1350" dirty="0"/>
          </a:p>
        </p:txBody>
      </p:sp>
      <p:sp>
        <p:nvSpPr>
          <p:cNvPr id="20" name="Text 16"/>
          <p:cNvSpPr/>
          <p:nvPr/>
        </p:nvSpPr>
        <p:spPr>
          <a:xfrm>
            <a:off x="3430786" y="4225766"/>
            <a:ext cx="2282428" cy="832961"/>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Garantiza que los datos leídos no cambiarán durante la transacción</a:t>
            </a:r>
            <a:endParaRPr lang="en-US" sz="1350" dirty="0"/>
          </a:p>
        </p:txBody>
      </p:sp>
      <p:sp>
        <p:nvSpPr>
          <p:cNvPr id="21" name="Text 17"/>
          <p:cNvSpPr/>
          <p:nvPr/>
        </p:nvSpPr>
        <p:spPr>
          <a:xfrm>
            <a:off x="6068020" y="4225766"/>
            <a:ext cx="2286238" cy="555308"/>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Mejor consistencia de datos, pero menor concurrencia</a:t>
            </a:r>
            <a:endParaRPr lang="en-US" sz="1350" dirty="0"/>
          </a:p>
        </p:txBody>
      </p:sp>
      <p:sp>
        <p:nvSpPr>
          <p:cNvPr id="22" name="Shape 18"/>
          <p:cNvSpPr/>
          <p:nvPr/>
        </p:nvSpPr>
        <p:spPr>
          <a:xfrm>
            <a:off x="615315" y="5170527"/>
            <a:ext cx="7912537" cy="1056561"/>
          </a:xfrm>
          <a:prstGeom prst="rect">
            <a:avLst/>
          </a:prstGeom>
          <a:solidFill>
            <a:srgbClr val="FFFFFF">
              <a:alpha val="4000"/>
            </a:srgbClr>
          </a:solidFill>
          <a:ln/>
        </p:spPr>
      </p:sp>
      <p:sp>
        <p:nvSpPr>
          <p:cNvPr id="23" name="Text 19"/>
          <p:cNvSpPr/>
          <p:nvPr/>
        </p:nvSpPr>
        <p:spPr>
          <a:xfrm>
            <a:off x="789742" y="5282327"/>
            <a:ext cx="2286238" cy="277654"/>
          </a:xfrm>
          <a:prstGeom prst="rect">
            <a:avLst/>
          </a:prstGeom>
          <a:noFill/>
          <a:ln/>
        </p:spPr>
        <p:txBody>
          <a:bodyPr wrap="non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SERIALIZABLE</a:t>
            </a:r>
            <a:endParaRPr lang="en-US" sz="1350" dirty="0"/>
          </a:p>
        </p:txBody>
      </p:sp>
      <p:sp>
        <p:nvSpPr>
          <p:cNvPr id="24" name="Text 20"/>
          <p:cNvSpPr/>
          <p:nvPr/>
        </p:nvSpPr>
        <p:spPr>
          <a:xfrm>
            <a:off x="3430786" y="5282327"/>
            <a:ext cx="2282428" cy="832961"/>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Garantiza que la transacción se ejecutará como si fuera secuencial</a:t>
            </a:r>
            <a:endParaRPr lang="en-US" sz="1350" dirty="0"/>
          </a:p>
        </p:txBody>
      </p:sp>
      <p:sp>
        <p:nvSpPr>
          <p:cNvPr id="25" name="Text 21"/>
          <p:cNvSpPr/>
          <p:nvPr/>
        </p:nvSpPr>
        <p:spPr>
          <a:xfrm>
            <a:off x="6068020" y="5282327"/>
            <a:ext cx="2286238" cy="555308"/>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Mayor consistencia, pero menor concurrencia</a:t>
            </a:r>
            <a:endParaRPr lang="en-US" sz="1350" dirty="0"/>
          </a:p>
        </p:txBody>
      </p:sp>
      <p:sp>
        <p:nvSpPr>
          <p:cNvPr id="26" name="Text 22"/>
          <p:cNvSpPr/>
          <p:nvPr/>
        </p:nvSpPr>
        <p:spPr>
          <a:xfrm>
            <a:off x="607695" y="6429970"/>
            <a:ext cx="7928610" cy="832961"/>
          </a:xfrm>
          <a:prstGeom prst="rect">
            <a:avLst/>
          </a:prstGeom>
          <a:noFill/>
          <a:ln/>
        </p:spPr>
        <p:txBody>
          <a:bodyPr wrap="square" lIns="0" tIns="0" rIns="0" bIns="0" rtlCol="0" anchor="t"/>
          <a:lstStyle/>
          <a:p>
            <a:pPr indent="0" marL="0">
              <a:lnSpc>
                <a:spcPts val="2150"/>
              </a:lnSpc>
              <a:buNone/>
            </a:pPr>
            <a:r>
              <a:rPr lang="en-US" sz="1350" spc="-27" kern="0" dirty="0">
                <a:solidFill>
                  <a:srgbClr val="272525"/>
                </a:solidFill>
                <a:latin typeface="Inter" pitchFamily="34" charset="0"/>
                <a:ea typeface="Inter" pitchFamily="34" charset="-122"/>
                <a:cs typeface="Inter" pitchFamily="34" charset="-120"/>
              </a:rPr>
              <a:t>La elección del nivel de aislamiento adecuado es clave para lograr el balance entre concurrencia y consistencia de datos. Cada nivel tiene ventajas y desventajas en términos de desempeño y fiabilidad que deben evaluarse cuidadosamente.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34576" y="722233"/>
            <a:ext cx="7847648" cy="1157526"/>
          </a:xfrm>
          <a:prstGeom prst="rect">
            <a:avLst/>
          </a:prstGeom>
          <a:noFill/>
          <a:ln/>
        </p:spPr>
        <p:txBody>
          <a:bodyPr wrap="square" lIns="0" tIns="0" rIns="0" bIns="0" rtlCol="0" anchor="t"/>
          <a:lstStyle/>
          <a:p>
            <a:pPr indent="0" marL="0">
              <a:lnSpc>
                <a:spcPts val="4550"/>
              </a:lnSpc>
              <a:buNone/>
            </a:pPr>
            <a:r>
              <a:rPr lang="en-US" sz="3600" b="1" spc="-109" kern="0" dirty="0">
                <a:solidFill>
                  <a:srgbClr val="000000"/>
                </a:solidFill>
                <a:latin typeface="Inter Bold" pitchFamily="34" charset="0"/>
                <a:ea typeface="Inter Bold" pitchFamily="34" charset="-122"/>
                <a:cs typeface="Inter Bold" pitchFamily="34" charset="-120"/>
              </a:rPr>
              <a:t>Recuperación de transacciones: puntos de guardado</a:t>
            </a:r>
            <a:endParaRPr lang="en-US" sz="3600" dirty="0"/>
          </a:p>
        </p:txBody>
      </p:sp>
      <p:sp>
        <p:nvSpPr>
          <p:cNvPr id="4" name="Shape 1"/>
          <p:cNvSpPr/>
          <p:nvPr/>
        </p:nvSpPr>
        <p:spPr>
          <a:xfrm>
            <a:off x="6400919" y="2157532"/>
            <a:ext cx="22860" cy="5349835"/>
          </a:xfrm>
          <a:prstGeom prst="roundRect">
            <a:avLst>
              <a:gd name="adj" fmla="val 340294"/>
            </a:avLst>
          </a:prstGeom>
          <a:solidFill>
            <a:srgbClr val="C0C1D7"/>
          </a:solidFill>
          <a:ln/>
        </p:spPr>
      </p:sp>
      <p:sp>
        <p:nvSpPr>
          <p:cNvPr id="5" name="Shape 2"/>
          <p:cNvSpPr/>
          <p:nvPr/>
        </p:nvSpPr>
        <p:spPr>
          <a:xfrm>
            <a:off x="6597848" y="2562820"/>
            <a:ext cx="648176" cy="22860"/>
          </a:xfrm>
          <a:prstGeom prst="roundRect">
            <a:avLst>
              <a:gd name="adj" fmla="val 340294"/>
            </a:avLst>
          </a:prstGeom>
          <a:solidFill>
            <a:srgbClr val="C0C1D7"/>
          </a:solidFill>
          <a:ln/>
        </p:spPr>
      </p:sp>
      <p:sp>
        <p:nvSpPr>
          <p:cNvPr id="6" name="Shape 3"/>
          <p:cNvSpPr/>
          <p:nvPr/>
        </p:nvSpPr>
        <p:spPr>
          <a:xfrm>
            <a:off x="6203990" y="2365891"/>
            <a:ext cx="416719" cy="416719"/>
          </a:xfrm>
          <a:prstGeom prst="roundRect">
            <a:avLst>
              <a:gd name="adj" fmla="val 18668"/>
            </a:avLst>
          </a:prstGeom>
          <a:solidFill>
            <a:srgbClr val="DADBF1"/>
          </a:solidFill>
          <a:ln w="7620">
            <a:solidFill>
              <a:srgbClr val="C0C1D7"/>
            </a:solidFill>
            <a:prstDash val="solid"/>
          </a:ln>
        </p:spPr>
      </p:sp>
      <p:sp>
        <p:nvSpPr>
          <p:cNvPr id="7" name="Text 4"/>
          <p:cNvSpPr/>
          <p:nvPr/>
        </p:nvSpPr>
        <p:spPr>
          <a:xfrm>
            <a:off x="6356628" y="2435304"/>
            <a:ext cx="111443" cy="277773"/>
          </a:xfrm>
          <a:prstGeom prst="rect">
            <a:avLst/>
          </a:prstGeom>
          <a:noFill/>
          <a:ln/>
        </p:spPr>
        <p:txBody>
          <a:bodyPr wrap="none" lIns="0" tIns="0" rIns="0" bIns="0" rtlCol="0" anchor="t"/>
          <a:lstStyle/>
          <a:p>
            <a:pPr algn="ctr" indent="0" marL="0">
              <a:lnSpc>
                <a:spcPts val="2150"/>
              </a:lnSpc>
              <a:buNone/>
            </a:pPr>
            <a:r>
              <a:rPr lang="en-US" sz="2150" b="1" spc="-66" kern="0" dirty="0">
                <a:solidFill>
                  <a:srgbClr val="272525"/>
                </a:solidFill>
                <a:latin typeface="Inter Bold" pitchFamily="34" charset="0"/>
                <a:ea typeface="Inter Bold" pitchFamily="34" charset="-122"/>
                <a:cs typeface="Inter Bold" pitchFamily="34" charset="-120"/>
              </a:rPr>
              <a:t>1</a:t>
            </a:r>
            <a:endParaRPr lang="en-US" sz="2150" dirty="0"/>
          </a:p>
        </p:txBody>
      </p:sp>
      <p:sp>
        <p:nvSpPr>
          <p:cNvPr id="8" name="Text 5"/>
          <p:cNvSpPr/>
          <p:nvPr/>
        </p:nvSpPr>
        <p:spPr>
          <a:xfrm>
            <a:off x="7430929" y="2342674"/>
            <a:ext cx="3676055" cy="289441"/>
          </a:xfrm>
          <a:prstGeom prst="rect">
            <a:avLst/>
          </a:prstGeom>
          <a:noFill/>
          <a:ln/>
        </p:spPr>
        <p:txBody>
          <a:bodyPr wrap="none" lIns="0" tIns="0" rIns="0" bIns="0" rtlCol="0" anchor="t"/>
          <a:lstStyle/>
          <a:p>
            <a:pPr algn="l" indent="0" marL="0">
              <a:lnSpc>
                <a:spcPts val="2250"/>
              </a:lnSpc>
              <a:buNone/>
            </a:pPr>
            <a:r>
              <a:rPr lang="en-US" sz="1800" b="1" spc="-55" kern="0" dirty="0">
                <a:solidFill>
                  <a:srgbClr val="272525"/>
                </a:solidFill>
                <a:latin typeface="Inter Bold" pitchFamily="34" charset="0"/>
                <a:ea typeface="Inter Bold" pitchFamily="34" charset="-122"/>
                <a:cs typeface="Inter Bold" pitchFamily="34" charset="-120"/>
              </a:rPr>
              <a:t>¿Qué son los puntos de guardado?</a:t>
            </a:r>
            <a:endParaRPr lang="en-US" sz="1800" dirty="0"/>
          </a:p>
        </p:txBody>
      </p:sp>
      <p:sp>
        <p:nvSpPr>
          <p:cNvPr id="9" name="Text 6"/>
          <p:cNvSpPr/>
          <p:nvPr/>
        </p:nvSpPr>
        <p:spPr>
          <a:xfrm>
            <a:off x="7430929" y="2743200"/>
            <a:ext cx="6551295" cy="889040"/>
          </a:xfrm>
          <a:prstGeom prst="rect">
            <a:avLst/>
          </a:prstGeom>
          <a:noFill/>
          <a:ln/>
        </p:spPr>
        <p:txBody>
          <a:bodyPr wrap="square" lIns="0" tIns="0" rIns="0" bIns="0" rtlCol="0" anchor="t"/>
          <a:lstStyle/>
          <a:p>
            <a:pPr algn="l" indent="0" marL="0">
              <a:lnSpc>
                <a:spcPts val="2300"/>
              </a:lnSpc>
              <a:buNone/>
            </a:pPr>
            <a:r>
              <a:rPr lang="en-US" sz="1450" spc="-29" kern="0" dirty="0">
                <a:solidFill>
                  <a:srgbClr val="272525"/>
                </a:solidFill>
                <a:latin typeface="Inter" pitchFamily="34" charset="0"/>
                <a:ea typeface="Inter" pitchFamily="34" charset="-122"/>
                <a:cs typeface="Inter" pitchFamily="34" charset="-120"/>
              </a:rPr>
              <a:t>Los puntos de guardado son marcas temporales que se crean durante una transacción para permitir la restauración parcial del estado de la base de datos en caso de problemas.</a:t>
            </a:r>
            <a:endParaRPr lang="en-US" sz="1450" dirty="0"/>
          </a:p>
        </p:txBody>
      </p:sp>
      <p:sp>
        <p:nvSpPr>
          <p:cNvPr id="10" name="Shape 7"/>
          <p:cNvSpPr/>
          <p:nvPr/>
        </p:nvSpPr>
        <p:spPr>
          <a:xfrm>
            <a:off x="6597848" y="4407813"/>
            <a:ext cx="648176" cy="22860"/>
          </a:xfrm>
          <a:prstGeom prst="roundRect">
            <a:avLst>
              <a:gd name="adj" fmla="val 340294"/>
            </a:avLst>
          </a:prstGeom>
          <a:solidFill>
            <a:srgbClr val="C0C1D7"/>
          </a:solidFill>
          <a:ln/>
        </p:spPr>
      </p:sp>
      <p:sp>
        <p:nvSpPr>
          <p:cNvPr id="11" name="Shape 8"/>
          <p:cNvSpPr/>
          <p:nvPr/>
        </p:nvSpPr>
        <p:spPr>
          <a:xfrm>
            <a:off x="6203990" y="4210883"/>
            <a:ext cx="416719" cy="416719"/>
          </a:xfrm>
          <a:prstGeom prst="roundRect">
            <a:avLst>
              <a:gd name="adj" fmla="val 18668"/>
            </a:avLst>
          </a:prstGeom>
          <a:solidFill>
            <a:srgbClr val="DADBF1"/>
          </a:solidFill>
          <a:ln w="7620">
            <a:solidFill>
              <a:srgbClr val="C0C1D7"/>
            </a:solidFill>
            <a:prstDash val="solid"/>
          </a:ln>
        </p:spPr>
      </p:sp>
      <p:sp>
        <p:nvSpPr>
          <p:cNvPr id="12" name="Text 9"/>
          <p:cNvSpPr/>
          <p:nvPr/>
        </p:nvSpPr>
        <p:spPr>
          <a:xfrm>
            <a:off x="6329005" y="4280297"/>
            <a:ext cx="166688" cy="277773"/>
          </a:xfrm>
          <a:prstGeom prst="rect">
            <a:avLst/>
          </a:prstGeom>
          <a:noFill/>
          <a:ln/>
        </p:spPr>
        <p:txBody>
          <a:bodyPr wrap="none" lIns="0" tIns="0" rIns="0" bIns="0" rtlCol="0" anchor="t"/>
          <a:lstStyle/>
          <a:p>
            <a:pPr algn="ctr" indent="0" marL="0">
              <a:lnSpc>
                <a:spcPts val="2150"/>
              </a:lnSpc>
              <a:buNone/>
            </a:pPr>
            <a:r>
              <a:rPr lang="en-US" sz="2150" b="1" spc="-66" kern="0" dirty="0">
                <a:solidFill>
                  <a:srgbClr val="272525"/>
                </a:solidFill>
                <a:latin typeface="Inter Bold" pitchFamily="34" charset="0"/>
                <a:ea typeface="Inter Bold" pitchFamily="34" charset="-122"/>
                <a:cs typeface="Inter Bold" pitchFamily="34" charset="-120"/>
              </a:rPr>
              <a:t>2</a:t>
            </a:r>
            <a:endParaRPr lang="en-US" sz="2150" dirty="0"/>
          </a:p>
        </p:txBody>
      </p:sp>
      <p:sp>
        <p:nvSpPr>
          <p:cNvPr id="13" name="Text 10"/>
          <p:cNvSpPr/>
          <p:nvPr/>
        </p:nvSpPr>
        <p:spPr>
          <a:xfrm>
            <a:off x="7430929" y="4187666"/>
            <a:ext cx="3321725" cy="289441"/>
          </a:xfrm>
          <a:prstGeom prst="rect">
            <a:avLst/>
          </a:prstGeom>
          <a:noFill/>
          <a:ln/>
        </p:spPr>
        <p:txBody>
          <a:bodyPr wrap="none" lIns="0" tIns="0" rIns="0" bIns="0" rtlCol="0" anchor="t"/>
          <a:lstStyle/>
          <a:p>
            <a:pPr algn="l" indent="0" marL="0">
              <a:lnSpc>
                <a:spcPts val="2250"/>
              </a:lnSpc>
              <a:buNone/>
            </a:pPr>
            <a:r>
              <a:rPr lang="en-US" sz="1800" b="1" spc="-55" kern="0" dirty="0">
                <a:solidFill>
                  <a:srgbClr val="272525"/>
                </a:solidFill>
                <a:latin typeface="Inter Bold" pitchFamily="34" charset="0"/>
                <a:ea typeface="Inter Bold" pitchFamily="34" charset="-122"/>
                <a:cs typeface="Inter Bold" pitchFamily="34" charset="-120"/>
              </a:rPr>
              <a:t>Establecer puntos de guardado</a:t>
            </a:r>
            <a:endParaRPr lang="en-US" sz="1800" dirty="0"/>
          </a:p>
        </p:txBody>
      </p:sp>
      <p:sp>
        <p:nvSpPr>
          <p:cNvPr id="14" name="Text 11"/>
          <p:cNvSpPr/>
          <p:nvPr/>
        </p:nvSpPr>
        <p:spPr>
          <a:xfrm>
            <a:off x="7430929" y="4588193"/>
            <a:ext cx="6551295" cy="889040"/>
          </a:xfrm>
          <a:prstGeom prst="rect">
            <a:avLst/>
          </a:prstGeom>
          <a:noFill/>
          <a:ln/>
        </p:spPr>
        <p:txBody>
          <a:bodyPr wrap="square" lIns="0" tIns="0" rIns="0" bIns="0" rtlCol="0" anchor="t"/>
          <a:lstStyle/>
          <a:p>
            <a:pPr algn="l" indent="0" marL="0">
              <a:lnSpc>
                <a:spcPts val="2300"/>
              </a:lnSpc>
              <a:buNone/>
            </a:pPr>
            <a:r>
              <a:rPr lang="en-US" sz="1450" spc="-29" kern="0" dirty="0">
                <a:solidFill>
                  <a:srgbClr val="272525"/>
                </a:solidFill>
                <a:latin typeface="Inter" pitchFamily="34" charset="0"/>
                <a:ea typeface="Inter" pitchFamily="34" charset="-122"/>
                <a:cs typeface="Inter" pitchFamily="34" charset="-120"/>
              </a:rPr>
              <a:t>Los puntos de guardado se establecen explícitamente en el código de la aplicación mediante sentencias SQL como SAVEPOINT. Esto crea un marcador en la secuencia de operaciones de la transacción.</a:t>
            </a:r>
            <a:endParaRPr lang="en-US" sz="1450" dirty="0"/>
          </a:p>
        </p:txBody>
      </p:sp>
      <p:sp>
        <p:nvSpPr>
          <p:cNvPr id="15" name="Shape 12"/>
          <p:cNvSpPr/>
          <p:nvPr/>
        </p:nvSpPr>
        <p:spPr>
          <a:xfrm>
            <a:off x="6597848" y="6252805"/>
            <a:ext cx="648176" cy="22860"/>
          </a:xfrm>
          <a:prstGeom prst="roundRect">
            <a:avLst>
              <a:gd name="adj" fmla="val 340294"/>
            </a:avLst>
          </a:prstGeom>
          <a:solidFill>
            <a:srgbClr val="C0C1D7"/>
          </a:solidFill>
          <a:ln/>
        </p:spPr>
      </p:sp>
      <p:sp>
        <p:nvSpPr>
          <p:cNvPr id="16" name="Shape 13"/>
          <p:cNvSpPr/>
          <p:nvPr/>
        </p:nvSpPr>
        <p:spPr>
          <a:xfrm>
            <a:off x="6203990" y="6055876"/>
            <a:ext cx="416719" cy="416719"/>
          </a:xfrm>
          <a:prstGeom prst="roundRect">
            <a:avLst>
              <a:gd name="adj" fmla="val 18668"/>
            </a:avLst>
          </a:prstGeom>
          <a:solidFill>
            <a:srgbClr val="DADBF1"/>
          </a:solidFill>
          <a:ln w="7620">
            <a:solidFill>
              <a:srgbClr val="C0C1D7"/>
            </a:solidFill>
            <a:prstDash val="solid"/>
          </a:ln>
        </p:spPr>
      </p:sp>
      <p:sp>
        <p:nvSpPr>
          <p:cNvPr id="17" name="Text 14"/>
          <p:cNvSpPr/>
          <p:nvPr/>
        </p:nvSpPr>
        <p:spPr>
          <a:xfrm>
            <a:off x="6326862" y="6125289"/>
            <a:ext cx="170974" cy="277773"/>
          </a:xfrm>
          <a:prstGeom prst="rect">
            <a:avLst/>
          </a:prstGeom>
          <a:noFill/>
          <a:ln/>
        </p:spPr>
        <p:txBody>
          <a:bodyPr wrap="none" lIns="0" tIns="0" rIns="0" bIns="0" rtlCol="0" anchor="t"/>
          <a:lstStyle/>
          <a:p>
            <a:pPr algn="ctr" indent="0" marL="0">
              <a:lnSpc>
                <a:spcPts val="2150"/>
              </a:lnSpc>
              <a:buNone/>
            </a:pPr>
            <a:r>
              <a:rPr lang="en-US" sz="2150" b="1" spc="-66" kern="0" dirty="0">
                <a:solidFill>
                  <a:srgbClr val="272525"/>
                </a:solidFill>
                <a:latin typeface="Inter Bold" pitchFamily="34" charset="0"/>
                <a:ea typeface="Inter Bold" pitchFamily="34" charset="-122"/>
                <a:cs typeface="Inter Bold" pitchFamily="34" charset="-120"/>
              </a:rPr>
              <a:t>3</a:t>
            </a:r>
            <a:endParaRPr lang="en-US" sz="2150" dirty="0"/>
          </a:p>
        </p:txBody>
      </p:sp>
      <p:sp>
        <p:nvSpPr>
          <p:cNvPr id="18" name="Text 15"/>
          <p:cNvSpPr/>
          <p:nvPr/>
        </p:nvSpPr>
        <p:spPr>
          <a:xfrm>
            <a:off x="7430929" y="6032659"/>
            <a:ext cx="3995857" cy="289441"/>
          </a:xfrm>
          <a:prstGeom prst="rect">
            <a:avLst/>
          </a:prstGeom>
          <a:noFill/>
          <a:ln/>
        </p:spPr>
        <p:txBody>
          <a:bodyPr wrap="none" lIns="0" tIns="0" rIns="0" bIns="0" rtlCol="0" anchor="t"/>
          <a:lstStyle/>
          <a:p>
            <a:pPr algn="l" indent="0" marL="0">
              <a:lnSpc>
                <a:spcPts val="2250"/>
              </a:lnSpc>
              <a:buNone/>
            </a:pPr>
            <a:r>
              <a:rPr lang="en-US" sz="1800" b="1" spc="-55" kern="0" dirty="0">
                <a:solidFill>
                  <a:srgbClr val="272525"/>
                </a:solidFill>
                <a:latin typeface="Inter Bold" pitchFamily="34" charset="0"/>
                <a:ea typeface="Inter Bold" pitchFamily="34" charset="-122"/>
                <a:cs typeface="Inter Bold" pitchFamily="34" charset="-120"/>
              </a:rPr>
              <a:t>Beneficios de los puntos de guardado</a:t>
            </a:r>
            <a:endParaRPr lang="en-US" sz="1800" dirty="0"/>
          </a:p>
        </p:txBody>
      </p:sp>
      <p:sp>
        <p:nvSpPr>
          <p:cNvPr id="19" name="Text 16"/>
          <p:cNvSpPr/>
          <p:nvPr/>
        </p:nvSpPr>
        <p:spPr>
          <a:xfrm>
            <a:off x="7430929" y="6433185"/>
            <a:ext cx="6551295" cy="889040"/>
          </a:xfrm>
          <a:prstGeom prst="rect">
            <a:avLst/>
          </a:prstGeom>
          <a:noFill/>
          <a:ln/>
        </p:spPr>
        <p:txBody>
          <a:bodyPr wrap="square" lIns="0" tIns="0" rIns="0" bIns="0" rtlCol="0" anchor="t"/>
          <a:lstStyle/>
          <a:p>
            <a:pPr algn="l" indent="0" marL="0">
              <a:lnSpc>
                <a:spcPts val="2300"/>
              </a:lnSpc>
              <a:buNone/>
            </a:pPr>
            <a:r>
              <a:rPr lang="en-US" sz="1450" spc="-29" kern="0" dirty="0">
                <a:solidFill>
                  <a:srgbClr val="272525"/>
                </a:solidFill>
                <a:latin typeface="Inter" pitchFamily="34" charset="0"/>
                <a:ea typeface="Inter" pitchFamily="34" charset="-122"/>
                <a:cs typeface="Inter" pitchFamily="34" charset="-120"/>
              </a:rPr>
              <a:t>Permiten revertir los cambios parcialmente, solo hasta el punto de guardado, sin tener que deshacer toda la transacción. Esto mejora la flexibilidad y la recuperación ante errores.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74846" y="530304"/>
            <a:ext cx="9276398" cy="602575"/>
          </a:xfrm>
          <a:prstGeom prst="rect">
            <a:avLst/>
          </a:prstGeom>
          <a:noFill/>
          <a:ln/>
        </p:spPr>
        <p:txBody>
          <a:bodyPr wrap="none" lIns="0" tIns="0" rIns="0" bIns="0" rtlCol="0" anchor="t"/>
          <a:lstStyle/>
          <a:p>
            <a:pPr indent="0" marL="0">
              <a:lnSpc>
                <a:spcPts val="4700"/>
              </a:lnSpc>
              <a:buNone/>
            </a:pPr>
            <a:r>
              <a:rPr lang="en-US" sz="3750" b="1" spc="-114" kern="0" dirty="0">
                <a:solidFill>
                  <a:srgbClr val="000000"/>
                </a:solidFill>
                <a:latin typeface="Inter Bold" pitchFamily="34" charset="0"/>
                <a:ea typeface="Inter Bold" pitchFamily="34" charset="-122"/>
                <a:cs typeface="Inter Bold" pitchFamily="34" charset="-120"/>
              </a:rPr>
              <a:t>Recuperación de transacciones: rollbacks</a:t>
            </a:r>
            <a:endParaRPr lang="en-US" sz="3750" dirty="0"/>
          </a:p>
        </p:txBody>
      </p:sp>
      <p:sp>
        <p:nvSpPr>
          <p:cNvPr id="3" name="Shape 1"/>
          <p:cNvSpPr/>
          <p:nvPr/>
        </p:nvSpPr>
        <p:spPr>
          <a:xfrm>
            <a:off x="674846" y="1518523"/>
            <a:ext cx="1660088" cy="1111091"/>
          </a:xfrm>
          <a:prstGeom prst="roundRect">
            <a:avLst>
              <a:gd name="adj" fmla="val 7290"/>
            </a:avLst>
          </a:prstGeom>
          <a:solidFill>
            <a:srgbClr val="DADBF1"/>
          </a:solidFill>
          <a:ln w="7620">
            <a:solidFill>
              <a:srgbClr val="C0C1D7"/>
            </a:solidFill>
            <a:prstDash val="solid"/>
          </a:ln>
        </p:spPr>
      </p:sp>
      <p:sp>
        <p:nvSpPr>
          <p:cNvPr id="4" name="Text 2"/>
          <p:cNvSpPr/>
          <p:nvPr/>
        </p:nvSpPr>
        <p:spPr>
          <a:xfrm>
            <a:off x="875228" y="1881188"/>
            <a:ext cx="96679" cy="385763"/>
          </a:xfrm>
          <a:prstGeom prst="rect">
            <a:avLst/>
          </a:prstGeom>
          <a:noFill/>
          <a:ln/>
        </p:spPr>
        <p:txBody>
          <a:bodyPr wrap="none" lIns="0" tIns="0" rIns="0" bIns="0" rtlCol="0" anchor="t"/>
          <a:lstStyle/>
          <a:p>
            <a:pPr algn="ctr" indent="0" marL="0">
              <a:lnSpc>
                <a:spcPts val="3000"/>
              </a:lnSpc>
              <a:buNone/>
            </a:pPr>
            <a:r>
              <a:rPr lang="en-US" sz="1850" b="1" spc="-57" kern="0" dirty="0">
                <a:solidFill>
                  <a:srgbClr val="272525"/>
                </a:solidFill>
                <a:latin typeface="Inter Bold" pitchFamily="34" charset="0"/>
                <a:ea typeface="Inter Bold" pitchFamily="34" charset="-122"/>
                <a:cs typeface="Inter Bold" pitchFamily="34" charset="-120"/>
              </a:rPr>
              <a:t>1</a:t>
            </a:r>
            <a:endParaRPr lang="en-US" sz="1850" dirty="0"/>
          </a:p>
        </p:txBody>
      </p:sp>
      <p:sp>
        <p:nvSpPr>
          <p:cNvPr id="5" name="Text 3"/>
          <p:cNvSpPr/>
          <p:nvPr/>
        </p:nvSpPr>
        <p:spPr>
          <a:xfrm>
            <a:off x="2527697" y="1711285"/>
            <a:ext cx="2410539" cy="301347"/>
          </a:xfrm>
          <a:prstGeom prst="rect">
            <a:avLst/>
          </a:prstGeom>
          <a:noFill/>
          <a:ln/>
        </p:spPr>
        <p:txBody>
          <a:bodyPr wrap="none" lIns="0" tIns="0" rIns="0" bIns="0" rtlCol="0" anchor="t"/>
          <a:lstStyle/>
          <a:p>
            <a:pPr algn="l" indent="0" marL="0">
              <a:lnSpc>
                <a:spcPts val="2350"/>
              </a:lnSpc>
              <a:buNone/>
            </a:pPr>
            <a:r>
              <a:rPr lang="en-US" sz="1850" b="1" spc="-57" kern="0" dirty="0">
                <a:solidFill>
                  <a:srgbClr val="272525"/>
                </a:solidFill>
                <a:latin typeface="Inter Bold" pitchFamily="34" charset="0"/>
                <a:ea typeface="Inter Bold" pitchFamily="34" charset="-122"/>
                <a:cs typeface="Inter Bold" pitchFamily="34" charset="-120"/>
              </a:rPr>
              <a:t>Revertir cambios</a:t>
            </a:r>
            <a:endParaRPr lang="en-US" sz="1850" dirty="0"/>
          </a:p>
        </p:txBody>
      </p:sp>
      <p:sp>
        <p:nvSpPr>
          <p:cNvPr id="6" name="Text 4"/>
          <p:cNvSpPr/>
          <p:nvPr/>
        </p:nvSpPr>
        <p:spPr>
          <a:xfrm>
            <a:off x="2527697" y="2128242"/>
            <a:ext cx="8030527" cy="308610"/>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Cuando ocurre un error o inconsistencia, es necesario deshacer las operaciones realizadas.</a:t>
            </a:r>
            <a:endParaRPr lang="en-US" sz="1500" dirty="0"/>
          </a:p>
        </p:txBody>
      </p:sp>
      <p:sp>
        <p:nvSpPr>
          <p:cNvPr id="7" name="Shape 5"/>
          <p:cNvSpPr/>
          <p:nvPr/>
        </p:nvSpPr>
        <p:spPr>
          <a:xfrm>
            <a:off x="2431256" y="2620089"/>
            <a:ext cx="11427976" cy="11430"/>
          </a:xfrm>
          <a:prstGeom prst="roundRect">
            <a:avLst>
              <a:gd name="adj" fmla="val 708620"/>
            </a:avLst>
          </a:prstGeom>
          <a:solidFill>
            <a:srgbClr val="C0C1D7"/>
          </a:solidFill>
          <a:ln/>
        </p:spPr>
      </p:sp>
      <p:sp>
        <p:nvSpPr>
          <p:cNvPr id="8" name="Shape 6"/>
          <p:cNvSpPr/>
          <p:nvPr/>
        </p:nvSpPr>
        <p:spPr>
          <a:xfrm>
            <a:off x="674846" y="2725936"/>
            <a:ext cx="3320177" cy="1111091"/>
          </a:xfrm>
          <a:prstGeom prst="roundRect">
            <a:avLst>
              <a:gd name="adj" fmla="val 7290"/>
            </a:avLst>
          </a:prstGeom>
          <a:solidFill>
            <a:srgbClr val="DADBF1"/>
          </a:solidFill>
          <a:ln w="7620">
            <a:solidFill>
              <a:srgbClr val="C0C1D7"/>
            </a:solidFill>
            <a:prstDash val="solid"/>
          </a:ln>
        </p:spPr>
      </p:sp>
      <p:sp>
        <p:nvSpPr>
          <p:cNvPr id="9" name="Text 7"/>
          <p:cNvSpPr/>
          <p:nvPr/>
        </p:nvSpPr>
        <p:spPr>
          <a:xfrm>
            <a:off x="875228" y="3088600"/>
            <a:ext cx="144661" cy="385763"/>
          </a:xfrm>
          <a:prstGeom prst="rect">
            <a:avLst/>
          </a:prstGeom>
          <a:noFill/>
          <a:ln/>
        </p:spPr>
        <p:txBody>
          <a:bodyPr wrap="none" lIns="0" tIns="0" rIns="0" bIns="0" rtlCol="0" anchor="t"/>
          <a:lstStyle/>
          <a:p>
            <a:pPr algn="ctr" indent="0" marL="0">
              <a:lnSpc>
                <a:spcPts val="3000"/>
              </a:lnSpc>
              <a:buNone/>
            </a:pPr>
            <a:r>
              <a:rPr lang="en-US" sz="1850" b="1" spc="-57" kern="0" dirty="0">
                <a:solidFill>
                  <a:srgbClr val="272525"/>
                </a:solidFill>
                <a:latin typeface="Inter Bold" pitchFamily="34" charset="0"/>
                <a:ea typeface="Inter Bold" pitchFamily="34" charset="-122"/>
                <a:cs typeface="Inter Bold" pitchFamily="34" charset="-120"/>
              </a:rPr>
              <a:t>2</a:t>
            </a:r>
            <a:endParaRPr lang="en-US" sz="1850" dirty="0"/>
          </a:p>
        </p:txBody>
      </p:sp>
      <p:sp>
        <p:nvSpPr>
          <p:cNvPr id="10" name="Text 8"/>
          <p:cNvSpPr/>
          <p:nvPr/>
        </p:nvSpPr>
        <p:spPr>
          <a:xfrm>
            <a:off x="4187785" y="2918698"/>
            <a:ext cx="2410539" cy="301347"/>
          </a:xfrm>
          <a:prstGeom prst="rect">
            <a:avLst/>
          </a:prstGeom>
          <a:noFill/>
          <a:ln/>
        </p:spPr>
        <p:txBody>
          <a:bodyPr wrap="none" lIns="0" tIns="0" rIns="0" bIns="0" rtlCol="0" anchor="t"/>
          <a:lstStyle/>
          <a:p>
            <a:pPr algn="l" indent="0" marL="0">
              <a:lnSpc>
                <a:spcPts val="2350"/>
              </a:lnSpc>
              <a:buNone/>
            </a:pPr>
            <a:r>
              <a:rPr lang="en-US" sz="1850" b="1" spc="-57" kern="0" dirty="0">
                <a:solidFill>
                  <a:srgbClr val="272525"/>
                </a:solidFill>
                <a:latin typeface="Inter Bold" pitchFamily="34" charset="0"/>
                <a:ea typeface="Inter Bold" pitchFamily="34" charset="-122"/>
                <a:cs typeface="Inter Bold" pitchFamily="34" charset="-120"/>
              </a:rPr>
              <a:t>Estado anterior</a:t>
            </a:r>
            <a:endParaRPr lang="en-US" sz="1850" dirty="0"/>
          </a:p>
        </p:txBody>
      </p:sp>
      <p:sp>
        <p:nvSpPr>
          <p:cNvPr id="11" name="Text 9"/>
          <p:cNvSpPr/>
          <p:nvPr/>
        </p:nvSpPr>
        <p:spPr>
          <a:xfrm>
            <a:off x="4187785" y="3335655"/>
            <a:ext cx="8994577" cy="308610"/>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El rollback permite volver al estado de la base de datos antes de que se ejecutara la transacción fallida.</a:t>
            </a:r>
            <a:endParaRPr lang="en-US" sz="1500" dirty="0"/>
          </a:p>
        </p:txBody>
      </p:sp>
      <p:sp>
        <p:nvSpPr>
          <p:cNvPr id="12" name="Shape 10"/>
          <p:cNvSpPr/>
          <p:nvPr/>
        </p:nvSpPr>
        <p:spPr>
          <a:xfrm>
            <a:off x="4091345" y="3827502"/>
            <a:ext cx="9767888" cy="11430"/>
          </a:xfrm>
          <a:prstGeom prst="roundRect">
            <a:avLst>
              <a:gd name="adj" fmla="val 708620"/>
            </a:avLst>
          </a:prstGeom>
          <a:solidFill>
            <a:srgbClr val="C0C1D7"/>
          </a:solidFill>
          <a:ln/>
        </p:spPr>
      </p:sp>
      <p:sp>
        <p:nvSpPr>
          <p:cNvPr id="13" name="Shape 11"/>
          <p:cNvSpPr/>
          <p:nvPr/>
        </p:nvSpPr>
        <p:spPr>
          <a:xfrm>
            <a:off x="674846" y="3933349"/>
            <a:ext cx="4980265" cy="1111091"/>
          </a:xfrm>
          <a:prstGeom prst="roundRect">
            <a:avLst>
              <a:gd name="adj" fmla="val 7290"/>
            </a:avLst>
          </a:prstGeom>
          <a:solidFill>
            <a:srgbClr val="DADBF1"/>
          </a:solidFill>
          <a:ln w="7620">
            <a:solidFill>
              <a:srgbClr val="C0C1D7"/>
            </a:solidFill>
            <a:prstDash val="solid"/>
          </a:ln>
        </p:spPr>
      </p:sp>
      <p:sp>
        <p:nvSpPr>
          <p:cNvPr id="14" name="Text 12"/>
          <p:cNvSpPr/>
          <p:nvPr/>
        </p:nvSpPr>
        <p:spPr>
          <a:xfrm>
            <a:off x="875228" y="4296013"/>
            <a:ext cx="148352" cy="385763"/>
          </a:xfrm>
          <a:prstGeom prst="rect">
            <a:avLst/>
          </a:prstGeom>
          <a:noFill/>
          <a:ln/>
        </p:spPr>
        <p:txBody>
          <a:bodyPr wrap="none" lIns="0" tIns="0" rIns="0" bIns="0" rtlCol="0" anchor="t"/>
          <a:lstStyle/>
          <a:p>
            <a:pPr algn="ctr" indent="0" marL="0">
              <a:lnSpc>
                <a:spcPts val="3000"/>
              </a:lnSpc>
              <a:buNone/>
            </a:pPr>
            <a:r>
              <a:rPr lang="en-US" sz="1850" b="1" spc="-57" kern="0" dirty="0">
                <a:solidFill>
                  <a:srgbClr val="272525"/>
                </a:solidFill>
                <a:latin typeface="Inter Bold" pitchFamily="34" charset="0"/>
                <a:ea typeface="Inter Bold" pitchFamily="34" charset="-122"/>
                <a:cs typeface="Inter Bold" pitchFamily="34" charset="-120"/>
              </a:rPr>
              <a:t>3</a:t>
            </a:r>
            <a:endParaRPr lang="en-US" sz="1850" dirty="0"/>
          </a:p>
        </p:txBody>
      </p:sp>
      <p:sp>
        <p:nvSpPr>
          <p:cNvPr id="15" name="Text 13"/>
          <p:cNvSpPr/>
          <p:nvPr/>
        </p:nvSpPr>
        <p:spPr>
          <a:xfrm>
            <a:off x="5847874" y="4126111"/>
            <a:ext cx="2410539" cy="301347"/>
          </a:xfrm>
          <a:prstGeom prst="rect">
            <a:avLst/>
          </a:prstGeom>
          <a:noFill/>
          <a:ln/>
        </p:spPr>
        <p:txBody>
          <a:bodyPr wrap="none" lIns="0" tIns="0" rIns="0" bIns="0" rtlCol="0" anchor="t"/>
          <a:lstStyle/>
          <a:p>
            <a:pPr algn="l" indent="0" marL="0">
              <a:lnSpc>
                <a:spcPts val="2350"/>
              </a:lnSpc>
              <a:buNone/>
            </a:pPr>
            <a:r>
              <a:rPr lang="en-US" sz="1850" b="1" spc="-57" kern="0" dirty="0">
                <a:solidFill>
                  <a:srgbClr val="272525"/>
                </a:solidFill>
                <a:latin typeface="Inter Bold" pitchFamily="34" charset="0"/>
                <a:ea typeface="Inter Bold" pitchFamily="34" charset="-122"/>
                <a:cs typeface="Inter Bold" pitchFamily="34" charset="-120"/>
              </a:rPr>
              <a:t>Atomicidad</a:t>
            </a:r>
            <a:endParaRPr lang="en-US" sz="1850" dirty="0"/>
          </a:p>
        </p:txBody>
      </p:sp>
      <p:sp>
        <p:nvSpPr>
          <p:cNvPr id="16" name="Text 14"/>
          <p:cNvSpPr/>
          <p:nvPr/>
        </p:nvSpPr>
        <p:spPr>
          <a:xfrm>
            <a:off x="5847874" y="4543068"/>
            <a:ext cx="7735610" cy="308610"/>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Las transacciones deben ser atómicas: o se completan todas las operaciones o ninguna.</a:t>
            </a:r>
            <a:endParaRPr lang="en-US" sz="1500" dirty="0"/>
          </a:p>
        </p:txBody>
      </p:sp>
      <p:sp>
        <p:nvSpPr>
          <p:cNvPr id="17" name="Shape 15"/>
          <p:cNvSpPr/>
          <p:nvPr/>
        </p:nvSpPr>
        <p:spPr>
          <a:xfrm>
            <a:off x="5751433" y="5034915"/>
            <a:ext cx="8107799" cy="11430"/>
          </a:xfrm>
          <a:prstGeom prst="roundRect">
            <a:avLst>
              <a:gd name="adj" fmla="val 708620"/>
            </a:avLst>
          </a:prstGeom>
          <a:solidFill>
            <a:srgbClr val="C0C1D7"/>
          </a:solidFill>
          <a:ln/>
        </p:spPr>
      </p:sp>
      <p:sp>
        <p:nvSpPr>
          <p:cNvPr id="18" name="Shape 16"/>
          <p:cNvSpPr/>
          <p:nvPr/>
        </p:nvSpPr>
        <p:spPr>
          <a:xfrm>
            <a:off x="674846" y="5140762"/>
            <a:ext cx="6640354" cy="1419701"/>
          </a:xfrm>
          <a:prstGeom prst="roundRect">
            <a:avLst>
              <a:gd name="adj" fmla="val 5705"/>
            </a:avLst>
          </a:prstGeom>
          <a:solidFill>
            <a:srgbClr val="DADBF1"/>
          </a:solidFill>
          <a:ln w="7620">
            <a:solidFill>
              <a:srgbClr val="C0C1D7"/>
            </a:solidFill>
            <a:prstDash val="solid"/>
          </a:ln>
        </p:spPr>
      </p:sp>
      <p:sp>
        <p:nvSpPr>
          <p:cNvPr id="19" name="Text 17"/>
          <p:cNvSpPr/>
          <p:nvPr/>
        </p:nvSpPr>
        <p:spPr>
          <a:xfrm>
            <a:off x="875228" y="5657731"/>
            <a:ext cx="155853" cy="385763"/>
          </a:xfrm>
          <a:prstGeom prst="rect">
            <a:avLst/>
          </a:prstGeom>
          <a:noFill/>
          <a:ln/>
        </p:spPr>
        <p:txBody>
          <a:bodyPr wrap="none" lIns="0" tIns="0" rIns="0" bIns="0" rtlCol="0" anchor="t"/>
          <a:lstStyle/>
          <a:p>
            <a:pPr algn="ctr" indent="0" marL="0">
              <a:lnSpc>
                <a:spcPts val="3000"/>
              </a:lnSpc>
              <a:buNone/>
            </a:pPr>
            <a:r>
              <a:rPr lang="en-US" sz="1850" b="1" spc="-57" kern="0" dirty="0">
                <a:solidFill>
                  <a:srgbClr val="272525"/>
                </a:solidFill>
                <a:latin typeface="Inter Bold" pitchFamily="34" charset="0"/>
                <a:ea typeface="Inter Bold" pitchFamily="34" charset="-122"/>
                <a:cs typeface="Inter Bold" pitchFamily="34" charset="-120"/>
              </a:rPr>
              <a:t>4</a:t>
            </a:r>
            <a:endParaRPr lang="en-US" sz="1850" dirty="0"/>
          </a:p>
        </p:txBody>
      </p:sp>
      <p:sp>
        <p:nvSpPr>
          <p:cNvPr id="20" name="Text 18"/>
          <p:cNvSpPr/>
          <p:nvPr/>
        </p:nvSpPr>
        <p:spPr>
          <a:xfrm>
            <a:off x="7507962" y="5333524"/>
            <a:ext cx="2410539" cy="301347"/>
          </a:xfrm>
          <a:prstGeom prst="rect">
            <a:avLst/>
          </a:prstGeom>
          <a:noFill/>
          <a:ln/>
        </p:spPr>
        <p:txBody>
          <a:bodyPr wrap="none" lIns="0" tIns="0" rIns="0" bIns="0" rtlCol="0" anchor="t"/>
          <a:lstStyle/>
          <a:p>
            <a:pPr algn="l" indent="0" marL="0">
              <a:lnSpc>
                <a:spcPts val="2350"/>
              </a:lnSpc>
              <a:buNone/>
            </a:pPr>
            <a:r>
              <a:rPr lang="en-US" sz="1850" b="1" spc="-57" kern="0" dirty="0">
                <a:solidFill>
                  <a:srgbClr val="272525"/>
                </a:solidFill>
                <a:latin typeface="Inter Bold" pitchFamily="34" charset="0"/>
                <a:ea typeface="Inter Bold" pitchFamily="34" charset="-122"/>
                <a:cs typeface="Inter Bold" pitchFamily="34" charset="-120"/>
              </a:rPr>
              <a:t>Puntos de guardado</a:t>
            </a:r>
            <a:endParaRPr lang="en-US" sz="1850" dirty="0"/>
          </a:p>
        </p:txBody>
      </p:sp>
      <p:sp>
        <p:nvSpPr>
          <p:cNvPr id="21" name="Text 19"/>
          <p:cNvSpPr/>
          <p:nvPr/>
        </p:nvSpPr>
        <p:spPr>
          <a:xfrm>
            <a:off x="7507962" y="5750481"/>
            <a:ext cx="6254829" cy="617220"/>
          </a:xfrm>
          <a:prstGeom prst="rect">
            <a:avLst/>
          </a:prstGeom>
          <a:noFill/>
          <a:ln/>
        </p:spPr>
        <p:txBody>
          <a:bodyPr wrap="squar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Los puntos de guardado permiten revertir solo una parte de la transacción.</a:t>
            </a:r>
            <a:endParaRPr lang="en-US" sz="1500" dirty="0"/>
          </a:p>
        </p:txBody>
      </p:sp>
      <p:sp>
        <p:nvSpPr>
          <p:cNvPr id="22" name="Text 20"/>
          <p:cNvSpPr/>
          <p:nvPr/>
        </p:nvSpPr>
        <p:spPr>
          <a:xfrm>
            <a:off x="674846" y="6777395"/>
            <a:ext cx="13280708" cy="925830"/>
          </a:xfrm>
          <a:prstGeom prst="rect">
            <a:avLst/>
          </a:prstGeom>
          <a:noFill/>
          <a:ln/>
        </p:spPr>
        <p:txBody>
          <a:bodyPr wrap="square" lIns="0" tIns="0" rIns="0" bIns="0" rtlCol="0" anchor="t"/>
          <a:lstStyle/>
          <a:p>
            <a:pPr indent="0" marL="0">
              <a:lnSpc>
                <a:spcPts val="2400"/>
              </a:lnSpc>
              <a:buNone/>
            </a:pPr>
            <a:r>
              <a:rPr lang="en-US" sz="1500" spc="-30" kern="0" dirty="0">
                <a:solidFill>
                  <a:srgbClr val="272525"/>
                </a:solidFill>
                <a:latin typeface="Inter" pitchFamily="34" charset="0"/>
                <a:ea typeface="Inter" pitchFamily="34" charset="-122"/>
                <a:cs typeface="Inter" pitchFamily="34" charset="-120"/>
              </a:rPr>
              <a:t>Los rollbacks son fundamentales para garantizar la integridad de la base de datos. Permiten deshacer las operaciones realizadas durante una transacción que no pudo completarse correctamente. Esto asegura que la base de datos vuelva a un estado consistente, evitando dejar datos en un estado parcial o inconsistente.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3305" y="1170503"/>
            <a:ext cx="7306151" cy="645914"/>
          </a:xfrm>
          <a:prstGeom prst="rect">
            <a:avLst/>
          </a:prstGeom>
          <a:noFill/>
          <a:ln/>
        </p:spPr>
        <p:txBody>
          <a:bodyPr wrap="none" lIns="0" tIns="0" rIns="0" bIns="0" rtlCol="0" anchor="t"/>
          <a:lstStyle/>
          <a:p>
            <a:pPr indent="0" marL="0">
              <a:lnSpc>
                <a:spcPts val="5050"/>
              </a:lnSpc>
              <a:buNone/>
            </a:pPr>
            <a:r>
              <a:rPr lang="en-US" sz="4050" b="1" spc="-122" kern="0" dirty="0">
                <a:solidFill>
                  <a:srgbClr val="000000"/>
                </a:solidFill>
                <a:latin typeface="Inter Bold" pitchFamily="34" charset="0"/>
                <a:ea typeface="Inter Bold" pitchFamily="34" charset="-122"/>
                <a:cs typeface="Inter Bold" pitchFamily="34" charset="-120"/>
              </a:rPr>
              <a:t>Optimización para rendimiento</a:t>
            </a:r>
            <a:endParaRPr lang="en-US" sz="4050" dirty="0"/>
          </a:p>
        </p:txBody>
      </p:sp>
      <p:sp>
        <p:nvSpPr>
          <p:cNvPr id="4" name="Shape 1"/>
          <p:cNvSpPr/>
          <p:nvPr/>
        </p:nvSpPr>
        <p:spPr>
          <a:xfrm>
            <a:off x="723305" y="2126337"/>
            <a:ext cx="3745468" cy="2528411"/>
          </a:xfrm>
          <a:prstGeom prst="roundRect">
            <a:avLst>
              <a:gd name="adj" fmla="val 3433"/>
            </a:avLst>
          </a:prstGeom>
          <a:solidFill>
            <a:srgbClr val="DADBF1"/>
          </a:solidFill>
          <a:ln w="7620">
            <a:solidFill>
              <a:srgbClr val="C0C1D7"/>
            </a:solidFill>
            <a:prstDash val="solid"/>
          </a:ln>
        </p:spPr>
      </p:sp>
      <p:sp>
        <p:nvSpPr>
          <p:cNvPr id="5" name="Text 2"/>
          <p:cNvSpPr/>
          <p:nvPr/>
        </p:nvSpPr>
        <p:spPr>
          <a:xfrm>
            <a:off x="937498" y="2340531"/>
            <a:ext cx="2583418"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Indexación Eficiente</a:t>
            </a:r>
            <a:endParaRPr lang="en-US" sz="2000" dirty="0"/>
          </a:p>
        </p:txBody>
      </p:sp>
      <p:sp>
        <p:nvSpPr>
          <p:cNvPr id="6" name="Text 3"/>
          <p:cNvSpPr/>
          <p:nvPr/>
        </p:nvSpPr>
        <p:spPr>
          <a:xfrm>
            <a:off x="937498" y="2787372"/>
            <a:ext cx="3317081" cy="1653183"/>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Construir índices adecuados en campos clave puede acelerar significativamente las consultas y mejorar el rendimiento general del sistema.</a:t>
            </a:r>
            <a:endParaRPr lang="en-US" sz="1600" dirty="0"/>
          </a:p>
        </p:txBody>
      </p:sp>
      <p:sp>
        <p:nvSpPr>
          <p:cNvPr id="7" name="Shape 4"/>
          <p:cNvSpPr/>
          <p:nvPr/>
        </p:nvSpPr>
        <p:spPr>
          <a:xfrm>
            <a:off x="4675346" y="2126337"/>
            <a:ext cx="3745468" cy="2528411"/>
          </a:xfrm>
          <a:prstGeom prst="roundRect">
            <a:avLst>
              <a:gd name="adj" fmla="val 3433"/>
            </a:avLst>
          </a:prstGeom>
          <a:solidFill>
            <a:srgbClr val="DADBF1"/>
          </a:solidFill>
          <a:ln w="7620">
            <a:solidFill>
              <a:srgbClr val="C0C1D7"/>
            </a:solidFill>
            <a:prstDash val="solid"/>
          </a:ln>
        </p:spPr>
      </p:sp>
      <p:sp>
        <p:nvSpPr>
          <p:cNvPr id="8" name="Text 5"/>
          <p:cNvSpPr/>
          <p:nvPr/>
        </p:nvSpPr>
        <p:spPr>
          <a:xfrm>
            <a:off x="4889540" y="2340531"/>
            <a:ext cx="3127058"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Particionamiento de Datos</a:t>
            </a:r>
            <a:endParaRPr lang="en-US" sz="2000" dirty="0"/>
          </a:p>
        </p:txBody>
      </p:sp>
      <p:sp>
        <p:nvSpPr>
          <p:cNvPr id="9" name="Text 6"/>
          <p:cNvSpPr/>
          <p:nvPr/>
        </p:nvSpPr>
        <p:spPr>
          <a:xfrm>
            <a:off x="4889540" y="2787372"/>
            <a:ext cx="3317081" cy="1322546"/>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Dividir las tablas grandes en particiones más pequeñas y manejables puede optimizar el acceso y procesamiento de datos.</a:t>
            </a:r>
            <a:endParaRPr lang="en-US" sz="1600" dirty="0"/>
          </a:p>
        </p:txBody>
      </p:sp>
      <p:sp>
        <p:nvSpPr>
          <p:cNvPr id="10" name="Shape 7"/>
          <p:cNvSpPr/>
          <p:nvPr/>
        </p:nvSpPr>
        <p:spPr>
          <a:xfrm>
            <a:off x="723305" y="4861322"/>
            <a:ext cx="3745468" cy="2197775"/>
          </a:xfrm>
          <a:prstGeom prst="roundRect">
            <a:avLst>
              <a:gd name="adj" fmla="val 3950"/>
            </a:avLst>
          </a:prstGeom>
          <a:solidFill>
            <a:srgbClr val="DADBF1"/>
          </a:solidFill>
          <a:ln w="7620">
            <a:solidFill>
              <a:srgbClr val="C0C1D7"/>
            </a:solidFill>
            <a:prstDash val="solid"/>
          </a:ln>
        </p:spPr>
      </p:sp>
      <p:sp>
        <p:nvSpPr>
          <p:cNvPr id="11" name="Text 8"/>
          <p:cNvSpPr/>
          <p:nvPr/>
        </p:nvSpPr>
        <p:spPr>
          <a:xfrm>
            <a:off x="937498" y="5075515"/>
            <a:ext cx="2583418"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Ajuste de Consultas</a:t>
            </a:r>
            <a:endParaRPr lang="en-US" sz="2000" dirty="0"/>
          </a:p>
        </p:txBody>
      </p:sp>
      <p:sp>
        <p:nvSpPr>
          <p:cNvPr id="12" name="Text 9"/>
          <p:cNvSpPr/>
          <p:nvPr/>
        </p:nvSpPr>
        <p:spPr>
          <a:xfrm>
            <a:off x="937498" y="5522357"/>
            <a:ext cx="3317081" cy="1322546"/>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Analizar y optimizar las consultas SQL para reducir el uso de recursos y mejorar la velocidad de respuesta.</a:t>
            </a:r>
            <a:endParaRPr lang="en-US" sz="1600" dirty="0"/>
          </a:p>
        </p:txBody>
      </p:sp>
      <p:sp>
        <p:nvSpPr>
          <p:cNvPr id="13" name="Shape 10"/>
          <p:cNvSpPr/>
          <p:nvPr/>
        </p:nvSpPr>
        <p:spPr>
          <a:xfrm>
            <a:off x="4675346" y="4861322"/>
            <a:ext cx="3745468" cy="2197775"/>
          </a:xfrm>
          <a:prstGeom prst="roundRect">
            <a:avLst>
              <a:gd name="adj" fmla="val 3950"/>
            </a:avLst>
          </a:prstGeom>
          <a:solidFill>
            <a:srgbClr val="DADBF1"/>
          </a:solidFill>
          <a:ln w="7620">
            <a:solidFill>
              <a:srgbClr val="C0C1D7"/>
            </a:solidFill>
            <a:prstDash val="solid"/>
          </a:ln>
        </p:spPr>
      </p:sp>
      <p:sp>
        <p:nvSpPr>
          <p:cNvPr id="14" name="Text 11"/>
          <p:cNvSpPr/>
          <p:nvPr/>
        </p:nvSpPr>
        <p:spPr>
          <a:xfrm>
            <a:off x="4889540" y="5075515"/>
            <a:ext cx="3201829"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Almacenamiento en Caché</a:t>
            </a:r>
            <a:endParaRPr lang="en-US" sz="2000" dirty="0"/>
          </a:p>
        </p:txBody>
      </p:sp>
      <p:sp>
        <p:nvSpPr>
          <p:cNvPr id="15" name="Text 12"/>
          <p:cNvSpPr/>
          <p:nvPr/>
        </p:nvSpPr>
        <p:spPr>
          <a:xfrm>
            <a:off x="4889540" y="5522357"/>
            <a:ext cx="3317081" cy="1322546"/>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Utilizar un sistema de caché puede reducir la carga del servidor y mejorar la experiencia del usuario al servir datos rápidamente.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2233" y="682228"/>
            <a:ext cx="7699534" cy="1289685"/>
          </a:xfrm>
          <a:prstGeom prst="rect">
            <a:avLst/>
          </a:prstGeom>
          <a:noFill/>
          <a:ln/>
        </p:spPr>
        <p:txBody>
          <a:bodyPr wrap="square" lIns="0" tIns="0" rIns="0" bIns="0" rtlCol="0" anchor="t"/>
          <a:lstStyle/>
          <a:p>
            <a:pPr indent="0" marL="0">
              <a:lnSpc>
                <a:spcPts val="5050"/>
              </a:lnSpc>
              <a:buNone/>
            </a:pPr>
            <a:r>
              <a:rPr lang="en-US" sz="4050" b="1" spc="-122" kern="0" dirty="0">
                <a:solidFill>
                  <a:srgbClr val="000000"/>
                </a:solidFill>
                <a:latin typeface="Inter Bold" pitchFamily="34" charset="0"/>
                <a:ea typeface="Inter Bold" pitchFamily="34" charset="-122"/>
                <a:cs typeface="Inter Bold" pitchFamily="34" charset="-120"/>
              </a:rPr>
              <a:t>Transacciones distribuidas: desafíos</a:t>
            </a:r>
            <a:endParaRPr lang="en-US" sz="4050" dirty="0"/>
          </a:p>
        </p:txBody>
      </p:sp>
      <p:pic>
        <p:nvPicPr>
          <p:cNvPr id="4" name="Image 1" descr="preencoded.png">    </p:cNvPr>
          <p:cNvPicPr>
            <a:picLocks noChangeAspect="1"/>
          </p:cNvPicPr>
          <p:nvPr/>
        </p:nvPicPr>
        <p:blipFill>
          <a:blip r:embed="rId2"/>
          <a:stretch>
            <a:fillRect/>
          </a:stretch>
        </p:blipFill>
        <p:spPr>
          <a:xfrm>
            <a:off x="722233" y="2281357"/>
            <a:ext cx="515898" cy="515898"/>
          </a:xfrm>
          <a:prstGeom prst="rect">
            <a:avLst/>
          </a:prstGeom>
        </p:spPr>
      </p:pic>
      <p:sp>
        <p:nvSpPr>
          <p:cNvPr id="5" name="Text 1"/>
          <p:cNvSpPr/>
          <p:nvPr/>
        </p:nvSpPr>
        <p:spPr>
          <a:xfrm>
            <a:off x="722233" y="3003590"/>
            <a:ext cx="2579489" cy="322421"/>
          </a:xfrm>
          <a:prstGeom prst="rect">
            <a:avLst/>
          </a:prstGeom>
          <a:noFill/>
          <a:ln/>
        </p:spPr>
        <p:txBody>
          <a:bodyPr wrap="none" lIns="0" tIns="0" rIns="0" bIns="0" rtlCol="0" anchor="t"/>
          <a:lstStyle/>
          <a:p>
            <a:pPr algn="l"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Coordinación</a:t>
            </a:r>
            <a:endParaRPr lang="en-US" sz="2000" dirty="0"/>
          </a:p>
        </p:txBody>
      </p:sp>
      <p:sp>
        <p:nvSpPr>
          <p:cNvPr id="6" name="Text 2"/>
          <p:cNvSpPr/>
          <p:nvPr/>
        </p:nvSpPr>
        <p:spPr>
          <a:xfrm>
            <a:off x="722233" y="3449717"/>
            <a:ext cx="3694986" cy="1320165"/>
          </a:xfrm>
          <a:prstGeom prst="rect">
            <a:avLst/>
          </a:prstGeom>
          <a:noFill/>
          <a:ln/>
        </p:spPr>
        <p:txBody>
          <a:bodyPr wrap="square" lIns="0" tIns="0" rIns="0" bIns="0" rtlCol="0" anchor="t"/>
          <a:lstStyle/>
          <a:p>
            <a:pPr algn="l" indent="0" marL="0">
              <a:lnSpc>
                <a:spcPts val="2550"/>
              </a:lnSpc>
              <a:buNone/>
            </a:pPr>
            <a:r>
              <a:rPr lang="en-US" sz="1600" spc="-32" kern="0" dirty="0">
                <a:solidFill>
                  <a:srgbClr val="272525"/>
                </a:solidFill>
                <a:latin typeface="Inter" pitchFamily="34" charset="0"/>
                <a:ea typeface="Inter" pitchFamily="34" charset="-122"/>
                <a:cs typeface="Inter" pitchFamily="34" charset="-120"/>
              </a:rPr>
              <a:t>Garantizar la consistencia y atomicidad en múltiples sistemas independientes es un desafío clave en las transacciones distribuidas.</a:t>
            </a:r>
            <a:endParaRPr lang="en-US" sz="1600" dirty="0"/>
          </a:p>
        </p:txBody>
      </p:sp>
      <p:pic>
        <p:nvPicPr>
          <p:cNvPr id="7" name="Image 2" descr="preencoded.png">    </p:cNvPr>
          <p:cNvPicPr>
            <a:picLocks noChangeAspect="1"/>
          </p:cNvPicPr>
          <p:nvPr/>
        </p:nvPicPr>
        <p:blipFill>
          <a:blip r:embed="rId3"/>
          <a:stretch>
            <a:fillRect/>
          </a:stretch>
        </p:blipFill>
        <p:spPr>
          <a:xfrm>
            <a:off x="4726662" y="2281357"/>
            <a:ext cx="515898" cy="515898"/>
          </a:xfrm>
          <a:prstGeom prst="rect">
            <a:avLst/>
          </a:prstGeom>
        </p:spPr>
      </p:pic>
      <p:sp>
        <p:nvSpPr>
          <p:cNvPr id="8" name="Text 3"/>
          <p:cNvSpPr/>
          <p:nvPr/>
        </p:nvSpPr>
        <p:spPr>
          <a:xfrm>
            <a:off x="4726662" y="3003590"/>
            <a:ext cx="2579489" cy="322421"/>
          </a:xfrm>
          <a:prstGeom prst="rect">
            <a:avLst/>
          </a:prstGeom>
          <a:noFill/>
          <a:ln/>
        </p:spPr>
        <p:txBody>
          <a:bodyPr wrap="none" lIns="0" tIns="0" rIns="0" bIns="0" rtlCol="0" anchor="t"/>
          <a:lstStyle/>
          <a:p>
            <a:pPr algn="l"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Latencia</a:t>
            </a:r>
            <a:endParaRPr lang="en-US" sz="2000" dirty="0"/>
          </a:p>
        </p:txBody>
      </p:sp>
      <p:sp>
        <p:nvSpPr>
          <p:cNvPr id="9" name="Text 4"/>
          <p:cNvSpPr/>
          <p:nvPr/>
        </p:nvSpPr>
        <p:spPr>
          <a:xfrm>
            <a:off x="4726662" y="3449717"/>
            <a:ext cx="3695105" cy="1320165"/>
          </a:xfrm>
          <a:prstGeom prst="rect">
            <a:avLst/>
          </a:prstGeom>
          <a:noFill/>
          <a:ln/>
        </p:spPr>
        <p:txBody>
          <a:bodyPr wrap="square" lIns="0" tIns="0" rIns="0" bIns="0" rtlCol="0" anchor="t"/>
          <a:lstStyle/>
          <a:p>
            <a:pPr algn="l" indent="0" marL="0">
              <a:lnSpc>
                <a:spcPts val="2550"/>
              </a:lnSpc>
              <a:buNone/>
            </a:pPr>
            <a:r>
              <a:rPr lang="en-US" sz="1600" spc="-32" kern="0" dirty="0">
                <a:solidFill>
                  <a:srgbClr val="272525"/>
                </a:solidFill>
                <a:latin typeface="Inter" pitchFamily="34" charset="0"/>
                <a:ea typeface="Inter" pitchFamily="34" charset="-122"/>
                <a:cs typeface="Inter" pitchFamily="34" charset="-120"/>
              </a:rPr>
              <a:t>Minimizar la latencia de las transacciones a través de múltiples sitios puede requerir optimizaciones complejas.</a:t>
            </a:r>
            <a:endParaRPr lang="en-US" sz="1600" dirty="0"/>
          </a:p>
        </p:txBody>
      </p:sp>
      <p:pic>
        <p:nvPicPr>
          <p:cNvPr id="10" name="Image 3" descr="preencoded.png">    </p:cNvPr>
          <p:cNvPicPr>
            <a:picLocks noChangeAspect="1"/>
          </p:cNvPicPr>
          <p:nvPr/>
        </p:nvPicPr>
        <p:blipFill>
          <a:blip r:embed="rId4"/>
          <a:stretch>
            <a:fillRect/>
          </a:stretch>
        </p:blipFill>
        <p:spPr>
          <a:xfrm>
            <a:off x="722233" y="5388888"/>
            <a:ext cx="515898" cy="515898"/>
          </a:xfrm>
          <a:prstGeom prst="rect">
            <a:avLst/>
          </a:prstGeom>
        </p:spPr>
      </p:pic>
      <p:sp>
        <p:nvSpPr>
          <p:cNvPr id="11" name="Text 5"/>
          <p:cNvSpPr/>
          <p:nvPr/>
        </p:nvSpPr>
        <p:spPr>
          <a:xfrm>
            <a:off x="722233" y="6111121"/>
            <a:ext cx="2579489" cy="322421"/>
          </a:xfrm>
          <a:prstGeom prst="rect">
            <a:avLst/>
          </a:prstGeom>
          <a:noFill/>
          <a:ln/>
        </p:spPr>
        <p:txBody>
          <a:bodyPr wrap="none" lIns="0" tIns="0" rIns="0" bIns="0" rtlCol="0" anchor="t"/>
          <a:lstStyle/>
          <a:p>
            <a:pPr algn="l"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Monitoreo</a:t>
            </a:r>
            <a:endParaRPr lang="en-US" sz="2000" dirty="0"/>
          </a:p>
        </p:txBody>
      </p:sp>
      <p:sp>
        <p:nvSpPr>
          <p:cNvPr id="12" name="Text 6"/>
          <p:cNvSpPr/>
          <p:nvPr/>
        </p:nvSpPr>
        <p:spPr>
          <a:xfrm>
            <a:off x="722233" y="6557248"/>
            <a:ext cx="3694986" cy="990124"/>
          </a:xfrm>
          <a:prstGeom prst="rect">
            <a:avLst/>
          </a:prstGeom>
          <a:noFill/>
          <a:ln/>
        </p:spPr>
        <p:txBody>
          <a:bodyPr wrap="square" lIns="0" tIns="0" rIns="0" bIns="0" rtlCol="0" anchor="t"/>
          <a:lstStyle/>
          <a:p>
            <a:pPr algn="l" indent="0" marL="0">
              <a:lnSpc>
                <a:spcPts val="2550"/>
              </a:lnSpc>
              <a:buNone/>
            </a:pPr>
            <a:r>
              <a:rPr lang="en-US" sz="1600" spc="-32" kern="0" dirty="0">
                <a:solidFill>
                  <a:srgbClr val="272525"/>
                </a:solidFill>
                <a:latin typeface="Inter" pitchFamily="34" charset="0"/>
                <a:ea typeface="Inter" pitchFamily="34" charset="-122"/>
                <a:cs typeface="Inter" pitchFamily="34" charset="-120"/>
              </a:rPr>
              <a:t>Supervisar y depurar transacciones distribuidas es más desafiante que en entornos centralizados.</a:t>
            </a:r>
            <a:endParaRPr lang="en-US" sz="1600" dirty="0"/>
          </a:p>
        </p:txBody>
      </p:sp>
      <p:pic>
        <p:nvPicPr>
          <p:cNvPr id="13" name="Image 4" descr="preencoded.png">    </p:cNvPr>
          <p:cNvPicPr>
            <a:picLocks noChangeAspect="1"/>
          </p:cNvPicPr>
          <p:nvPr/>
        </p:nvPicPr>
        <p:blipFill>
          <a:blip r:embed="rId5"/>
          <a:stretch>
            <a:fillRect/>
          </a:stretch>
        </p:blipFill>
        <p:spPr>
          <a:xfrm>
            <a:off x="4726662" y="5388888"/>
            <a:ext cx="515898" cy="515898"/>
          </a:xfrm>
          <a:prstGeom prst="rect">
            <a:avLst/>
          </a:prstGeom>
        </p:spPr>
      </p:pic>
      <p:sp>
        <p:nvSpPr>
          <p:cNvPr id="14" name="Text 7"/>
          <p:cNvSpPr/>
          <p:nvPr/>
        </p:nvSpPr>
        <p:spPr>
          <a:xfrm>
            <a:off x="4726662" y="6111121"/>
            <a:ext cx="2579489" cy="322421"/>
          </a:xfrm>
          <a:prstGeom prst="rect">
            <a:avLst/>
          </a:prstGeom>
          <a:noFill/>
          <a:ln/>
        </p:spPr>
        <p:txBody>
          <a:bodyPr wrap="none" lIns="0" tIns="0" rIns="0" bIns="0" rtlCol="0" anchor="t"/>
          <a:lstStyle/>
          <a:p>
            <a:pPr algn="l"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Resiliencia</a:t>
            </a:r>
            <a:endParaRPr lang="en-US" sz="2000" dirty="0"/>
          </a:p>
        </p:txBody>
      </p:sp>
      <p:sp>
        <p:nvSpPr>
          <p:cNvPr id="15" name="Text 8"/>
          <p:cNvSpPr/>
          <p:nvPr/>
        </p:nvSpPr>
        <p:spPr>
          <a:xfrm>
            <a:off x="4726662" y="6557248"/>
            <a:ext cx="3695105" cy="990124"/>
          </a:xfrm>
          <a:prstGeom prst="rect">
            <a:avLst/>
          </a:prstGeom>
          <a:noFill/>
          <a:ln/>
        </p:spPr>
        <p:txBody>
          <a:bodyPr wrap="square" lIns="0" tIns="0" rIns="0" bIns="0" rtlCol="0" anchor="t"/>
          <a:lstStyle/>
          <a:p>
            <a:pPr algn="l" indent="0" marL="0">
              <a:lnSpc>
                <a:spcPts val="2550"/>
              </a:lnSpc>
              <a:buNone/>
            </a:pPr>
            <a:r>
              <a:rPr lang="en-US" sz="1600" spc="-32" kern="0" dirty="0">
                <a:solidFill>
                  <a:srgbClr val="272525"/>
                </a:solidFill>
                <a:latin typeface="Inter" pitchFamily="34" charset="0"/>
                <a:ea typeface="Inter" pitchFamily="34" charset="-122"/>
                <a:cs typeface="Inter" pitchFamily="34" charset="-120"/>
              </a:rPr>
              <a:t>Garantizar la recuperación ante fallas en uno o más sistemas distribuidos es fundamental.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6965" y="720685"/>
            <a:ext cx="7722870" cy="1268730"/>
          </a:xfrm>
          <a:prstGeom prst="rect">
            <a:avLst/>
          </a:prstGeom>
          <a:noFill/>
          <a:ln/>
        </p:spPr>
        <p:txBody>
          <a:bodyPr wrap="square" lIns="0" tIns="0" rIns="0" bIns="0" rtlCol="0" anchor="t"/>
          <a:lstStyle/>
          <a:p>
            <a:pPr indent="0" marL="0">
              <a:lnSpc>
                <a:spcPts val="4950"/>
              </a:lnSpc>
              <a:buNone/>
            </a:pPr>
            <a:r>
              <a:rPr lang="en-US" sz="3950" b="1" spc="-120" kern="0" dirty="0">
                <a:solidFill>
                  <a:srgbClr val="000000"/>
                </a:solidFill>
                <a:latin typeface="Inter Bold" pitchFamily="34" charset="0"/>
                <a:ea typeface="Inter Bold" pitchFamily="34" charset="-122"/>
                <a:cs typeface="Inter Bold" pitchFamily="34" charset="-120"/>
              </a:rPr>
              <a:t>Transacciones distribuidas: coordinación</a:t>
            </a:r>
            <a:endParaRPr lang="en-US" sz="3950" dirty="0"/>
          </a:p>
        </p:txBody>
      </p:sp>
      <p:sp>
        <p:nvSpPr>
          <p:cNvPr id="4" name="Shape 1"/>
          <p:cNvSpPr/>
          <p:nvPr/>
        </p:nvSpPr>
        <p:spPr>
          <a:xfrm>
            <a:off x="6489978" y="2293858"/>
            <a:ext cx="22860" cy="5214938"/>
          </a:xfrm>
          <a:prstGeom prst="roundRect">
            <a:avLst>
              <a:gd name="adj" fmla="val 373013"/>
            </a:avLst>
          </a:prstGeom>
          <a:solidFill>
            <a:srgbClr val="C0C1D7"/>
          </a:solidFill>
          <a:ln/>
        </p:spPr>
      </p:sp>
      <p:sp>
        <p:nvSpPr>
          <p:cNvPr id="5" name="Shape 2"/>
          <p:cNvSpPr/>
          <p:nvPr/>
        </p:nvSpPr>
        <p:spPr>
          <a:xfrm>
            <a:off x="6706910" y="2739152"/>
            <a:ext cx="710565" cy="22860"/>
          </a:xfrm>
          <a:prstGeom prst="roundRect">
            <a:avLst>
              <a:gd name="adj" fmla="val 373013"/>
            </a:avLst>
          </a:prstGeom>
          <a:solidFill>
            <a:srgbClr val="C0C1D7"/>
          </a:solidFill>
          <a:ln/>
        </p:spPr>
      </p:sp>
      <p:sp>
        <p:nvSpPr>
          <p:cNvPr id="6" name="Shape 3"/>
          <p:cNvSpPr/>
          <p:nvPr/>
        </p:nvSpPr>
        <p:spPr>
          <a:xfrm>
            <a:off x="6273046" y="2522220"/>
            <a:ext cx="456724" cy="456724"/>
          </a:xfrm>
          <a:prstGeom prst="roundRect">
            <a:avLst>
              <a:gd name="adj" fmla="val 18670"/>
            </a:avLst>
          </a:prstGeom>
          <a:solidFill>
            <a:srgbClr val="DADBF1"/>
          </a:solidFill>
          <a:ln w="7620">
            <a:solidFill>
              <a:srgbClr val="C0C1D7"/>
            </a:solidFill>
            <a:prstDash val="solid"/>
          </a:ln>
        </p:spPr>
      </p:sp>
      <p:sp>
        <p:nvSpPr>
          <p:cNvPr id="7" name="Text 4"/>
          <p:cNvSpPr/>
          <p:nvPr/>
        </p:nvSpPr>
        <p:spPr>
          <a:xfrm>
            <a:off x="6440329" y="2598301"/>
            <a:ext cx="122158" cy="304562"/>
          </a:xfrm>
          <a:prstGeom prst="rect">
            <a:avLst/>
          </a:prstGeom>
          <a:noFill/>
          <a:ln/>
        </p:spPr>
        <p:txBody>
          <a:bodyPr wrap="none" lIns="0" tIns="0" rIns="0" bIns="0" rtlCol="0" anchor="t"/>
          <a:lstStyle/>
          <a:p>
            <a:pPr algn="ctr" indent="0" marL="0">
              <a:lnSpc>
                <a:spcPts val="2350"/>
              </a:lnSpc>
              <a:buNone/>
            </a:pPr>
            <a:r>
              <a:rPr lang="en-US" sz="2350" b="1" spc="-72" kern="0" dirty="0">
                <a:solidFill>
                  <a:srgbClr val="272525"/>
                </a:solidFill>
                <a:latin typeface="Inter Bold" pitchFamily="34" charset="0"/>
                <a:ea typeface="Inter Bold" pitchFamily="34" charset="-122"/>
                <a:cs typeface="Inter Bold" pitchFamily="34" charset="-120"/>
              </a:rPr>
              <a:t>1</a:t>
            </a:r>
            <a:endParaRPr lang="en-US" sz="2350" dirty="0"/>
          </a:p>
        </p:txBody>
      </p:sp>
      <p:sp>
        <p:nvSpPr>
          <p:cNvPr id="8" name="Text 5"/>
          <p:cNvSpPr/>
          <p:nvPr/>
        </p:nvSpPr>
        <p:spPr>
          <a:xfrm>
            <a:off x="7617976" y="2496860"/>
            <a:ext cx="3236476" cy="317302"/>
          </a:xfrm>
          <a:prstGeom prst="rect">
            <a:avLst/>
          </a:prstGeom>
          <a:noFill/>
          <a:ln/>
        </p:spPr>
        <p:txBody>
          <a:bodyPr wrap="none" lIns="0" tIns="0" rIns="0" bIns="0" rtlCol="0" anchor="t"/>
          <a:lstStyle/>
          <a:p>
            <a:pPr algn="l" indent="0" marL="0">
              <a:lnSpc>
                <a:spcPts val="2450"/>
              </a:lnSpc>
              <a:buNone/>
            </a:pPr>
            <a:r>
              <a:rPr lang="en-US" sz="1950" b="1" spc="-60" kern="0" dirty="0">
                <a:solidFill>
                  <a:srgbClr val="272525"/>
                </a:solidFill>
                <a:latin typeface="Inter Bold" pitchFamily="34" charset="0"/>
                <a:ea typeface="Inter Bold" pitchFamily="34" charset="-122"/>
                <a:cs typeface="Inter Bold" pitchFamily="34" charset="-120"/>
              </a:rPr>
              <a:t>Sincronización de Procesos</a:t>
            </a:r>
            <a:endParaRPr lang="en-US" sz="1950" dirty="0"/>
          </a:p>
        </p:txBody>
      </p:sp>
      <p:sp>
        <p:nvSpPr>
          <p:cNvPr id="9" name="Text 6"/>
          <p:cNvSpPr/>
          <p:nvPr/>
        </p:nvSpPr>
        <p:spPr>
          <a:xfrm>
            <a:off x="7617976" y="2935962"/>
            <a:ext cx="6301859" cy="649605"/>
          </a:xfrm>
          <a:prstGeom prst="rect">
            <a:avLst/>
          </a:prstGeom>
          <a:noFill/>
          <a:ln/>
        </p:spPr>
        <p:txBody>
          <a:bodyPr wrap="square" lIns="0" tIns="0" rIns="0" bIns="0" rtlCol="0" anchor="t"/>
          <a:lstStyle/>
          <a:p>
            <a:pPr algn="l" indent="0" marL="0">
              <a:lnSpc>
                <a:spcPts val="2550"/>
              </a:lnSpc>
              <a:buNone/>
            </a:pPr>
            <a:r>
              <a:rPr lang="en-US" sz="1550" spc="-32" kern="0" dirty="0">
                <a:solidFill>
                  <a:srgbClr val="272525"/>
                </a:solidFill>
                <a:latin typeface="Inter" pitchFamily="34" charset="0"/>
                <a:ea typeface="Inter" pitchFamily="34" charset="-122"/>
                <a:cs typeface="Inter" pitchFamily="34" charset="-120"/>
              </a:rPr>
              <a:t>La coordinación entre nodos en sistemas distribuidos requiere la sincronización precisa de procesos y la resolución de conflictos.</a:t>
            </a:r>
            <a:endParaRPr lang="en-US" sz="1550" dirty="0"/>
          </a:p>
        </p:txBody>
      </p:sp>
      <p:sp>
        <p:nvSpPr>
          <p:cNvPr id="10" name="Shape 7"/>
          <p:cNvSpPr/>
          <p:nvPr/>
        </p:nvSpPr>
        <p:spPr>
          <a:xfrm>
            <a:off x="6706910" y="4436864"/>
            <a:ext cx="710565" cy="22860"/>
          </a:xfrm>
          <a:prstGeom prst="roundRect">
            <a:avLst>
              <a:gd name="adj" fmla="val 373013"/>
            </a:avLst>
          </a:prstGeom>
          <a:solidFill>
            <a:srgbClr val="C0C1D7"/>
          </a:solidFill>
          <a:ln/>
        </p:spPr>
      </p:sp>
      <p:sp>
        <p:nvSpPr>
          <p:cNvPr id="11" name="Shape 8"/>
          <p:cNvSpPr/>
          <p:nvPr/>
        </p:nvSpPr>
        <p:spPr>
          <a:xfrm>
            <a:off x="6273046" y="4219932"/>
            <a:ext cx="456724" cy="456724"/>
          </a:xfrm>
          <a:prstGeom prst="roundRect">
            <a:avLst>
              <a:gd name="adj" fmla="val 18670"/>
            </a:avLst>
          </a:prstGeom>
          <a:solidFill>
            <a:srgbClr val="DADBF1"/>
          </a:solidFill>
          <a:ln w="7620">
            <a:solidFill>
              <a:srgbClr val="C0C1D7"/>
            </a:solidFill>
            <a:prstDash val="solid"/>
          </a:ln>
        </p:spPr>
      </p:sp>
      <p:sp>
        <p:nvSpPr>
          <p:cNvPr id="12" name="Text 9"/>
          <p:cNvSpPr/>
          <p:nvPr/>
        </p:nvSpPr>
        <p:spPr>
          <a:xfrm>
            <a:off x="6410087" y="4296013"/>
            <a:ext cx="182642" cy="304562"/>
          </a:xfrm>
          <a:prstGeom prst="rect">
            <a:avLst/>
          </a:prstGeom>
          <a:noFill/>
          <a:ln/>
        </p:spPr>
        <p:txBody>
          <a:bodyPr wrap="none" lIns="0" tIns="0" rIns="0" bIns="0" rtlCol="0" anchor="t"/>
          <a:lstStyle/>
          <a:p>
            <a:pPr algn="ctr" indent="0" marL="0">
              <a:lnSpc>
                <a:spcPts val="2350"/>
              </a:lnSpc>
              <a:buNone/>
            </a:pPr>
            <a:r>
              <a:rPr lang="en-US" sz="2350" b="1" spc="-72" kern="0" dirty="0">
                <a:solidFill>
                  <a:srgbClr val="272525"/>
                </a:solidFill>
                <a:latin typeface="Inter Bold" pitchFamily="34" charset="0"/>
                <a:ea typeface="Inter Bold" pitchFamily="34" charset="-122"/>
                <a:cs typeface="Inter Bold" pitchFamily="34" charset="-120"/>
              </a:rPr>
              <a:t>2</a:t>
            </a:r>
            <a:endParaRPr lang="en-US" sz="2350" dirty="0"/>
          </a:p>
        </p:txBody>
      </p:sp>
      <p:sp>
        <p:nvSpPr>
          <p:cNvPr id="13" name="Text 10"/>
          <p:cNvSpPr/>
          <p:nvPr/>
        </p:nvSpPr>
        <p:spPr>
          <a:xfrm>
            <a:off x="7617976" y="4194572"/>
            <a:ext cx="3168610" cy="317302"/>
          </a:xfrm>
          <a:prstGeom prst="rect">
            <a:avLst/>
          </a:prstGeom>
          <a:noFill/>
          <a:ln/>
        </p:spPr>
        <p:txBody>
          <a:bodyPr wrap="none" lIns="0" tIns="0" rIns="0" bIns="0" rtlCol="0" anchor="t"/>
          <a:lstStyle/>
          <a:p>
            <a:pPr algn="l" indent="0" marL="0">
              <a:lnSpc>
                <a:spcPts val="2450"/>
              </a:lnSpc>
              <a:buNone/>
            </a:pPr>
            <a:r>
              <a:rPr lang="en-US" sz="1950" b="1" spc="-60" kern="0" dirty="0">
                <a:solidFill>
                  <a:srgbClr val="272525"/>
                </a:solidFill>
                <a:latin typeface="Inter Bold" pitchFamily="34" charset="0"/>
                <a:ea typeface="Inter Bold" pitchFamily="34" charset="-122"/>
                <a:cs typeface="Inter Bold" pitchFamily="34" charset="-120"/>
              </a:rPr>
              <a:t>Protocolos de Compromiso</a:t>
            </a:r>
            <a:endParaRPr lang="en-US" sz="1950" dirty="0"/>
          </a:p>
        </p:txBody>
      </p:sp>
      <p:sp>
        <p:nvSpPr>
          <p:cNvPr id="14" name="Text 11"/>
          <p:cNvSpPr/>
          <p:nvPr/>
        </p:nvSpPr>
        <p:spPr>
          <a:xfrm>
            <a:off x="7617976" y="4633674"/>
            <a:ext cx="6301859" cy="974408"/>
          </a:xfrm>
          <a:prstGeom prst="rect">
            <a:avLst/>
          </a:prstGeom>
          <a:noFill/>
          <a:ln/>
        </p:spPr>
        <p:txBody>
          <a:bodyPr wrap="square" lIns="0" tIns="0" rIns="0" bIns="0" rtlCol="0" anchor="t"/>
          <a:lstStyle/>
          <a:p>
            <a:pPr algn="l" indent="0" marL="0">
              <a:lnSpc>
                <a:spcPts val="2550"/>
              </a:lnSpc>
              <a:buNone/>
            </a:pPr>
            <a:r>
              <a:rPr lang="en-US" sz="1550" spc="-32" kern="0" dirty="0">
                <a:solidFill>
                  <a:srgbClr val="272525"/>
                </a:solidFill>
                <a:latin typeface="Inter" pitchFamily="34" charset="0"/>
                <a:ea typeface="Inter" pitchFamily="34" charset="-122"/>
                <a:cs typeface="Inter" pitchFamily="34" charset="-120"/>
              </a:rPr>
              <a:t>Protocolos como Two-Phase Commit (2PC) y Three-Phase Commit (3PC) son esenciales para garantizar la consistencia de transacciones distribuidas.</a:t>
            </a:r>
            <a:endParaRPr lang="en-US" sz="1550" dirty="0"/>
          </a:p>
        </p:txBody>
      </p:sp>
      <p:sp>
        <p:nvSpPr>
          <p:cNvPr id="15" name="Shape 12"/>
          <p:cNvSpPr/>
          <p:nvPr/>
        </p:nvSpPr>
        <p:spPr>
          <a:xfrm>
            <a:off x="6706910" y="6459379"/>
            <a:ext cx="710565" cy="22860"/>
          </a:xfrm>
          <a:prstGeom prst="roundRect">
            <a:avLst>
              <a:gd name="adj" fmla="val 373013"/>
            </a:avLst>
          </a:prstGeom>
          <a:solidFill>
            <a:srgbClr val="C0C1D7"/>
          </a:solidFill>
          <a:ln/>
        </p:spPr>
      </p:sp>
      <p:sp>
        <p:nvSpPr>
          <p:cNvPr id="16" name="Shape 13"/>
          <p:cNvSpPr/>
          <p:nvPr/>
        </p:nvSpPr>
        <p:spPr>
          <a:xfrm>
            <a:off x="6273046" y="6242447"/>
            <a:ext cx="456724" cy="456724"/>
          </a:xfrm>
          <a:prstGeom prst="roundRect">
            <a:avLst>
              <a:gd name="adj" fmla="val 18670"/>
            </a:avLst>
          </a:prstGeom>
          <a:solidFill>
            <a:srgbClr val="DADBF1"/>
          </a:solidFill>
          <a:ln w="7620">
            <a:solidFill>
              <a:srgbClr val="C0C1D7"/>
            </a:solidFill>
            <a:prstDash val="solid"/>
          </a:ln>
        </p:spPr>
      </p:sp>
      <p:sp>
        <p:nvSpPr>
          <p:cNvPr id="17" name="Text 14"/>
          <p:cNvSpPr/>
          <p:nvPr/>
        </p:nvSpPr>
        <p:spPr>
          <a:xfrm>
            <a:off x="6407706" y="6318528"/>
            <a:ext cx="187404" cy="304562"/>
          </a:xfrm>
          <a:prstGeom prst="rect">
            <a:avLst/>
          </a:prstGeom>
          <a:noFill/>
          <a:ln/>
        </p:spPr>
        <p:txBody>
          <a:bodyPr wrap="none" lIns="0" tIns="0" rIns="0" bIns="0" rtlCol="0" anchor="t"/>
          <a:lstStyle/>
          <a:p>
            <a:pPr algn="ctr" indent="0" marL="0">
              <a:lnSpc>
                <a:spcPts val="2350"/>
              </a:lnSpc>
              <a:buNone/>
            </a:pPr>
            <a:r>
              <a:rPr lang="en-US" sz="2350" b="1" spc="-72" kern="0" dirty="0">
                <a:solidFill>
                  <a:srgbClr val="272525"/>
                </a:solidFill>
                <a:latin typeface="Inter Bold" pitchFamily="34" charset="0"/>
                <a:ea typeface="Inter Bold" pitchFamily="34" charset="-122"/>
                <a:cs typeface="Inter Bold" pitchFamily="34" charset="-120"/>
              </a:rPr>
              <a:t>3</a:t>
            </a:r>
            <a:endParaRPr lang="en-US" sz="2350" dirty="0"/>
          </a:p>
        </p:txBody>
      </p:sp>
      <p:sp>
        <p:nvSpPr>
          <p:cNvPr id="18" name="Text 15"/>
          <p:cNvSpPr/>
          <p:nvPr/>
        </p:nvSpPr>
        <p:spPr>
          <a:xfrm>
            <a:off x="7617976" y="6217087"/>
            <a:ext cx="2923342" cy="317302"/>
          </a:xfrm>
          <a:prstGeom prst="rect">
            <a:avLst/>
          </a:prstGeom>
          <a:noFill/>
          <a:ln/>
        </p:spPr>
        <p:txBody>
          <a:bodyPr wrap="none" lIns="0" tIns="0" rIns="0" bIns="0" rtlCol="0" anchor="t"/>
          <a:lstStyle/>
          <a:p>
            <a:pPr algn="l" indent="0" marL="0">
              <a:lnSpc>
                <a:spcPts val="2450"/>
              </a:lnSpc>
              <a:buNone/>
            </a:pPr>
            <a:r>
              <a:rPr lang="en-US" sz="1950" b="1" spc="-60" kern="0" dirty="0">
                <a:solidFill>
                  <a:srgbClr val="272525"/>
                </a:solidFill>
                <a:latin typeface="Inter Bold" pitchFamily="34" charset="0"/>
                <a:ea typeface="Inter Bold" pitchFamily="34" charset="-122"/>
                <a:cs typeface="Inter Bold" pitchFamily="34" charset="-120"/>
              </a:rPr>
              <a:t>Recuperación ante Fallos</a:t>
            </a:r>
            <a:endParaRPr lang="en-US" sz="1950" dirty="0"/>
          </a:p>
        </p:txBody>
      </p:sp>
      <p:sp>
        <p:nvSpPr>
          <p:cNvPr id="19" name="Text 16"/>
          <p:cNvSpPr/>
          <p:nvPr/>
        </p:nvSpPr>
        <p:spPr>
          <a:xfrm>
            <a:off x="7617976" y="6656189"/>
            <a:ext cx="6301859" cy="649605"/>
          </a:xfrm>
          <a:prstGeom prst="rect">
            <a:avLst/>
          </a:prstGeom>
          <a:noFill/>
          <a:ln/>
        </p:spPr>
        <p:txBody>
          <a:bodyPr wrap="square" lIns="0" tIns="0" rIns="0" bIns="0" rtlCol="0" anchor="t"/>
          <a:lstStyle/>
          <a:p>
            <a:pPr algn="l" indent="0" marL="0">
              <a:lnSpc>
                <a:spcPts val="2550"/>
              </a:lnSpc>
              <a:buNone/>
            </a:pPr>
            <a:r>
              <a:rPr lang="en-US" sz="1550" spc="-32" kern="0" dirty="0">
                <a:solidFill>
                  <a:srgbClr val="272525"/>
                </a:solidFill>
                <a:latin typeface="Inter" pitchFamily="34" charset="0"/>
                <a:ea typeface="Inter" pitchFamily="34" charset="-122"/>
                <a:cs typeface="Inter" pitchFamily="34" charset="-120"/>
              </a:rPr>
              <a:t>Los mecanismos de rollback y restauración de estado son cruciales para mantener la integridad de los datos en caso de fallos parciales.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3305" y="682228"/>
            <a:ext cx="7697391" cy="1291828"/>
          </a:xfrm>
          <a:prstGeom prst="rect">
            <a:avLst/>
          </a:prstGeom>
          <a:noFill/>
          <a:ln/>
        </p:spPr>
        <p:txBody>
          <a:bodyPr wrap="square" lIns="0" tIns="0" rIns="0" bIns="0" rtlCol="0" anchor="t"/>
          <a:lstStyle/>
          <a:p>
            <a:pPr indent="0" marL="0">
              <a:lnSpc>
                <a:spcPts val="5050"/>
              </a:lnSpc>
              <a:buNone/>
            </a:pPr>
            <a:r>
              <a:rPr lang="en-US" sz="4050" b="1" spc="-122" kern="0" dirty="0">
                <a:solidFill>
                  <a:srgbClr val="000000"/>
                </a:solidFill>
                <a:latin typeface="Inter Bold" pitchFamily="34" charset="0"/>
                <a:ea typeface="Inter Bold" pitchFamily="34" charset="-122"/>
                <a:cs typeface="Inter Bold" pitchFamily="34" charset="-120"/>
              </a:rPr>
              <a:t>Identificación de problemas de concurrencia</a:t>
            </a:r>
            <a:endParaRPr lang="en-US" sz="4050" dirty="0"/>
          </a:p>
        </p:txBody>
      </p:sp>
      <p:sp>
        <p:nvSpPr>
          <p:cNvPr id="4" name="Shape 1"/>
          <p:cNvSpPr/>
          <p:nvPr/>
        </p:nvSpPr>
        <p:spPr>
          <a:xfrm>
            <a:off x="723305" y="2283976"/>
            <a:ext cx="3745468" cy="2528411"/>
          </a:xfrm>
          <a:prstGeom prst="roundRect">
            <a:avLst>
              <a:gd name="adj" fmla="val 3433"/>
            </a:avLst>
          </a:prstGeom>
          <a:solidFill>
            <a:srgbClr val="DADBF1"/>
          </a:solidFill>
          <a:ln w="7620">
            <a:solidFill>
              <a:srgbClr val="C0C1D7"/>
            </a:solidFill>
            <a:prstDash val="solid"/>
          </a:ln>
        </p:spPr>
      </p:sp>
      <p:sp>
        <p:nvSpPr>
          <p:cNvPr id="5" name="Text 2"/>
          <p:cNvSpPr/>
          <p:nvPr/>
        </p:nvSpPr>
        <p:spPr>
          <a:xfrm>
            <a:off x="937498" y="2498169"/>
            <a:ext cx="2583418"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Bloqueos</a:t>
            </a:r>
            <a:endParaRPr lang="en-US" sz="2000" dirty="0"/>
          </a:p>
        </p:txBody>
      </p:sp>
      <p:sp>
        <p:nvSpPr>
          <p:cNvPr id="6" name="Text 3"/>
          <p:cNvSpPr/>
          <p:nvPr/>
        </p:nvSpPr>
        <p:spPr>
          <a:xfrm>
            <a:off x="937498" y="2945011"/>
            <a:ext cx="3317081" cy="1653183"/>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Identificar situaciones donde las transacciones se bloquean mutuamente y no pueden progresar, lo que genera demoras e ineficiencias.</a:t>
            </a:r>
            <a:endParaRPr lang="en-US" sz="1600" dirty="0"/>
          </a:p>
        </p:txBody>
      </p:sp>
      <p:sp>
        <p:nvSpPr>
          <p:cNvPr id="7" name="Shape 4"/>
          <p:cNvSpPr/>
          <p:nvPr/>
        </p:nvSpPr>
        <p:spPr>
          <a:xfrm>
            <a:off x="4675346" y="2283976"/>
            <a:ext cx="3745468" cy="2528411"/>
          </a:xfrm>
          <a:prstGeom prst="roundRect">
            <a:avLst>
              <a:gd name="adj" fmla="val 3433"/>
            </a:avLst>
          </a:prstGeom>
          <a:solidFill>
            <a:srgbClr val="DADBF1"/>
          </a:solidFill>
          <a:ln w="7620">
            <a:solidFill>
              <a:srgbClr val="C0C1D7"/>
            </a:solidFill>
            <a:prstDash val="solid"/>
          </a:ln>
        </p:spPr>
      </p:sp>
      <p:sp>
        <p:nvSpPr>
          <p:cNvPr id="8" name="Text 5"/>
          <p:cNvSpPr/>
          <p:nvPr/>
        </p:nvSpPr>
        <p:spPr>
          <a:xfrm>
            <a:off x="4889540" y="2498169"/>
            <a:ext cx="2583418"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Lectura sucia</a:t>
            </a:r>
            <a:endParaRPr lang="en-US" sz="2000" dirty="0"/>
          </a:p>
        </p:txBody>
      </p:sp>
      <p:sp>
        <p:nvSpPr>
          <p:cNvPr id="9" name="Text 6"/>
          <p:cNvSpPr/>
          <p:nvPr/>
        </p:nvSpPr>
        <p:spPr>
          <a:xfrm>
            <a:off x="4889540" y="2945011"/>
            <a:ext cx="3317081" cy="1653183"/>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Detectar cuando una transacción lee datos que han sido modificados por otra transacción sin confirmar, lo que puede llevar a resultados incorrectos.</a:t>
            </a:r>
            <a:endParaRPr lang="en-US" sz="1600" dirty="0"/>
          </a:p>
        </p:txBody>
      </p:sp>
      <p:sp>
        <p:nvSpPr>
          <p:cNvPr id="10" name="Shape 7"/>
          <p:cNvSpPr/>
          <p:nvPr/>
        </p:nvSpPr>
        <p:spPr>
          <a:xfrm>
            <a:off x="723305" y="5018961"/>
            <a:ext cx="3745468" cy="2528411"/>
          </a:xfrm>
          <a:prstGeom prst="roundRect">
            <a:avLst>
              <a:gd name="adj" fmla="val 3433"/>
            </a:avLst>
          </a:prstGeom>
          <a:solidFill>
            <a:srgbClr val="DADBF1"/>
          </a:solidFill>
          <a:ln w="7620">
            <a:solidFill>
              <a:srgbClr val="C0C1D7"/>
            </a:solidFill>
            <a:prstDash val="solid"/>
          </a:ln>
        </p:spPr>
      </p:sp>
      <p:sp>
        <p:nvSpPr>
          <p:cNvPr id="11" name="Text 8"/>
          <p:cNvSpPr/>
          <p:nvPr/>
        </p:nvSpPr>
        <p:spPr>
          <a:xfrm>
            <a:off x="937498" y="5233154"/>
            <a:ext cx="3173135"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Anomalías de serialización</a:t>
            </a:r>
            <a:endParaRPr lang="en-US" sz="2000" dirty="0"/>
          </a:p>
        </p:txBody>
      </p:sp>
      <p:sp>
        <p:nvSpPr>
          <p:cNvPr id="12" name="Text 9"/>
          <p:cNvSpPr/>
          <p:nvPr/>
        </p:nvSpPr>
        <p:spPr>
          <a:xfrm>
            <a:off x="937498" y="5679996"/>
            <a:ext cx="3317081" cy="1653183"/>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Reconocer situaciones donde el orden de ejecución de las transacciones no se respeta, generando resultados inconsistentes.</a:t>
            </a:r>
            <a:endParaRPr lang="en-US" sz="1600" dirty="0"/>
          </a:p>
        </p:txBody>
      </p:sp>
      <p:sp>
        <p:nvSpPr>
          <p:cNvPr id="13" name="Shape 10"/>
          <p:cNvSpPr/>
          <p:nvPr/>
        </p:nvSpPr>
        <p:spPr>
          <a:xfrm>
            <a:off x="4675346" y="5018961"/>
            <a:ext cx="3745468" cy="2528411"/>
          </a:xfrm>
          <a:prstGeom prst="roundRect">
            <a:avLst>
              <a:gd name="adj" fmla="val 3433"/>
            </a:avLst>
          </a:prstGeom>
          <a:solidFill>
            <a:srgbClr val="DADBF1"/>
          </a:solidFill>
          <a:ln w="7620">
            <a:solidFill>
              <a:srgbClr val="C0C1D7"/>
            </a:solidFill>
            <a:prstDash val="solid"/>
          </a:ln>
        </p:spPr>
      </p:sp>
      <p:sp>
        <p:nvSpPr>
          <p:cNvPr id="14" name="Text 11"/>
          <p:cNvSpPr/>
          <p:nvPr/>
        </p:nvSpPr>
        <p:spPr>
          <a:xfrm>
            <a:off x="4889540" y="5233154"/>
            <a:ext cx="2583418" cy="322898"/>
          </a:xfrm>
          <a:prstGeom prst="rect">
            <a:avLst/>
          </a:prstGeom>
          <a:noFill/>
          <a:ln/>
        </p:spPr>
        <p:txBody>
          <a:bodyPr wrap="none" lIns="0" tIns="0" rIns="0" bIns="0" rtlCol="0" anchor="t"/>
          <a:lstStyle/>
          <a:p>
            <a:pPr indent="0" marL="0">
              <a:lnSpc>
                <a:spcPts val="2500"/>
              </a:lnSpc>
              <a:buNone/>
            </a:pPr>
            <a:r>
              <a:rPr lang="en-US" sz="2000" b="1" spc="-61" kern="0" dirty="0">
                <a:solidFill>
                  <a:srgbClr val="272525"/>
                </a:solidFill>
                <a:latin typeface="Inter Bold" pitchFamily="34" charset="0"/>
                <a:ea typeface="Inter Bold" pitchFamily="34" charset="-122"/>
                <a:cs typeface="Inter Bold" pitchFamily="34" charset="-120"/>
              </a:rPr>
              <a:t>Deadlocks</a:t>
            </a:r>
            <a:endParaRPr lang="en-US" sz="2000" dirty="0"/>
          </a:p>
        </p:txBody>
      </p:sp>
      <p:sp>
        <p:nvSpPr>
          <p:cNvPr id="15" name="Text 12"/>
          <p:cNvSpPr/>
          <p:nvPr/>
        </p:nvSpPr>
        <p:spPr>
          <a:xfrm>
            <a:off x="4889540" y="5679996"/>
            <a:ext cx="3317081" cy="1322546"/>
          </a:xfrm>
          <a:prstGeom prst="rect">
            <a:avLst/>
          </a:prstGeom>
          <a:noFill/>
          <a:ln/>
        </p:spPr>
        <p:txBody>
          <a:bodyPr wrap="square" lIns="0" tIns="0" rIns="0" bIns="0" rtlCol="0" anchor="t"/>
          <a:lstStyle/>
          <a:p>
            <a:pPr indent="0" marL="0">
              <a:lnSpc>
                <a:spcPts val="2600"/>
              </a:lnSpc>
              <a:buNone/>
            </a:pPr>
            <a:r>
              <a:rPr lang="en-US" sz="1600" spc="-33" kern="0" dirty="0">
                <a:solidFill>
                  <a:srgbClr val="272525"/>
                </a:solidFill>
                <a:latin typeface="Inter" pitchFamily="34" charset="0"/>
                <a:ea typeface="Inter" pitchFamily="34" charset="-122"/>
                <a:cs typeface="Inter" pitchFamily="34" charset="-120"/>
              </a:rPr>
              <a:t>Identificar ciclos de bloqueo donde las transacciones se esperan mutuamente, provocando que el sistema se detenga.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826776"/>
            <a:ext cx="1200804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Manejo de concurrencia: soluciones prácticas</a:t>
            </a:r>
            <a:endParaRPr lang="en-US" sz="4450" dirty="0"/>
          </a:p>
        </p:txBody>
      </p:sp>
      <p:sp>
        <p:nvSpPr>
          <p:cNvPr id="3" name="Text 1"/>
          <p:cNvSpPr/>
          <p:nvPr/>
        </p:nvSpPr>
        <p:spPr>
          <a:xfrm>
            <a:off x="793790" y="2989183"/>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Para manejar eficazmente los problemas de concurrencia en sistemas de bases de datos, se deben implementar soluciones prácticas que aborden los desafíos clave. Esto incluye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técnicas de bloqueo</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para controlar el acceso concurrente a los recursos compartidos, así como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mecanismos de detección y resolución de deadlocks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para evitar bloqueos permanentes.</a:t>
            </a:r>
            <a:endParaRPr lang="en-US" sz="1750" dirty="0"/>
          </a:p>
        </p:txBody>
      </p:sp>
      <p:sp>
        <p:nvSpPr>
          <p:cNvPr id="4" name="Text 2"/>
          <p:cNvSpPr/>
          <p:nvPr/>
        </p:nvSpPr>
        <p:spPr>
          <a:xfrm>
            <a:off x="793790" y="4333042"/>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Además, es crucial establecer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niveles de aislamiento adecuados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entre las transacciones para garantizar la integridad de los datos, sin comprometer el rendimiento. Herramientas como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puntos de guardado y rollbacks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permiten recuperar transacciones fallidas de manera eficiente.</a:t>
            </a:r>
            <a:endParaRPr lang="en-US" sz="1750" dirty="0"/>
          </a:p>
        </p:txBody>
      </p:sp>
      <p:sp>
        <p:nvSpPr>
          <p:cNvPr id="5" name="Text 3"/>
          <p:cNvSpPr/>
          <p:nvPr/>
        </p:nvSpPr>
        <p:spPr>
          <a:xfrm>
            <a:off x="793790" y="5676900"/>
            <a:ext cx="13042821" cy="72580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Finalmente, la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optimización del rendimiento</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a través de técnicas como la indexación y la planificación de consultas es fundamental para garantizar una alta disponibilidad y capacidad de respuesta en entornos con alta concurrencia.</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11862" y="521613"/>
            <a:ext cx="6830973" cy="546259"/>
          </a:xfrm>
          <a:prstGeom prst="rect">
            <a:avLst/>
          </a:prstGeom>
          <a:noFill/>
          <a:ln/>
        </p:spPr>
        <p:txBody>
          <a:bodyPr wrap="none" lIns="0" tIns="0" rIns="0" bIns="0" rtlCol="0" anchor="t"/>
          <a:lstStyle/>
          <a:p>
            <a:pPr indent="0" marL="0">
              <a:lnSpc>
                <a:spcPts val="4300"/>
              </a:lnSpc>
              <a:buNone/>
            </a:pPr>
            <a:r>
              <a:rPr lang="en-US" sz="3400" b="1" spc="-103" kern="0" dirty="0">
                <a:solidFill>
                  <a:srgbClr val="000000"/>
                </a:solidFill>
                <a:latin typeface="Inter Bold" pitchFamily="34" charset="0"/>
                <a:ea typeface="Inter Bold" pitchFamily="34" charset="-122"/>
                <a:cs typeface="Inter Bold" pitchFamily="34" charset="-120"/>
              </a:rPr>
              <a:t>Conclusiones y recomendaciones</a:t>
            </a:r>
            <a:endParaRPr lang="en-US" sz="3400" dirty="0"/>
          </a:p>
        </p:txBody>
      </p:sp>
      <p:pic>
        <p:nvPicPr>
          <p:cNvPr id="3" name="Image 0" descr="preencoded.png">    </p:cNvPr>
          <p:cNvPicPr>
            <a:picLocks noChangeAspect="1"/>
          </p:cNvPicPr>
          <p:nvPr/>
        </p:nvPicPr>
        <p:blipFill>
          <a:blip r:embed="rId1"/>
          <a:stretch>
            <a:fillRect/>
          </a:stretch>
        </p:blipFill>
        <p:spPr>
          <a:xfrm>
            <a:off x="611862" y="1417439"/>
            <a:ext cx="4294108" cy="2653903"/>
          </a:xfrm>
          <a:prstGeom prst="rect">
            <a:avLst/>
          </a:prstGeom>
        </p:spPr>
      </p:pic>
      <p:sp>
        <p:nvSpPr>
          <p:cNvPr id="4" name="Text 1"/>
          <p:cNvSpPr/>
          <p:nvPr/>
        </p:nvSpPr>
        <p:spPr>
          <a:xfrm>
            <a:off x="611862" y="4289822"/>
            <a:ext cx="2185511" cy="273248"/>
          </a:xfrm>
          <a:prstGeom prst="rect">
            <a:avLst/>
          </a:prstGeom>
          <a:noFill/>
          <a:ln/>
        </p:spPr>
        <p:txBody>
          <a:bodyPr wrap="none" lIns="0" tIns="0" rIns="0" bIns="0" rtlCol="0" anchor="t"/>
          <a:lstStyle/>
          <a:p>
            <a:pPr algn="l" indent="0" marL="0">
              <a:lnSpc>
                <a:spcPts val="2150"/>
              </a:lnSpc>
              <a:buNone/>
            </a:pPr>
            <a:r>
              <a:rPr lang="en-US" sz="1700" b="1" spc="-52" kern="0" dirty="0">
                <a:solidFill>
                  <a:srgbClr val="272525"/>
                </a:solidFill>
                <a:latin typeface="Inter Bold" pitchFamily="34" charset="0"/>
                <a:ea typeface="Inter Bold" pitchFamily="34" charset="-122"/>
                <a:cs typeface="Inter Bold" pitchFamily="34" charset="-120"/>
              </a:rPr>
              <a:t>Conclusiones Clave</a:t>
            </a:r>
            <a:endParaRPr lang="en-US" sz="1700" dirty="0"/>
          </a:p>
        </p:txBody>
      </p:sp>
      <p:sp>
        <p:nvSpPr>
          <p:cNvPr id="5" name="Text 2"/>
          <p:cNvSpPr/>
          <p:nvPr/>
        </p:nvSpPr>
        <p:spPr>
          <a:xfrm>
            <a:off x="611862" y="4667964"/>
            <a:ext cx="4294108" cy="1118235"/>
          </a:xfrm>
          <a:prstGeom prst="rect">
            <a:avLst/>
          </a:prstGeom>
          <a:noFill/>
          <a:ln/>
        </p:spPr>
        <p:txBody>
          <a:bodyPr wrap="square" lIns="0" tIns="0" rIns="0" bIns="0" rtlCol="0" anchor="t"/>
          <a:lstStyle/>
          <a:p>
            <a:pPr algn="l" indent="0" marL="0">
              <a:lnSpc>
                <a:spcPts val="2200"/>
              </a:lnSpc>
              <a:buNone/>
            </a:pPr>
            <a:r>
              <a:rPr lang="en-US" sz="1350" spc="-28" kern="0" dirty="0">
                <a:solidFill>
                  <a:srgbClr val="272525"/>
                </a:solidFill>
                <a:latin typeface="Inter" pitchFamily="34" charset="0"/>
                <a:ea typeface="Inter" pitchFamily="34" charset="-122"/>
                <a:cs typeface="Inter" pitchFamily="34" charset="-120"/>
              </a:rPr>
              <a:t>La gestión efectiva de la concurrencia y la optimización de transacciones son fundamentales para garantizar la integridad y el rendimiento de los sistemas de bases de datos.</a:t>
            </a:r>
            <a:endParaRPr lang="en-US" sz="1350" dirty="0"/>
          </a:p>
        </p:txBody>
      </p:sp>
      <p:pic>
        <p:nvPicPr>
          <p:cNvPr id="6" name="Image 1" descr="preencoded.png">    </p:cNvPr>
          <p:cNvPicPr>
            <a:picLocks noChangeAspect="1"/>
          </p:cNvPicPr>
          <p:nvPr/>
        </p:nvPicPr>
        <p:blipFill>
          <a:blip r:embed="rId2"/>
          <a:stretch>
            <a:fillRect/>
          </a:stretch>
        </p:blipFill>
        <p:spPr>
          <a:xfrm>
            <a:off x="5168146" y="1417439"/>
            <a:ext cx="4294108" cy="2653903"/>
          </a:xfrm>
          <a:prstGeom prst="rect">
            <a:avLst/>
          </a:prstGeom>
        </p:spPr>
      </p:pic>
      <p:sp>
        <p:nvSpPr>
          <p:cNvPr id="7" name="Text 3"/>
          <p:cNvSpPr/>
          <p:nvPr/>
        </p:nvSpPr>
        <p:spPr>
          <a:xfrm>
            <a:off x="5168146" y="4289822"/>
            <a:ext cx="2863810" cy="273248"/>
          </a:xfrm>
          <a:prstGeom prst="rect">
            <a:avLst/>
          </a:prstGeom>
          <a:noFill/>
          <a:ln/>
        </p:spPr>
        <p:txBody>
          <a:bodyPr wrap="none" lIns="0" tIns="0" rIns="0" bIns="0" rtlCol="0" anchor="t"/>
          <a:lstStyle/>
          <a:p>
            <a:pPr algn="l" indent="0" marL="0">
              <a:lnSpc>
                <a:spcPts val="2150"/>
              </a:lnSpc>
              <a:buNone/>
            </a:pPr>
            <a:r>
              <a:rPr lang="en-US" sz="1700" b="1" spc="-52" kern="0" dirty="0">
                <a:solidFill>
                  <a:srgbClr val="272525"/>
                </a:solidFill>
                <a:latin typeface="Inter Bold" pitchFamily="34" charset="0"/>
                <a:ea typeface="Inter Bold" pitchFamily="34" charset="-122"/>
                <a:cs typeface="Inter Bold" pitchFamily="34" charset="-120"/>
              </a:rPr>
              <a:t>Recomendaciones Prácticas</a:t>
            </a:r>
            <a:endParaRPr lang="en-US" sz="1700" dirty="0"/>
          </a:p>
        </p:txBody>
      </p:sp>
      <p:sp>
        <p:nvSpPr>
          <p:cNvPr id="8" name="Text 4"/>
          <p:cNvSpPr/>
          <p:nvPr/>
        </p:nvSpPr>
        <p:spPr>
          <a:xfrm>
            <a:off x="5168146" y="4667964"/>
            <a:ext cx="4294108" cy="559118"/>
          </a:xfrm>
          <a:prstGeom prst="rect">
            <a:avLst/>
          </a:prstGeom>
          <a:noFill/>
          <a:ln/>
        </p:spPr>
        <p:txBody>
          <a:bodyPr wrap="square" lIns="0" tIns="0" rIns="0" bIns="0" rtlCol="0" anchor="t"/>
          <a:lstStyle/>
          <a:p>
            <a:pPr algn="l" marL="342900" indent="-342900">
              <a:lnSpc>
                <a:spcPts val="2200"/>
              </a:lnSpc>
              <a:buSzPct val="100000"/>
              <a:buChar char="•"/>
            </a:pPr>
            <a:r>
              <a:rPr lang="en-US" sz="1350" spc="-28" kern="0" dirty="0">
                <a:solidFill>
                  <a:srgbClr val="272525"/>
                </a:solidFill>
                <a:latin typeface="Inter" pitchFamily="34" charset="0"/>
                <a:ea typeface="Inter" pitchFamily="34" charset="-122"/>
                <a:cs typeface="Inter" pitchFamily="34" charset="-120"/>
              </a:rPr>
              <a:t>Implementar técnicas de control de concurrencia como bloqueos y control de tiempo de acceso</a:t>
            </a:r>
            <a:endParaRPr lang="en-US" sz="1350" dirty="0"/>
          </a:p>
        </p:txBody>
      </p:sp>
      <p:sp>
        <p:nvSpPr>
          <p:cNvPr id="9" name="Text 5"/>
          <p:cNvSpPr/>
          <p:nvPr/>
        </p:nvSpPr>
        <p:spPr>
          <a:xfrm>
            <a:off x="5168146" y="5288161"/>
            <a:ext cx="4294108" cy="559118"/>
          </a:xfrm>
          <a:prstGeom prst="rect">
            <a:avLst/>
          </a:prstGeom>
          <a:noFill/>
          <a:ln/>
        </p:spPr>
        <p:txBody>
          <a:bodyPr wrap="square" lIns="0" tIns="0" rIns="0" bIns="0" rtlCol="0" anchor="t"/>
          <a:lstStyle/>
          <a:p>
            <a:pPr algn="l" marL="342900" indent="-342900">
              <a:lnSpc>
                <a:spcPts val="2200"/>
              </a:lnSpc>
              <a:buSzPct val="100000"/>
              <a:buChar char="•"/>
            </a:pPr>
            <a:r>
              <a:rPr lang="en-US" sz="1350" spc="-28" kern="0" dirty="0">
                <a:solidFill>
                  <a:srgbClr val="272525"/>
                </a:solidFill>
                <a:latin typeface="Inter" pitchFamily="34" charset="0"/>
                <a:ea typeface="Inter" pitchFamily="34" charset="-122"/>
                <a:cs typeface="Inter" pitchFamily="34" charset="-120"/>
              </a:rPr>
              <a:t>Ajustar los niveles de aislamiento según los requisitos del negocio</a:t>
            </a:r>
            <a:endParaRPr lang="en-US" sz="1350" dirty="0"/>
          </a:p>
        </p:txBody>
      </p:sp>
      <p:sp>
        <p:nvSpPr>
          <p:cNvPr id="10" name="Text 6"/>
          <p:cNvSpPr/>
          <p:nvPr/>
        </p:nvSpPr>
        <p:spPr>
          <a:xfrm>
            <a:off x="5168146" y="5908358"/>
            <a:ext cx="4294108" cy="559118"/>
          </a:xfrm>
          <a:prstGeom prst="rect">
            <a:avLst/>
          </a:prstGeom>
          <a:noFill/>
          <a:ln/>
        </p:spPr>
        <p:txBody>
          <a:bodyPr wrap="square" lIns="0" tIns="0" rIns="0" bIns="0" rtlCol="0" anchor="t"/>
          <a:lstStyle/>
          <a:p>
            <a:pPr algn="l" marL="342900" indent="-342900">
              <a:lnSpc>
                <a:spcPts val="2200"/>
              </a:lnSpc>
              <a:buSzPct val="100000"/>
              <a:buChar char="•"/>
            </a:pPr>
            <a:r>
              <a:rPr lang="en-US" sz="1350" spc="-28" kern="0" dirty="0">
                <a:solidFill>
                  <a:srgbClr val="272525"/>
                </a:solidFill>
                <a:latin typeface="Inter" pitchFamily="34" charset="0"/>
                <a:ea typeface="Inter" pitchFamily="34" charset="-122"/>
                <a:cs typeface="Inter" pitchFamily="34" charset="-120"/>
              </a:rPr>
              <a:t>Utilizar puntos de guardado y rollbacks para la recuperación de transacciones</a:t>
            </a:r>
            <a:endParaRPr lang="en-US" sz="1350" dirty="0"/>
          </a:p>
        </p:txBody>
      </p:sp>
      <p:sp>
        <p:nvSpPr>
          <p:cNvPr id="11" name="Text 7"/>
          <p:cNvSpPr/>
          <p:nvPr/>
        </p:nvSpPr>
        <p:spPr>
          <a:xfrm>
            <a:off x="5168146" y="6528554"/>
            <a:ext cx="4294108" cy="559118"/>
          </a:xfrm>
          <a:prstGeom prst="rect">
            <a:avLst/>
          </a:prstGeom>
          <a:noFill/>
          <a:ln/>
        </p:spPr>
        <p:txBody>
          <a:bodyPr wrap="square" lIns="0" tIns="0" rIns="0" bIns="0" rtlCol="0" anchor="t"/>
          <a:lstStyle/>
          <a:p>
            <a:pPr algn="l" marL="342900" indent="-342900">
              <a:lnSpc>
                <a:spcPts val="2200"/>
              </a:lnSpc>
              <a:buSzPct val="100000"/>
              <a:buChar char="•"/>
            </a:pPr>
            <a:r>
              <a:rPr lang="en-US" sz="1350" spc="-28" kern="0" dirty="0">
                <a:solidFill>
                  <a:srgbClr val="272525"/>
                </a:solidFill>
                <a:latin typeface="Inter" pitchFamily="34" charset="0"/>
                <a:ea typeface="Inter" pitchFamily="34" charset="-122"/>
                <a:cs typeface="Inter" pitchFamily="34" charset="-120"/>
              </a:rPr>
              <a:t>Optimizar el diseño de las transacciones para mejorar el rendimiento</a:t>
            </a:r>
            <a:endParaRPr lang="en-US" sz="1350" dirty="0"/>
          </a:p>
        </p:txBody>
      </p:sp>
      <p:sp>
        <p:nvSpPr>
          <p:cNvPr id="12" name="Text 8"/>
          <p:cNvSpPr/>
          <p:nvPr/>
        </p:nvSpPr>
        <p:spPr>
          <a:xfrm>
            <a:off x="5168146" y="7148751"/>
            <a:ext cx="4294108" cy="559118"/>
          </a:xfrm>
          <a:prstGeom prst="rect">
            <a:avLst/>
          </a:prstGeom>
          <a:noFill/>
          <a:ln/>
        </p:spPr>
        <p:txBody>
          <a:bodyPr wrap="square" lIns="0" tIns="0" rIns="0" bIns="0" rtlCol="0" anchor="t"/>
          <a:lstStyle/>
          <a:p>
            <a:pPr algn="l" marL="342900" indent="-342900">
              <a:lnSpc>
                <a:spcPts val="2200"/>
              </a:lnSpc>
              <a:buSzPct val="100000"/>
              <a:buChar char="•"/>
            </a:pPr>
            <a:r>
              <a:rPr lang="en-US" sz="1350" spc="-28" kern="0" dirty="0">
                <a:solidFill>
                  <a:srgbClr val="272525"/>
                </a:solidFill>
                <a:latin typeface="Inter" pitchFamily="34" charset="0"/>
                <a:ea typeface="Inter" pitchFamily="34" charset="-122"/>
                <a:cs typeface="Inter" pitchFamily="34" charset="-120"/>
              </a:rPr>
              <a:t>Abordar los desafíos de las transacciones distribuidas de manera coordinada</a:t>
            </a:r>
            <a:endParaRPr lang="en-US" sz="1350" dirty="0"/>
          </a:p>
        </p:txBody>
      </p:sp>
      <p:pic>
        <p:nvPicPr>
          <p:cNvPr id="13" name="Image 2" descr="preencoded.png">    </p:cNvPr>
          <p:cNvPicPr>
            <a:picLocks noChangeAspect="1"/>
          </p:cNvPicPr>
          <p:nvPr/>
        </p:nvPicPr>
        <p:blipFill>
          <a:blip r:embed="rId3"/>
          <a:stretch>
            <a:fillRect/>
          </a:stretch>
        </p:blipFill>
        <p:spPr>
          <a:xfrm>
            <a:off x="9724430" y="1417439"/>
            <a:ext cx="4294108" cy="2653903"/>
          </a:xfrm>
          <a:prstGeom prst="rect">
            <a:avLst/>
          </a:prstGeom>
        </p:spPr>
      </p:pic>
      <p:sp>
        <p:nvSpPr>
          <p:cNvPr id="14" name="Text 9"/>
          <p:cNvSpPr/>
          <p:nvPr/>
        </p:nvSpPr>
        <p:spPr>
          <a:xfrm>
            <a:off x="9724430" y="4289822"/>
            <a:ext cx="2185511" cy="273248"/>
          </a:xfrm>
          <a:prstGeom prst="rect">
            <a:avLst/>
          </a:prstGeom>
          <a:noFill/>
          <a:ln/>
        </p:spPr>
        <p:txBody>
          <a:bodyPr wrap="none" lIns="0" tIns="0" rIns="0" bIns="0" rtlCol="0" anchor="t"/>
          <a:lstStyle/>
          <a:p>
            <a:pPr algn="l" indent="0" marL="0">
              <a:lnSpc>
                <a:spcPts val="2150"/>
              </a:lnSpc>
              <a:buNone/>
            </a:pPr>
            <a:r>
              <a:rPr lang="en-US" sz="1700" b="1" spc="-52" kern="0" dirty="0">
                <a:solidFill>
                  <a:srgbClr val="272525"/>
                </a:solidFill>
                <a:latin typeface="Inter Bold" pitchFamily="34" charset="0"/>
                <a:ea typeface="Inter Bold" pitchFamily="34" charset="-122"/>
                <a:cs typeface="Inter Bold" pitchFamily="34" charset="-120"/>
              </a:rPr>
              <a:t>Resumen</a:t>
            </a:r>
            <a:endParaRPr lang="en-US" sz="1700" dirty="0"/>
          </a:p>
        </p:txBody>
      </p:sp>
      <p:sp>
        <p:nvSpPr>
          <p:cNvPr id="15" name="Text 10"/>
          <p:cNvSpPr/>
          <p:nvPr/>
        </p:nvSpPr>
        <p:spPr>
          <a:xfrm>
            <a:off x="9724430" y="4667964"/>
            <a:ext cx="4294108" cy="1118235"/>
          </a:xfrm>
          <a:prstGeom prst="rect">
            <a:avLst/>
          </a:prstGeom>
          <a:noFill/>
          <a:ln/>
        </p:spPr>
        <p:txBody>
          <a:bodyPr wrap="square" lIns="0" tIns="0" rIns="0" bIns="0" rtlCol="0" anchor="t"/>
          <a:lstStyle/>
          <a:p>
            <a:pPr algn="l" indent="0" marL="0">
              <a:lnSpc>
                <a:spcPts val="2200"/>
              </a:lnSpc>
              <a:buNone/>
            </a:pPr>
            <a:r>
              <a:rPr lang="en-US" sz="1350" spc="-28" kern="0" dirty="0">
                <a:solidFill>
                  <a:srgbClr val="272525"/>
                </a:solidFill>
                <a:latin typeface="Inter" pitchFamily="34" charset="0"/>
                <a:ea typeface="Inter" pitchFamily="34" charset="-122"/>
                <a:cs typeface="Inter" pitchFamily="34" charset="-120"/>
              </a:rPr>
              <a:t>Al aplicar estas estrategias, los sistemas de bases de datos podrán mantener la integridad de los datos y ofrecer un rendimiento óptimo, satisfaciendo las necesidades de los usuarios finales.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2024-11-05T06:50:02Z</dcterms:created>
  <dcterms:modified xsi:type="dcterms:W3CDTF">2024-11-05T06:50:02Z</dcterms:modified>
</cp:coreProperties>
</file>