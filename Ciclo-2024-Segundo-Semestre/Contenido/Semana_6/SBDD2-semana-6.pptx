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4630400" cy="8229600"/>
  <p:notesSz cx="8229600" cy="14630400"/>
  <p:embeddedFontLst>
    <p:embeddedFont>
      <p:font typeface="PT Serif"/>
      <p:regular r:id="rId22"/>
    </p:embeddedFont>
    <p:embeddedFont>
      <p:font typeface="PT Serif"/>
      <p:regular r:id="rId23"/>
    </p:embeddedFont>
    <p:embeddedFont>
      <p:font typeface="PT Serif"/>
      <p:regular r:id="rId24"/>
    </p:embeddedFont>
    <p:embeddedFont>
      <p:font typeface="PT Serif"/>
      <p:regular r:id="rId25"/>
    </p:embeddedFont>
    <p:embeddedFont>
      <p:font typeface="DM Sans"/>
      <p:regular r:id="rId26"/>
    </p:embeddedFont>
    <p:embeddedFont>
      <p:font typeface="DM Sans"/>
      <p:regular r:id="rId27"/>
    </p:embeddedFont>
    <p:embeddedFont>
      <p:font typeface="DM Sans"/>
      <p:regular r:id="rId28"/>
    </p:embeddedFont>
    <p:embeddedFont>
      <p:font typeface="DM Sans"/>
      <p:regular r:id="rId2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font" Target="fonts/font1.fntdata"/><Relationship Id="rId23" Type="http://schemas.openxmlformats.org/officeDocument/2006/relationships/font" Target="fonts/font2.fntdata"/><Relationship Id="rId24" Type="http://schemas.openxmlformats.org/officeDocument/2006/relationships/font" Target="fonts/font3.fntdata"/><Relationship Id="rId25" Type="http://schemas.openxmlformats.org/officeDocument/2006/relationships/font" Target="fonts/font4.fntdata"/><Relationship Id="rId26" Type="http://schemas.openxmlformats.org/officeDocument/2006/relationships/font" Target="fonts/font5.fntdata"/><Relationship Id="rId27" Type="http://schemas.openxmlformats.org/officeDocument/2006/relationships/font" Target="fonts/font6.fntdata"/><Relationship Id="rId28" Type="http://schemas.openxmlformats.org/officeDocument/2006/relationships/font" Target="fonts/font7.fntdata"/><Relationship Id="rId29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9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0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6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488" y="2708672"/>
            <a:ext cx="4919305" cy="281225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1776532"/>
            <a:ext cx="7556421" cy="2232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Implementación de Réplicas en Bases de Datos Distribuidas</a:t>
            </a:r>
            <a:endParaRPr lang="en-US" sz="4650" dirty="0"/>
          </a:p>
        </p:txBody>
      </p:sp>
      <p:sp>
        <p:nvSpPr>
          <p:cNvPr id="5" name="Text 1"/>
          <p:cNvSpPr/>
          <p:nvPr/>
        </p:nvSpPr>
        <p:spPr>
          <a:xfrm>
            <a:off x="793790" y="4349472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Exploraremos los conceptos clave de la replicación de bases de datos, incluyendo tipos, casos de uso, técnicas de integridad de datos y su aplicación práctica en sistemas de gestión de bases de datos como MySQL y PostgreSQL.</a:t>
            </a:r>
            <a:endParaRPr lang="en-US" sz="1750" dirty="0"/>
          </a:p>
        </p:txBody>
      </p:sp>
      <p:sp>
        <p:nvSpPr>
          <p:cNvPr id="6" name="Shape 2"/>
          <p:cNvSpPr/>
          <p:nvPr/>
        </p:nvSpPr>
        <p:spPr>
          <a:xfrm>
            <a:off x="793790" y="6073140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410" y="6080760"/>
            <a:ext cx="347663" cy="34766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70040" y="6056233"/>
            <a:ext cx="6171843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por DIEGO ANDRE MAZARIEGOS BARRIENTOS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607" y="2796778"/>
            <a:ext cx="4919186" cy="26359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80190" y="699849"/>
            <a:ext cx="6056709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¿Qué es la replicación?</a:t>
            </a:r>
            <a:endParaRPr lang="en-US" sz="4650" dirty="0"/>
          </a:p>
        </p:txBody>
      </p:sp>
      <p:sp>
        <p:nvSpPr>
          <p:cNvPr id="5" name="Shape 1"/>
          <p:cNvSpPr/>
          <p:nvPr/>
        </p:nvSpPr>
        <p:spPr>
          <a:xfrm>
            <a:off x="6280190" y="203942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6" name="Text 2"/>
          <p:cNvSpPr/>
          <p:nvPr/>
        </p:nvSpPr>
        <p:spPr>
          <a:xfrm>
            <a:off x="6440091" y="2115860"/>
            <a:ext cx="190381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7017306" y="2039422"/>
            <a:ext cx="292774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Definición</a:t>
            </a:r>
            <a:endParaRPr lang="en-US" sz="2300" dirty="0"/>
          </a:p>
        </p:txBody>
      </p:sp>
      <p:sp>
        <p:nvSpPr>
          <p:cNvPr id="8" name="Text 4"/>
          <p:cNvSpPr/>
          <p:nvPr/>
        </p:nvSpPr>
        <p:spPr>
          <a:xfrm>
            <a:off x="7017306" y="2547580"/>
            <a:ext cx="292774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replicación es el proceso de mantener múltiples copias sincronizadas de datos en diferentes ubicaciones o servidores.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10171867" y="203942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0" name="Text 6"/>
          <p:cNvSpPr/>
          <p:nvPr/>
        </p:nvSpPr>
        <p:spPr>
          <a:xfrm>
            <a:off x="10331768" y="2115860"/>
            <a:ext cx="190381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7"/>
          <p:cNvSpPr/>
          <p:nvPr/>
        </p:nvSpPr>
        <p:spPr>
          <a:xfrm>
            <a:off x="10908983" y="2039422"/>
            <a:ext cx="292774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Objetivo</a:t>
            </a:r>
            <a:endParaRPr lang="en-US" sz="2300" dirty="0"/>
          </a:p>
        </p:txBody>
      </p:sp>
      <p:sp>
        <p:nvSpPr>
          <p:cNvPr id="12" name="Text 8"/>
          <p:cNvSpPr/>
          <p:nvPr/>
        </p:nvSpPr>
        <p:spPr>
          <a:xfrm>
            <a:off x="10908983" y="2547580"/>
            <a:ext cx="292774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 propósito principal es aumentar la disponibilidad, escalabilidad y tolerancia a fallas de los sistemas de bases de datos.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6280190" y="484405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4" name="Text 10"/>
          <p:cNvSpPr/>
          <p:nvPr/>
        </p:nvSpPr>
        <p:spPr>
          <a:xfrm>
            <a:off x="6440091" y="4920496"/>
            <a:ext cx="190381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1"/>
          <p:cNvSpPr/>
          <p:nvPr/>
        </p:nvSpPr>
        <p:spPr>
          <a:xfrm>
            <a:off x="7017306" y="4844058"/>
            <a:ext cx="292774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Componentes</a:t>
            </a:r>
            <a:endParaRPr lang="en-US" sz="2300" dirty="0"/>
          </a:p>
        </p:txBody>
      </p:sp>
      <p:sp>
        <p:nvSpPr>
          <p:cNvPr id="16" name="Text 12"/>
          <p:cNvSpPr/>
          <p:nvPr/>
        </p:nvSpPr>
        <p:spPr>
          <a:xfrm>
            <a:off x="7017306" y="5352217"/>
            <a:ext cx="2927747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Incluye un servidor principal (maestro) y uno o más servidores secundarios (esclavos) que reciben actualizaciones del maestro.</a:t>
            </a:r>
            <a:endParaRPr lang="en-US" sz="1750" dirty="0"/>
          </a:p>
        </p:txBody>
      </p:sp>
      <p:sp>
        <p:nvSpPr>
          <p:cNvPr id="17" name="Shape 13"/>
          <p:cNvSpPr/>
          <p:nvPr/>
        </p:nvSpPr>
        <p:spPr>
          <a:xfrm>
            <a:off x="10171867" y="484405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8" name="Text 14"/>
          <p:cNvSpPr/>
          <p:nvPr/>
        </p:nvSpPr>
        <p:spPr>
          <a:xfrm>
            <a:off x="10331768" y="4920496"/>
            <a:ext cx="190381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2800" dirty="0"/>
          </a:p>
        </p:txBody>
      </p:sp>
      <p:sp>
        <p:nvSpPr>
          <p:cNvPr id="19" name="Text 15"/>
          <p:cNvSpPr/>
          <p:nvPr/>
        </p:nvSpPr>
        <p:spPr>
          <a:xfrm>
            <a:off x="10908983" y="4844058"/>
            <a:ext cx="292774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Ventajas</a:t>
            </a:r>
            <a:endParaRPr lang="en-US" sz="2300" dirty="0"/>
          </a:p>
        </p:txBody>
      </p:sp>
      <p:sp>
        <p:nvSpPr>
          <p:cNvPr id="20" name="Text 16"/>
          <p:cNvSpPr/>
          <p:nvPr/>
        </p:nvSpPr>
        <p:spPr>
          <a:xfrm>
            <a:off x="10908983" y="5352217"/>
            <a:ext cx="292774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Mejora el rendimiento, la alta disponibilidad y la redundancia de los datos, lo que es crucial para aplicaciones críticas.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39284"/>
            <a:ext cx="12449770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Tipos de replicación: Sincrónica vs Asincrónica</a:t>
            </a:r>
            <a:endParaRPr lang="en-US" sz="4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137172"/>
            <a:ext cx="4120753" cy="25467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967407"/>
            <a:ext cx="301025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Replicación Sincrónica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793790" y="5475565"/>
            <a:ext cx="4120753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replicación sincrónica implica que las actualizaciones se aplican inmediatamente a todas las réplicas, garantizando la consistencia de los datos en todo momento.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4704" y="2137172"/>
            <a:ext cx="4120872" cy="254686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54704" y="4967526"/>
            <a:ext cx="317718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Replicación Asincrónica</a:t>
            </a:r>
            <a:endParaRPr lang="en-US" sz="2300" dirty="0"/>
          </a:p>
        </p:txBody>
      </p:sp>
      <p:sp>
        <p:nvSpPr>
          <p:cNvPr id="8" name="Text 4"/>
          <p:cNvSpPr/>
          <p:nvPr/>
        </p:nvSpPr>
        <p:spPr>
          <a:xfrm>
            <a:off x="5254704" y="5475684"/>
            <a:ext cx="412087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la replicación asincrónica, las actualizaciones se envían a las réplicas de manera diferida, lo que permite mayor escalabilidad pero conlleva el riesgo de inconsistencia temporal.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738" y="2137172"/>
            <a:ext cx="4120753" cy="25467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5738" y="4967407"/>
            <a:ext cx="3009662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Ventajas y Desventajas</a:t>
            </a:r>
            <a:endParaRPr lang="en-US" sz="2300" dirty="0"/>
          </a:p>
        </p:txBody>
      </p:sp>
      <p:sp>
        <p:nvSpPr>
          <p:cNvPr id="11" name="Text 6"/>
          <p:cNvSpPr/>
          <p:nvPr/>
        </p:nvSpPr>
        <p:spPr>
          <a:xfrm>
            <a:off x="9715738" y="5475565"/>
            <a:ext cx="4120753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replicación sincrónica ofrece mayor consistencia, mientras que la asincrónica permite mejor rendimiento y tolerancia a fallos. La elección depende de los requisitos del sistema.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4150" y="2276237"/>
            <a:ext cx="4986099" cy="367700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00207" y="743188"/>
            <a:ext cx="6933605" cy="656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15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Casos de uso de la replicación</a:t>
            </a:r>
            <a:endParaRPr lang="en-US" sz="4100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207" y="1699617"/>
            <a:ext cx="500182" cy="500182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700207" y="2399824"/>
            <a:ext cx="3358872" cy="328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Redundancia y Recuperación</a:t>
            </a:r>
            <a:endParaRPr lang="en-US" sz="2050" dirty="0"/>
          </a:p>
        </p:txBody>
      </p:sp>
      <p:sp>
        <p:nvSpPr>
          <p:cNvPr id="7" name="Text 2"/>
          <p:cNvSpPr/>
          <p:nvPr/>
        </p:nvSpPr>
        <p:spPr>
          <a:xfrm>
            <a:off x="700207" y="2848094"/>
            <a:ext cx="3721775" cy="1280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replicación permite tener múltiples copias de los datos para asegurar la disponibilidad y facilitar la recuperación en caso de fallas o desastres.</a:t>
            </a:r>
            <a:endParaRPr lang="en-US" sz="155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2019" y="1699617"/>
            <a:ext cx="500182" cy="500182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722019" y="2399824"/>
            <a:ext cx="3721775" cy="656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Escalabilidad y Balanceo de Carga</a:t>
            </a:r>
            <a:endParaRPr lang="en-US" sz="2050" dirty="0"/>
          </a:p>
        </p:txBody>
      </p:sp>
      <p:sp>
        <p:nvSpPr>
          <p:cNvPr id="10" name="Text 4"/>
          <p:cNvSpPr/>
          <p:nvPr/>
        </p:nvSpPr>
        <p:spPr>
          <a:xfrm>
            <a:off x="4722019" y="3176349"/>
            <a:ext cx="3721775" cy="1280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 distribuir la carga entre múltiples servidores, la replicación mejora el rendimiento y la escalabilidad de los sistemas.</a:t>
            </a:r>
            <a:endParaRPr lang="en-US" sz="15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207" y="5057180"/>
            <a:ext cx="500182" cy="500182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700207" y="5757386"/>
            <a:ext cx="2660809" cy="328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Proximidad Geográfica</a:t>
            </a:r>
            <a:endParaRPr lang="en-US" sz="2050" dirty="0"/>
          </a:p>
        </p:txBody>
      </p:sp>
      <p:sp>
        <p:nvSpPr>
          <p:cNvPr id="13" name="Text 6"/>
          <p:cNvSpPr/>
          <p:nvPr/>
        </p:nvSpPr>
        <p:spPr>
          <a:xfrm>
            <a:off x="700207" y="6205657"/>
            <a:ext cx="3721775" cy="1280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Mantener réplicas en diferentes ubicaciones geográficas reduce la latencia y mejora la experiencia de los usuarios finales.</a:t>
            </a:r>
            <a:endParaRPr lang="en-US" sz="155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2019" y="5057180"/>
            <a:ext cx="500182" cy="500182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4722019" y="5757386"/>
            <a:ext cx="2626043" cy="328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Análisis de Datos</a:t>
            </a:r>
            <a:endParaRPr lang="en-US" sz="2050" dirty="0"/>
          </a:p>
        </p:txBody>
      </p:sp>
      <p:sp>
        <p:nvSpPr>
          <p:cNvPr id="16" name="Text 8"/>
          <p:cNvSpPr/>
          <p:nvPr/>
        </p:nvSpPr>
        <p:spPr>
          <a:xfrm>
            <a:off x="4722019" y="6205657"/>
            <a:ext cx="3721775" cy="960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Las réplicas dedicadas permiten realizar análisis complejos sin afectar la operación transaccional principal.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7962" y="2461974"/>
            <a:ext cx="4958477" cy="330565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9140" y="919520"/>
            <a:ext cx="6732151" cy="692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Beneficios de la replicación</a:t>
            </a:r>
            <a:endParaRPr lang="en-US" sz="4350" dirty="0"/>
          </a:p>
        </p:txBody>
      </p:sp>
      <p:sp>
        <p:nvSpPr>
          <p:cNvPr id="5" name="Shape 1"/>
          <p:cNvSpPr/>
          <p:nvPr/>
        </p:nvSpPr>
        <p:spPr>
          <a:xfrm>
            <a:off x="739140" y="1929170"/>
            <a:ext cx="3727371" cy="2584847"/>
          </a:xfrm>
          <a:prstGeom prst="roundRect">
            <a:avLst>
              <a:gd name="adj" fmla="val 1226"/>
            </a:avLst>
          </a:prstGeom>
          <a:solidFill>
            <a:srgbClr val="F2EEEE"/>
          </a:solidFill>
          <a:ln/>
        </p:spPr>
      </p:sp>
      <p:sp>
        <p:nvSpPr>
          <p:cNvPr id="6" name="Text 2"/>
          <p:cNvSpPr/>
          <p:nvPr/>
        </p:nvSpPr>
        <p:spPr>
          <a:xfrm>
            <a:off x="950238" y="2140267"/>
            <a:ext cx="2771775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Alta Disponibilidad</a:t>
            </a:r>
            <a:endParaRPr lang="en-US" sz="2150" dirty="0"/>
          </a:p>
        </p:txBody>
      </p:sp>
      <p:sp>
        <p:nvSpPr>
          <p:cNvPr id="7" name="Text 3"/>
          <p:cNvSpPr/>
          <p:nvPr/>
        </p:nvSpPr>
        <p:spPr>
          <a:xfrm>
            <a:off x="950238" y="2613422"/>
            <a:ext cx="3305175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replicación permite mantener copias de datos en múltiples servidores, asegurando la continuidad del servicio ante fallas en un nodo.</a:t>
            </a:r>
            <a:endParaRPr lang="en-US" sz="1650" dirty="0"/>
          </a:p>
        </p:txBody>
      </p:sp>
      <p:sp>
        <p:nvSpPr>
          <p:cNvPr id="8" name="Shape 4"/>
          <p:cNvSpPr/>
          <p:nvPr/>
        </p:nvSpPr>
        <p:spPr>
          <a:xfrm>
            <a:off x="4677608" y="1929170"/>
            <a:ext cx="3727371" cy="2584847"/>
          </a:xfrm>
          <a:prstGeom prst="roundRect">
            <a:avLst>
              <a:gd name="adj" fmla="val 1226"/>
            </a:avLst>
          </a:prstGeom>
          <a:solidFill>
            <a:srgbClr val="F2EEEE"/>
          </a:solidFill>
          <a:ln/>
        </p:spPr>
      </p:sp>
      <p:sp>
        <p:nvSpPr>
          <p:cNvPr id="9" name="Text 5"/>
          <p:cNvSpPr/>
          <p:nvPr/>
        </p:nvSpPr>
        <p:spPr>
          <a:xfrm>
            <a:off x="4888706" y="2140267"/>
            <a:ext cx="2771775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Escalabilidad</a:t>
            </a:r>
            <a:endParaRPr lang="en-US" sz="2150" dirty="0"/>
          </a:p>
        </p:txBody>
      </p:sp>
      <p:sp>
        <p:nvSpPr>
          <p:cNvPr id="10" name="Text 6"/>
          <p:cNvSpPr/>
          <p:nvPr/>
        </p:nvSpPr>
        <p:spPr>
          <a:xfrm>
            <a:off x="4888706" y="2613422"/>
            <a:ext cx="3305175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 distribuir cargas de trabajo entre réplicas, se puede aumentar la capacidad de procesamiento y respuesta a solicitudes de usuarios.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739140" y="4725114"/>
            <a:ext cx="3727371" cy="2584847"/>
          </a:xfrm>
          <a:prstGeom prst="roundRect">
            <a:avLst>
              <a:gd name="adj" fmla="val 1226"/>
            </a:avLst>
          </a:prstGeom>
          <a:solidFill>
            <a:srgbClr val="F2EEEE"/>
          </a:solidFill>
          <a:ln/>
        </p:spPr>
      </p:sp>
      <p:sp>
        <p:nvSpPr>
          <p:cNvPr id="12" name="Text 8"/>
          <p:cNvSpPr/>
          <p:nvPr/>
        </p:nvSpPr>
        <p:spPr>
          <a:xfrm>
            <a:off x="950238" y="4936212"/>
            <a:ext cx="2771775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Tolerancia a Fallos</a:t>
            </a:r>
            <a:endParaRPr lang="en-US" sz="2150" dirty="0"/>
          </a:p>
        </p:txBody>
      </p:sp>
      <p:sp>
        <p:nvSpPr>
          <p:cNvPr id="13" name="Text 9"/>
          <p:cNvSpPr/>
          <p:nvPr/>
        </p:nvSpPr>
        <p:spPr>
          <a:xfrm>
            <a:off x="950238" y="5409367"/>
            <a:ext cx="3305175" cy="1351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 un servidor falla, las demás réplicas pueden asumir sus tareas, minimizando el impacto en los usuarios finales.</a:t>
            </a:r>
            <a:endParaRPr lang="en-US" sz="1650" dirty="0"/>
          </a:p>
        </p:txBody>
      </p:sp>
      <p:sp>
        <p:nvSpPr>
          <p:cNvPr id="14" name="Shape 10"/>
          <p:cNvSpPr/>
          <p:nvPr/>
        </p:nvSpPr>
        <p:spPr>
          <a:xfrm>
            <a:off x="4677608" y="4725114"/>
            <a:ext cx="3727371" cy="2584847"/>
          </a:xfrm>
          <a:prstGeom prst="roundRect">
            <a:avLst>
              <a:gd name="adj" fmla="val 1226"/>
            </a:avLst>
          </a:prstGeom>
          <a:solidFill>
            <a:srgbClr val="F2EEEE"/>
          </a:solidFill>
          <a:ln/>
        </p:spPr>
      </p:sp>
      <p:sp>
        <p:nvSpPr>
          <p:cNvPr id="15" name="Text 11"/>
          <p:cNvSpPr/>
          <p:nvPr/>
        </p:nvSpPr>
        <p:spPr>
          <a:xfrm>
            <a:off x="4888706" y="4936212"/>
            <a:ext cx="2881432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Mejora de Rendimiento</a:t>
            </a:r>
            <a:endParaRPr lang="en-US" sz="2150" dirty="0"/>
          </a:p>
        </p:txBody>
      </p:sp>
      <p:sp>
        <p:nvSpPr>
          <p:cNvPr id="16" name="Text 12"/>
          <p:cNvSpPr/>
          <p:nvPr/>
        </p:nvSpPr>
        <p:spPr>
          <a:xfrm>
            <a:off x="4888706" y="5409367"/>
            <a:ext cx="3305175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Las réplicas pueden especializarse en determinadas tareas, optimizando el flujo de trabajo y mejorando los tiempos de respuesta.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8607"/>
            <a:ext cx="5959673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Retos de la replicación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549843"/>
            <a:ext cx="2845594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Complejidad de Configuración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3520797"/>
            <a:ext cx="2845594" cy="3266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configuración de la replicación en los sistemas de bases de datos puede ser técnicamente compleja y requiere de un profundo conocimiento de la arquitectura y las herramientas de administración.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4200406" y="2549843"/>
            <a:ext cx="2845594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Latencia y Sincronización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200406" y="3520797"/>
            <a:ext cx="2845594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Mantener la sincronización de datos entre múltiples réplicas y minimizar la latencia en la propagación de cambios es fundamental para garantizar la integridad de la información.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607022" y="2549843"/>
            <a:ext cx="2845594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Resolución de Conflictos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607022" y="3520797"/>
            <a:ext cx="2845594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Cuando ocurren actualizaciones conflictivas entre réplicas, es necesario implementar mecanismos robustos para detectar y resolver estos conflictos de manera efectiva.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1013638" y="2549843"/>
            <a:ext cx="2845594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Carga y Desempeño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1013638" y="3148727"/>
            <a:ext cx="2845594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replicación puede agregar carga adicional a los sistemas de bases de datos, lo que impacta el rendimiento general y requiere de un cuidadoso diseño y monitoreo.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458283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1798" y="245745"/>
            <a:ext cx="4906685" cy="196679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8300" y="2999065"/>
            <a:ext cx="10547271" cy="645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050"/>
              </a:lnSpc>
              <a:buNone/>
            </a:pPr>
            <a:r>
              <a:rPr lang="en-US" sz="4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Técnicas para mantener la integridad de datos</a:t>
            </a:r>
            <a:endParaRPr lang="en-US" sz="4050" dirty="0"/>
          </a:p>
        </p:txBody>
      </p:sp>
      <p:sp>
        <p:nvSpPr>
          <p:cNvPr id="5" name="Shape 1"/>
          <p:cNvSpPr/>
          <p:nvPr/>
        </p:nvSpPr>
        <p:spPr>
          <a:xfrm>
            <a:off x="7303770" y="3939302"/>
            <a:ext cx="22860" cy="3752374"/>
          </a:xfrm>
          <a:prstGeom prst="roundRect">
            <a:avLst>
              <a:gd name="adj" fmla="val 129046"/>
            </a:avLst>
          </a:prstGeom>
          <a:solidFill>
            <a:srgbClr val="D8D4D4"/>
          </a:solidFill>
          <a:ln/>
        </p:spPr>
      </p:sp>
      <p:sp>
        <p:nvSpPr>
          <p:cNvPr id="6" name="Shape 2"/>
          <p:cNvSpPr/>
          <p:nvPr/>
        </p:nvSpPr>
        <p:spPr>
          <a:xfrm>
            <a:off x="6428542" y="4370308"/>
            <a:ext cx="688300" cy="22860"/>
          </a:xfrm>
          <a:prstGeom prst="roundRect">
            <a:avLst>
              <a:gd name="adj" fmla="val 129046"/>
            </a:avLst>
          </a:prstGeom>
          <a:solidFill>
            <a:srgbClr val="D8D4D4"/>
          </a:solidFill>
          <a:ln/>
        </p:spPr>
      </p:sp>
      <p:sp>
        <p:nvSpPr>
          <p:cNvPr id="7" name="Shape 3"/>
          <p:cNvSpPr/>
          <p:nvPr/>
        </p:nvSpPr>
        <p:spPr>
          <a:xfrm>
            <a:off x="7093982" y="4160520"/>
            <a:ext cx="442436" cy="442436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8" name="Text 4"/>
          <p:cNvSpPr/>
          <p:nvPr/>
        </p:nvSpPr>
        <p:spPr>
          <a:xfrm>
            <a:off x="7232690" y="4226838"/>
            <a:ext cx="165021" cy="309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3652480" y="4135874"/>
            <a:ext cx="2581156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Replicación síncrona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688300" y="4576524"/>
            <a:ext cx="5545336" cy="944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replicación síncrona asegura que los cambios se reflejen inmediatamente en todas las réplicas, manteniendo la coherencia de los datos.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7513558" y="5353526"/>
            <a:ext cx="688300" cy="22860"/>
          </a:xfrm>
          <a:prstGeom prst="roundRect">
            <a:avLst>
              <a:gd name="adj" fmla="val 129046"/>
            </a:avLst>
          </a:prstGeom>
          <a:solidFill>
            <a:srgbClr val="D8D4D4"/>
          </a:solidFill>
          <a:ln/>
        </p:spPr>
      </p:sp>
      <p:sp>
        <p:nvSpPr>
          <p:cNvPr id="12" name="Shape 8"/>
          <p:cNvSpPr/>
          <p:nvPr/>
        </p:nvSpPr>
        <p:spPr>
          <a:xfrm>
            <a:off x="7093982" y="5143738"/>
            <a:ext cx="442436" cy="442436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3" name="Text 9"/>
          <p:cNvSpPr/>
          <p:nvPr/>
        </p:nvSpPr>
        <p:spPr>
          <a:xfrm>
            <a:off x="7232690" y="5210056"/>
            <a:ext cx="165021" cy="309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8396764" y="5119092"/>
            <a:ext cx="2905482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Verificación de checksum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8396764" y="5559743"/>
            <a:ext cx="5545336" cy="944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Realizar verificaciones de integridad de los datos a través de checksums ayuda a detectar y prevenir la corrupción de los mismos.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428542" y="6344722"/>
            <a:ext cx="688300" cy="22860"/>
          </a:xfrm>
          <a:prstGeom prst="roundRect">
            <a:avLst>
              <a:gd name="adj" fmla="val 129046"/>
            </a:avLst>
          </a:prstGeom>
          <a:solidFill>
            <a:srgbClr val="D8D4D4"/>
          </a:solidFill>
          <a:ln/>
        </p:spPr>
      </p:sp>
      <p:sp>
        <p:nvSpPr>
          <p:cNvPr id="17" name="Shape 13"/>
          <p:cNvSpPr/>
          <p:nvPr/>
        </p:nvSpPr>
        <p:spPr>
          <a:xfrm>
            <a:off x="7093982" y="6134933"/>
            <a:ext cx="442436" cy="442436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8" name="Text 14"/>
          <p:cNvSpPr/>
          <p:nvPr/>
        </p:nvSpPr>
        <p:spPr>
          <a:xfrm>
            <a:off x="7232690" y="6201251"/>
            <a:ext cx="165021" cy="309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3446859" y="6110288"/>
            <a:ext cx="2786777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Resolución de conflictos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688300" y="6550938"/>
            <a:ext cx="5545336" cy="944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Establecer políticas claras para resolver conflictos entre réplicas, como priorizar ciertos nodos o usar reglas de resolución predefinidas.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0553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43" y="2227183"/>
            <a:ext cx="5034915" cy="377618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118622" y="496729"/>
            <a:ext cx="7879556" cy="1185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50"/>
              </a:lnSpc>
              <a:buNone/>
            </a:pPr>
            <a:r>
              <a:rPr lang="en-US" sz="3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Configuración de replicación en MySQL</a:t>
            </a:r>
            <a:endParaRPr lang="en-US" sz="3700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8622" y="1953101"/>
            <a:ext cx="903208" cy="1445181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7292816" y="2133719"/>
            <a:ext cx="2992874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Configurar Servidor Maestro</a:t>
            </a:r>
            <a:endParaRPr lang="en-US" sz="1850" dirty="0"/>
          </a:p>
        </p:txBody>
      </p:sp>
      <p:sp>
        <p:nvSpPr>
          <p:cNvPr id="7" name="Text 2"/>
          <p:cNvSpPr/>
          <p:nvPr/>
        </p:nvSpPr>
        <p:spPr>
          <a:xfrm>
            <a:off x="7292816" y="2538532"/>
            <a:ext cx="6705362" cy="577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Habilitar el registro binario y definir un servidor de replicación maestro con un ID único.</a:t>
            </a:r>
            <a:endParaRPr lang="en-US" sz="14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8622" y="3398282"/>
            <a:ext cx="903208" cy="1445181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7292816" y="3578900"/>
            <a:ext cx="3082885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Crear Cuentas de Replicación</a:t>
            </a:r>
            <a:endParaRPr lang="en-US" sz="1850" dirty="0"/>
          </a:p>
        </p:txBody>
      </p:sp>
      <p:sp>
        <p:nvSpPr>
          <p:cNvPr id="10" name="Text 4"/>
          <p:cNvSpPr/>
          <p:nvPr/>
        </p:nvSpPr>
        <p:spPr>
          <a:xfrm>
            <a:off x="7292816" y="3983712"/>
            <a:ext cx="6705362" cy="577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Crear usuarios con permisos de replicación en el maestro y establecer contraseñas seguras.</a:t>
            </a:r>
            <a:endParaRPr lang="en-US" sz="14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8622" y="4843463"/>
            <a:ext cx="903208" cy="1445181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7292816" y="5024080"/>
            <a:ext cx="3249335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Configurar Servidores Esclavos</a:t>
            </a:r>
            <a:endParaRPr lang="en-US" sz="1850" dirty="0"/>
          </a:p>
        </p:txBody>
      </p:sp>
      <p:sp>
        <p:nvSpPr>
          <p:cNvPr id="13" name="Text 6"/>
          <p:cNvSpPr/>
          <p:nvPr/>
        </p:nvSpPr>
        <p:spPr>
          <a:xfrm>
            <a:off x="7292816" y="5428893"/>
            <a:ext cx="6705362" cy="577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Configurar los servidores esclavos para que se conecten y repliquen del maestro.</a:t>
            </a:r>
            <a:endParaRPr lang="en-US" sz="14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8622" y="6288643"/>
            <a:ext cx="903208" cy="1445181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292816" y="6469261"/>
            <a:ext cx="2473047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Monitorear Replicación</a:t>
            </a:r>
            <a:endParaRPr lang="en-US" sz="1850" dirty="0"/>
          </a:p>
        </p:txBody>
      </p:sp>
      <p:sp>
        <p:nvSpPr>
          <p:cNvPr id="16" name="Text 8"/>
          <p:cNvSpPr/>
          <p:nvPr/>
        </p:nvSpPr>
        <p:spPr>
          <a:xfrm>
            <a:off x="7292816" y="6874073"/>
            <a:ext cx="6705362" cy="577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Verificar el estado de la replicación y resolver posibles conflictos entre maestro y esclavo.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627" y="496253"/>
            <a:ext cx="9255204" cy="592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650"/>
              </a:lnSpc>
              <a:buNone/>
            </a:pPr>
            <a:r>
              <a:rPr lang="en-US" sz="3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Configuración de replicación en PostgreSQL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6227" y="1449229"/>
            <a:ext cx="1654135" cy="13425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13108" y="2114312"/>
            <a:ext cx="120253" cy="360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4980742" y="1773912"/>
            <a:ext cx="2368748" cy="296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Establecer conexión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4980742" y="2178248"/>
            <a:ext cx="6323648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Configurar la conexión entre el servidor principal y los servidores de réplica.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845368" y="2804755"/>
            <a:ext cx="9108400" cy="11430"/>
          </a:xfrm>
          <a:prstGeom prst="roundRect">
            <a:avLst>
              <a:gd name="adj" fmla="val 236857"/>
            </a:avLst>
          </a:prstGeom>
          <a:solidFill>
            <a:srgbClr val="D8D4D4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218" y="2836783"/>
            <a:ext cx="3308271" cy="13425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13108" y="3327559"/>
            <a:ext cx="120253" cy="360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5807869" y="3161467"/>
            <a:ext cx="2368748" cy="296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Definir roles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5807869" y="3565803"/>
            <a:ext cx="7599045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Establecer el servidor principal como "maestro" y los servidores de réplica como "esclavos".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672495" y="4192310"/>
            <a:ext cx="8281273" cy="11430"/>
          </a:xfrm>
          <a:prstGeom prst="roundRect">
            <a:avLst>
              <a:gd name="adj" fmla="val 236857"/>
            </a:avLst>
          </a:prstGeom>
          <a:solidFill>
            <a:srgbClr val="D8D4D4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091" y="4224338"/>
            <a:ext cx="4962525" cy="13425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913108" y="4715113"/>
            <a:ext cx="120253" cy="360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6634996" y="4404717"/>
            <a:ext cx="2368748" cy="296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Habilitar replicación</a:t>
            </a:r>
            <a:endParaRPr lang="en-US" sz="1850" dirty="0"/>
          </a:p>
        </p:txBody>
      </p:sp>
      <p:sp>
        <p:nvSpPr>
          <p:cNvPr id="16" name="Text 11"/>
          <p:cNvSpPr/>
          <p:nvPr/>
        </p:nvSpPr>
        <p:spPr>
          <a:xfrm>
            <a:off x="6634996" y="4809053"/>
            <a:ext cx="7183398" cy="577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Activar los mecanismos de replicación en el servidor principal y los servidores esclavos.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499622" y="5579864"/>
            <a:ext cx="7454146" cy="11430"/>
          </a:xfrm>
          <a:prstGeom prst="roundRect">
            <a:avLst>
              <a:gd name="adj" fmla="val 236857"/>
            </a:avLst>
          </a:prstGeom>
          <a:solidFill>
            <a:srgbClr val="D8D4D4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964" y="5611892"/>
            <a:ext cx="6616660" cy="134254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913108" y="6102668"/>
            <a:ext cx="120253" cy="360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1750" dirty="0"/>
          </a:p>
        </p:txBody>
      </p:sp>
      <p:sp>
        <p:nvSpPr>
          <p:cNvPr id="20" name="Text 14"/>
          <p:cNvSpPr/>
          <p:nvPr/>
        </p:nvSpPr>
        <p:spPr>
          <a:xfrm>
            <a:off x="7462004" y="5792272"/>
            <a:ext cx="2368748" cy="296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Monitorear procesos</a:t>
            </a:r>
            <a:endParaRPr lang="en-US" sz="1850" dirty="0"/>
          </a:p>
        </p:txBody>
      </p:sp>
      <p:sp>
        <p:nvSpPr>
          <p:cNvPr id="21" name="Text 15"/>
          <p:cNvSpPr/>
          <p:nvPr/>
        </p:nvSpPr>
        <p:spPr>
          <a:xfrm>
            <a:off x="7462004" y="6196608"/>
            <a:ext cx="6356390" cy="577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Revisar que la replicación esté funcionando correctamente y resolver posibles problemas.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631627" y="7157442"/>
            <a:ext cx="13367147" cy="577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configuración de replicación en PostgreSQL implica establecer una conexión entre el servidor principal y los servidores de réplica, definir los roles de cada uno, habilitar los mecanismos de replicación y monitorear constantemente los procesos para garantizar la integridad de los datos.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7127" y="1240869"/>
            <a:ext cx="4980027" cy="574786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08779" y="718542"/>
            <a:ext cx="7726442" cy="132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Manejo de conflictos en sistemas replicados</a:t>
            </a:r>
            <a:endParaRPr lang="en-US" sz="4150" dirty="0"/>
          </a:p>
        </p:txBody>
      </p:sp>
      <p:sp>
        <p:nvSpPr>
          <p:cNvPr id="5" name="Shape 1"/>
          <p:cNvSpPr/>
          <p:nvPr/>
        </p:nvSpPr>
        <p:spPr>
          <a:xfrm>
            <a:off x="708779" y="2351246"/>
            <a:ext cx="3762018" cy="2802612"/>
          </a:xfrm>
          <a:prstGeom prst="roundRect">
            <a:avLst>
              <a:gd name="adj" fmla="val 1084"/>
            </a:avLst>
          </a:prstGeom>
          <a:solidFill>
            <a:srgbClr val="F2EEEE"/>
          </a:solidFill>
          <a:ln/>
        </p:spPr>
      </p:sp>
      <p:sp>
        <p:nvSpPr>
          <p:cNvPr id="6" name="Text 2"/>
          <p:cNvSpPr/>
          <p:nvPr/>
        </p:nvSpPr>
        <p:spPr>
          <a:xfrm>
            <a:off x="911304" y="2553772"/>
            <a:ext cx="2751058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Detección de conflictos</a:t>
            </a:r>
            <a:endParaRPr lang="en-US" sz="2050" dirty="0"/>
          </a:p>
        </p:txBody>
      </p:sp>
      <p:sp>
        <p:nvSpPr>
          <p:cNvPr id="7" name="Text 3"/>
          <p:cNvSpPr/>
          <p:nvPr/>
        </p:nvSpPr>
        <p:spPr>
          <a:xfrm>
            <a:off x="911304" y="3007519"/>
            <a:ext cx="3356967" cy="1943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 fundamental contar con mecanismos para identificar y notificar cuando se presentan conflictos entre las réplicas, como cambios concurrentes en la misma información.</a:t>
            </a:r>
            <a:endParaRPr lang="en-US" sz="1550" dirty="0"/>
          </a:p>
        </p:txBody>
      </p:sp>
      <p:sp>
        <p:nvSpPr>
          <p:cNvPr id="8" name="Shape 4"/>
          <p:cNvSpPr/>
          <p:nvPr/>
        </p:nvSpPr>
        <p:spPr>
          <a:xfrm>
            <a:off x="4673322" y="2351246"/>
            <a:ext cx="3762018" cy="2802612"/>
          </a:xfrm>
          <a:prstGeom prst="roundRect">
            <a:avLst>
              <a:gd name="adj" fmla="val 1084"/>
            </a:avLst>
          </a:prstGeom>
          <a:solidFill>
            <a:srgbClr val="F2EEEE"/>
          </a:solidFill>
          <a:ln/>
        </p:spPr>
      </p:sp>
      <p:sp>
        <p:nvSpPr>
          <p:cNvPr id="9" name="Text 5"/>
          <p:cNvSpPr/>
          <p:nvPr/>
        </p:nvSpPr>
        <p:spPr>
          <a:xfrm>
            <a:off x="4875848" y="2553772"/>
            <a:ext cx="2658308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Políticas de resolución</a:t>
            </a:r>
            <a:endParaRPr lang="en-US" sz="2050" dirty="0"/>
          </a:p>
        </p:txBody>
      </p:sp>
      <p:sp>
        <p:nvSpPr>
          <p:cNvPr id="10" name="Text 6"/>
          <p:cNvSpPr/>
          <p:nvPr/>
        </p:nvSpPr>
        <p:spPr>
          <a:xfrm>
            <a:off x="4875848" y="3007519"/>
            <a:ext cx="3356967" cy="1619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Definir políticas claras para resolver automáticamente los conflictos detectados, como priorizar la última actualización o aplicar reglas personalizadas.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708779" y="5356384"/>
            <a:ext cx="3762018" cy="2154674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2" name="Text 8"/>
          <p:cNvSpPr/>
          <p:nvPr/>
        </p:nvSpPr>
        <p:spPr>
          <a:xfrm>
            <a:off x="911304" y="5558909"/>
            <a:ext cx="2658189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Intervención manual</a:t>
            </a:r>
            <a:endParaRPr lang="en-US" sz="2050" dirty="0"/>
          </a:p>
        </p:txBody>
      </p:sp>
      <p:sp>
        <p:nvSpPr>
          <p:cNvPr id="13" name="Text 9"/>
          <p:cNvSpPr/>
          <p:nvPr/>
        </p:nvSpPr>
        <p:spPr>
          <a:xfrm>
            <a:off x="911304" y="6012656"/>
            <a:ext cx="3356967" cy="1295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casos complejos, puede ser necesaria la intervención humana para analizar el conflicto y decidir manualmente la mejor solución.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4673322" y="5356384"/>
            <a:ext cx="3762018" cy="2154674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5" name="Text 11"/>
          <p:cNvSpPr/>
          <p:nvPr/>
        </p:nvSpPr>
        <p:spPr>
          <a:xfrm>
            <a:off x="4875848" y="5558909"/>
            <a:ext cx="2658189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Auditoría y monitoreo</a:t>
            </a:r>
            <a:endParaRPr lang="en-US" sz="2050" dirty="0"/>
          </a:p>
        </p:txBody>
      </p:sp>
      <p:sp>
        <p:nvSpPr>
          <p:cNvPr id="16" name="Text 12"/>
          <p:cNvSpPr/>
          <p:nvPr/>
        </p:nvSpPr>
        <p:spPr>
          <a:xfrm>
            <a:off x="4875848" y="6012656"/>
            <a:ext cx="3356967" cy="1295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Mantener registros de los conflictos detectados y las acciones tomadas facilita el análisis y la mejora continua del proceso.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" y="2716411"/>
            <a:ext cx="4972050" cy="279677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06490" y="671751"/>
            <a:ext cx="7703820" cy="1350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300"/>
              </a:lnSpc>
              <a:buNone/>
            </a:pPr>
            <a:r>
              <a:rPr lang="en-US" sz="4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Estrategias para resolver conflictos</a:t>
            </a:r>
            <a:endParaRPr lang="en-US" sz="4250" dirty="0"/>
          </a:p>
        </p:txBody>
      </p:sp>
      <p:sp>
        <p:nvSpPr>
          <p:cNvPr id="5" name="Shape 1"/>
          <p:cNvSpPr/>
          <p:nvPr/>
        </p:nvSpPr>
        <p:spPr>
          <a:xfrm>
            <a:off x="6206490" y="2561987"/>
            <a:ext cx="462915" cy="462915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6" name="Text 2"/>
          <p:cNvSpPr/>
          <p:nvPr/>
        </p:nvSpPr>
        <p:spPr>
          <a:xfrm>
            <a:off x="6351508" y="2631400"/>
            <a:ext cx="172760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2550" dirty="0"/>
          </a:p>
        </p:txBody>
      </p:sp>
      <p:sp>
        <p:nvSpPr>
          <p:cNvPr id="7" name="Text 3"/>
          <p:cNvSpPr/>
          <p:nvPr/>
        </p:nvSpPr>
        <p:spPr>
          <a:xfrm>
            <a:off x="6875145" y="2561987"/>
            <a:ext cx="3080385" cy="675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Detección temprana de conflictos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6875145" y="3360420"/>
            <a:ext cx="3080385" cy="1316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Monitorear constantemente los sistemas replicados para identificar y solucionar conflictos de manera proactiva.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10161270" y="2561987"/>
            <a:ext cx="462915" cy="462915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0" name="Text 6"/>
          <p:cNvSpPr/>
          <p:nvPr/>
        </p:nvSpPr>
        <p:spPr>
          <a:xfrm>
            <a:off x="10306288" y="2631400"/>
            <a:ext cx="172760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7"/>
          <p:cNvSpPr/>
          <p:nvPr/>
        </p:nvSpPr>
        <p:spPr>
          <a:xfrm>
            <a:off x="10829925" y="2561987"/>
            <a:ext cx="2700338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Políticas de resolución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10829925" y="3022878"/>
            <a:ext cx="3080385" cy="1316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Establecer políticas claras sobre cómo resolver conflictos, definiendo prioridades y procedimientos estandarizados.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206490" y="5113973"/>
            <a:ext cx="462915" cy="462915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4" name="Text 10"/>
          <p:cNvSpPr/>
          <p:nvPr/>
        </p:nvSpPr>
        <p:spPr>
          <a:xfrm>
            <a:off x="6351508" y="5183386"/>
            <a:ext cx="172760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2550" dirty="0"/>
          </a:p>
        </p:txBody>
      </p:sp>
      <p:sp>
        <p:nvSpPr>
          <p:cNvPr id="15" name="Text 11"/>
          <p:cNvSpPr/>
          <p:nvPr/>
        </p:nvSpPr>
        <p:spPr>
          <a:xfrm>
            <a:off x="6875145" y="5113973"/>
            <a:ext cx="3080385" cy="675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Automatización de la resolución</a:t>
            </a:r>
            <a:endParaRPr lang="en-US" sz="2100" dirty="0"/>
          </a:p>
        </p:txBody>
      </p:sp>
      <p:sp>
        <p:nvSpPr>
          <p:cNvPr id="16" name="Text 12"/>
          <p:cNvSpPr/>
          <p:nvPr/>
        </p:nvSpPr>
        <p:spPr>
          <a:xfrm>
            <a:off x="6875145" y="5912406"/>
            <a:ext cx="3080385" cy="1645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Implementar procesos automatizados que puedan detectar y resolver conflictos comunes sin intervención manual.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10161270" y="5113973"/>
            <a:ext cx="462915" cy="462915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8" name="Text 14"/>
          <p:cNvSpPr/>
          <p:nvPr/>
        </p:nvSpPr>
        <p:spPr>
          <a:xfrm>
            <a:off x="10306288" y="5183386"/>
            <a:ext cx="172760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2550" dirty="0"/>
          </a:p>
        </p:txBody>
      </p:sp>
      <p:sp>
        <p:nvSpPr>
          <p:cNvPr id="19" name="Text 15"/>
          <p:cNvSpPr/>
          <p:nvPr/>
        </p:nvSpPr>
        <p:spPr>
          <a:xfrm>
            <a:off x="10829925" y="5113973"/>
            <a:ext cx="2700338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Informes y auditoría</a:t>
            </a:r>
            <a:endParaRPr lang="en-US" sz="2100" dirty="0"/>
          </a:p>
        </p:txBody>
      </p:sp>
      <p:sp>
        <p:nvSpPr>
          <p:cNvPr id="20" name="Text 16"/>
          <p:cNvSpPr/>
          <p:nvPr/>
        </p:nvSpPr>
        <p:spPr>
          <a:xfrm>
            <a:off x="10829925" y="5574863"/>
            <a:ext cx="3080385" cy="1645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Generar reportes detallados sobre conflictos y sus resoluciones para analizar tendencias y mejorar los procesos.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488" y="2731175"/>
            <a:ext cx="4919305" cy="276713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1621274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Ejemplo práctico de replicación en MySQL</a:t>
            </a:r>
            <a:endParaRPr lang="en-US" sz="4650" dirty="0"/>
          </a:p>
        </p:txBody>
      </p:sp>
      <p:sp>
        <p:nvSpPr>
          <p:cNvPr id="5" name="Text 1"/>
          <p:cNvSpPr/>
          <p:nvPr/>
        </p:nvSpPr>
        <p:spPr>
          <a:xfrm>
            <a:off x="793790" y="3449955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este ejemplo, demostraremos cómo configurar la replicación sincrónica en MySQL. Configuraremos un servidor maestro y un servidor esclavo, donde todas las operaciones realizadas en el maestro se reflejarán en tiempo real en el esclavo.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793790" y="5156716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Seguiremos los pasos clave como: habilitar el registro binario, configurar las credenciales de replicación, inicializar el esclavo y verificar el estado de la replicación. Esto permitirá entender los conceptos fundamentales de la replicación en MySQL.</a:t>
            </a:r>
            <a:endParaRPr lang="en-US" sz="1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51967"/>
            <a:ext cx="12334875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Ejemplo práctico de replicación en PostgreSQL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740462"/>
            <a:ext cx="624470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este ejemplo, configuraremos una replicación asincrónica maestro-esclavo en PostgreSQL. Esto permitirá mantener una copia de seguridad en vivo de la base de datos principal, mejorando la disponibilidad y escalabilidad del sistema.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759047"/>
            <a:ext cx="624470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Primero, configuraremos el servidor maestro para habilitar la replicación. Luego, crearemos un servidor esclavo que se sincronizará automáticamente con el maestro. Finalmente, demostraremos cómo realizar actualizaciones en el maestro y observar los cambios en el esclavo.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9521" y="2791539"/>
            <a:ext cx="6244709" cy="351258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24583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Lecciones aprendidas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735818"/>
            <a:ext cx="2845594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Planificación clave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3334703"/>
            <a:ext cx="2845594" cy="3266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Una planificación exhaustiva es fundamental para implementar exitosamente un sistema de replicación. Se deben considerar todos los escenarios posibles y tener planes de contingencia.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4200406" y="2735818"/>
            <a:ext cx="2845594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Monitoreo constante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200406" y="3334703"/>
            <a:ext cx="2845594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monitoreo continuo del sistema replicado es crucial para detectar y resolver problemas de manera oportuna. Se deben establecer indicadores clave de rendimiento (KPIs).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607022" y="2735818"/>
            <a:ext cx="2845594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Formación del equipo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607022" y="3706773"/>
            <a:ext cx="2845594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Contar con un equipo capacitado en las técnicas de replicación y resolución de conflictos es esencial para mantener la integridad de los datos.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1013638" y="2735818"/>
            <a:ext cx="2845594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Pruebas exhaustivas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1013638" y="3334703"/>
            <a:ext cx="2845594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 importante realizar pruebas exhaustivas en entornos de laboratorio antes de implementar la replicación en producción, para identificar y mitigar posibles fallas.</a:t>
            </a:r>
            <a:endParaRPr lang="en-US" sz="1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38" y="761167"/>
            <a:ext cx="7940754" cy="676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300"/>
              </a:lnSpc>
              <a:buNone/>
            </a:pPr>
            <a:r>
              <a:rPr lang="en-US" sz="4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Conclusiones y recomendaciones</a:t>
            </a:r>
            <a:endParaRPr lang="en-US" sz="4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638" y="1849993"/>
            <a:ext cx="4189571" cy="25892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1638" y="4696897"/>
            <a:ext cx="2706410" cy="338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Conclusiones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721638" y="5158859"/>
            <a:ext cx="4189571" cy="2309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implementación exitosa de sistemas de replicación de bases de datos distribuidas ofrece importantes beneficios, como mayor disponibilidad, escalabilidad y tolerancia a fallos. Sin embargo, también conlleva retos en cuanto a la gestión de conflictos y el mantenimiento de la integridad de datos.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414" y="1849993"/>
            <a:ext cx="4189571" cy="25892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20414" y="4696897"/>
            <a:ext cx="2706410" cy="338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Recomendaciones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5220414" y="5158859"/>
            <a:ext cx="4189571" cy="2309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 recomienda evaluar cuidadosamente los requisitos del sistema y seleccionar el modelo de replicación más adecuado (sincrónico o asincrónico). Además, es crucial implementar estrategias robustas para la resolución de conflictos y el monitoreo constante del sistema replicado.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9191" y="1849993"/>
            <a:ext cx="4189571" cy="258925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9191" y="4696897"/>
            <a:ext cx="2706410" cy="338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Lecciones Aprendidas</a:t>
            </a:r>
            <a:endParaRPr lang="en-US" sz="2100" dirty="0"/>
          </a:p>
        </p:txBody>
      </p:sp>
      <p:sp>
        <p:nvSpPr>
          <p:cNvPr id="11" name="Text 6"/>
          <p:cNvSpPr/>
          <p:nvPr/>
        </p:nvSpPr>
        <p:spPr>
          <a:xfrm>
            <a:off x="9719191" y="5158859"/>
            <a:ext cx="4189571" cy="2309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implementación de sistemas replicados requiere una planeación exhaustiva, conocimiento técnico sólido y un trabajo colaborativo entre el equipo de administración de bases de datos. Estas lecciones servirán para mejorar futuros proyectos de replicación.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2024-11-05T14:04:54Z</dcterms:created>
  <dcterms:modified xsi:type="dcterms:W3CDTF">2024-11-05T14:04:54Z</dcterms:modified>
</cp:coreProperties>
</file>