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4630400" cy="8229600"/>
  <p:notesSz cx="8229600" cy="14630400"/>
  <p:embeddedFontLst>
    <p:embeddedFont>
      <p:font typeface="Fraunces Medium"/>
      <p:regular r:id="rId22"/>
    </p:embeddedFont>
    <p:embeddedFont>
      <p:font typeface="Fraunces Medium"/>
      <p:regular r:id="rId23"/>
    </p:embeddedFont>
    <p:embeddedFont>
      <p:font typeface="Fraunces Medium"/>
      <p:regular r:id="rId24"/>
    </p:embeddedFont>
    <p:embeddedFont>
      <p:font typeface="Fraunces Medium"/>
      <p:regular r:id="rId25"/>
    </p:embeddedFont>
    <p:embeddedFont>
      <p:font typeface="Epilogue"/>
      <p:regular r:id="rId26"/>
    </p:embeddedFont>
    <p:embeddedFont>
      <p:font typeface="Epilogue"/>
      <p:regular r:id="rId27"/>
    </p:embeddedFont>
    <p:embeddedFont>
      <p:font typeface="Epilogue"/>
      <p:regular r:id="rId28"/>
    </p:embeddedFont>
    <p:embeddedFont>
      <p:font typeface="Epilogue"/>
      <p:regular r:id="rId29"/>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font" Target="fonts/font1.fntdata"/><Relationship Id="rId23" Type="http://schemas.openxmlformats.org/officeDocument/2006/relationships/font" Target="fonts/font2.fntdata"/><Relationship Id="rId24" Type="http://schemas.openxmlformats.org/officeDocument/2006/relationships/font" Target="fonts/font3.fntdata"/><Relationship Id="rId25" Type="http://schemas.openxmlformats.org/officeDocument/2006/relationships/font" Target="fonts/font4.fntdata"/><Relationship Id="rId26" Type="http://schemas.openxmlformats.org/officeDocument/2006/relationships/font" Target="fonts/font5.fntdata"/><Relationship Id="rId27" Type="http://schemas.openxmlformats.org/officeDocument/2006/relationships/font" Target="fonts/font6.fntdata"/><Relationship Id="rId28" Type="http://schemas.openxmlformats.org/officeDocument/2006/relationships/font" Target="fonts/font7.fntdata"/><Relationship Id="rId29"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5.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6.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8.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9.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0.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4.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5.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6.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9427607" y="2577465"/>
            <a:ext cx="4919186" cy="3074551"/>
          </a:xfrm>
          <a:prstGeom prst="rect">
            <a:avLst/>
          </a:prstGeom>
        </p:spPr>
      </p:pic>
      <p:sp>
        <p:nvSpPr>
          <p:cNvPr id="4" name="Text 0"/>
          <p:cNvSpPr/>
          <p:nvPr/>
        </p:nvSpPr>
        <p:spPr>
          <a:xfrm>
            <a:off x="793790" y="2002631"/>
            <a:ext cx="7556421" cy="1417558"/>
          </a:xfrm>
          <a:prstGeom prst="rect">
            <a:avLst/>
          </a:prstGeom>
          <a:noFill/>
          <a:ln/>
        </p:spPr>
        <p:txBody>
          <a:bodyPr wrap="square" lIns="0" tIns="0" rIns="0" bIns="0" rtlCol="0" anchor="t"/>
          <a:lstStyle/>
          <a:p>
            <a:pPr indent="0" marL="0">
              <a:lnSpc>
                <a:spcPts val="5550"/>
              </a:lnSpc>
              <a:buNone/>
            </a:pPr>
            <a:r>
              <a:rPr lang="en-US" sz="4450" dirty="0">
                <a:solidFill>
                  <a:srgbClr val="FFFFFF"/>
                </a:solidFill>
                <a:latin typeface="Fraunces Medium" pitchFamily="34" charset="0"/>
                <a:ea typeface="Fraunces Medium" pitchFamily="34" charset="-122"/>
                <a:cs typeface="Fraunces Medium" pitchFamily="34" charset="-120"/>
              </a:rPr>
              <a:t>Semana 4: Recuperación de Datos</a:t>
            </a:r>
            <a:endParaRPr lang="en-US" sz="4450" dirty="0"/>
          </a:p>
        </p:txBody>
      </p:sp>
      <p:sp>
        <p:nvSpPr>
          <p:cNvPr id="5" name="Text 1"/>
          <p:cNvSpPr/>
          <p:nvPr/>
        </p:nvSpPr>
        <p:spPr>
          <a:xfrm>
            <a:off x="793790" y="3760351"/>
            <a:ext cx="7556421" cy="1814513"/>
          </a:xfrm>
          <a:prstGeom prst="rect">
            <a:avLst/>
          </a:prstGeom>
          <a:noFill/>
          <a:ln/>
        </p:spPr>
        <p:txBody>
          <a:bodyPr wrap="square" lIns="0" tIns="0" rIns="0" bIns="0" rtlCol="0" anchor="t"/>
          <a:lstStyle/>
          <a:p>
            <a:pPr indent="0" marL="0">
              <a:lnSpc>
                <a:spcPts val="2850"/>
              </a:lnSpc>
              <a:buNone/>
            </a:pPr>
            <a:r>
              <a:rPr lang="en-US" sz="1750" dirty="0">
                <a:solidFill>
                  <a:srgbClr val="EBECEF"/>
                </a:solidFill>
                <a:latin typeface="Epilogue" pitchFamily="34" charset="0"/>
                <a:ea typeface="Epilogue" pitchFamily="34" charset="-122"/>
                <a:cs typeface="Epilogue" pitchFamily="34" charset="-120"/>
              </a:rPr>
              <a:t>En esta cuarta semana, nos enfocaremos en las estrategias y técnicas esenciales para la recuperación de datos en sistemas de bases de datos. Aprenderemos a implementar planes de respaldo y herramientas avanzadas para garantizar la integridad y disponibilidad de la información.</a:t>
            </a:r>
            <a:endParaRPr lang="en-US" sz="1750" dirty="0"/>
          </a:p>
        </p:txBody>
      </p:sp>
      <p:sp>
        <p:nvSpPr>
          <p:cNvPr id="6" name="Shape 2"/>
          <p:cNvSpPr/>
          <p:nvPr/>
        </p:nvSpPr>
        <p:spPr>
          <a:xfrm>
            <a:off x="793790" y="5846921"/>
            <a:ext cx="362903" cy="362903"/>
          </a:xfrm>
          <a:prstGeom prst="roundRect">
            <a:avLst>
              <a:gd name="adj" fmla="val 25194296"/>
            </a:avLst>
          </a:prstGeom>
          <a:noFill/>
          <a:ln w="7620">
            <a:solidFill>
              <a:srgbClr val="FFFFFF"/>
            </a:solidFill>
            <a:prstDash val="solid"/>
          </a:ln>
        </p:spPr>
      </p:sp>
      <p:pic>
        <p:nvPicPr>
          <p:cNvPr id="7" name="Image 2" descr="preencoded.png">    </p:cNvPr>
          <p:cNvPicPr>
            <a:picLocks noChangeAspect="1"/>
          </p:cNvPicPr>
          <p:nvPr/>
        </p:nvPicPr>
        <p:blipFill>
          <a:blip r:embed="rId3"/>
          <a:stretch>
            <a:fillRect/>
          </a:stretch>
        </p:blipFill>
        <p:spPr>
          <a:xfrm>
            <a:off x="801410" y="5854541"/>
            <a:ext cx="347663" cy="347663"/>
          </a:xfrm>
          <a:prstGeom prst="rect">
            <a:avLst/>
          </a:prstGeom>
        </p:spPr>
      </p:pic>
      <p:sp>
        <p:nvSpPr>
          <p:cNvPr id="8" name="Text 3"/>
          <p:cNvSpPr/>
          <p:nvPr/>
        </p:nvSpPr>
        <p:spPr>
          <a:xfrm>
            <a:off x="1270040" y="5830014"/>
            <a:ext cx="5898713" cy="396835"/>
          </a:xfrm>
          <a:prstGeom prst="rect">
            <a:avLst/>
          </a:prstGeom>
          <a:noFill/>
          <a:ln/>
        </p:spPr>
        <p:txBody>
          <a:bodyPr wrap="none" lIns="0" tIns="0" rIns="0" bIns="0" rtlCol="0" anchor="t"/>
          <a:lstStyle/>
          <a:p>
            <a:pPr algn="l" indent="0" marL="0">
              <a:lnSpc>
                <a:spcPts val="3100"/>
              </a:lnSpc>
              <a:buNone/>
            </a:pPr>
            <a:r>
              <a:rPr lang="en-US" sz="2200" b="1" dirty="0">
                <a:solidFill>
                  <a:srgbClr val="EBECEF"/>
                </a:solidFill>
                <a:latin typeface="Epilogue Bold" pitchFamily="34" charset="0"/>
                <a:ea typeface="Epilogue Bold" pitchFamily="34" charset="-122"/>
                <a:cs typeface="Epilogue Bold" pitchFamily="34" charset="-120"/>
              </a:rPr>
              <a:t>by DIEGO ANDRE MAZARIEGOS BARRIENTOS</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274088"/>
            <a:ext cx="10943273" cy="708779"/>
          </a:xfrm>
          <a:prstGeom prst="rect">
            <a:avLst/>
          </a:prstGeom>
          <a:noFill/>
          <a:ln/>
        </p:spPr>
        <p:txBody>
          <a:bodyPr wrap="none" lIns="0" tIns="0" rIns="0" bIns="0" rtlCol="0" anchor="t"/>
          <a:lstStyle/>
          <a:p>
            <a:pPr indent="0" marL="0">
              <a:lnSpc>
                <a:spcPts val="5550"/>
              </a:lnSpc>
              <a:buNone/>
            </a:pPr>
            <a:r>
              <a:rPr lang="en-US" sz="4450" dirty="0">
                <a:solidFill>
                  <a:srgbClr val="FFFFFF"/>
                </a:solidFill>
                <a:latin typeface="Fraunces Medium" pitchFamily="34" charset="0"/>
                <a:ea typeface="Fraunces Medium" pitchFamily="34" charset="-122"/>
                <a:cs typeface="Fraunces Medium" pitchFamily="34" charset="-120"/>
              </a:rPr>
              <a:t>Conceptos Clave: Recuperación de Datos</a:t>
            </a:r>
            <a:endParaRPr lang="en-US" sz="4450" dirty="0"/>
          </a:p>
        </p:txBody>
      </p:sp>
      <p:sp>
        <p:nvSpPr>
          <p:cNvPr id="3" name="Text 1"/>
          <p:cNvSpPr/>
          <p:nvPr/>
        </p:nvSpPr>
        <p:spPr>
          <a:xfrm>
            <a:off x="793790" y="2549843"/>
            <a:ext cx="2845594" cy="708660"/>
          </a:xfrm>
          <a:prstGeom prst="rect">
            <a:avLst/>
          </a:prstGeom>
          <a:noFill/>
          <a:ln/>
        </p:spPr>
        <p:txBody>
          <a:bodyPr wrap="square" lIns="0" tIns="0" rIns="0" bIns="0" rtlCol="0" anchor="t"/>
          <a:lstStyle/>
          <a:p>
            <a:pPr indent="0" marL="0">
              <a:lnSpc>
                <a:spcPts val="2750"/>
              </a:lnSpc>
              <a:buNone/>
            </a:pPr>
            <a:r>
              <a:rPr lang="en-US" sz="2200" dirty="0">
                <a:solidFill>
                  <a:srgbClr val="FFFFFF"/>
                </a:solidFill>
                <a:latin typeface="Fraunces Medium" pitchFamily="34" charset="0"/>
                <a:ea typeface="Fraunces Medium" pitchFamily="34" charset="-122"/>
                <a:cs typeface="Fraunces Medium" pitchFamily="34" charset="-120"/>
              </a:rPr>
              <a:t>Disponibilidad de Datos</a:t>
            </a:r>
            <a:endParaRPr lang="en-US" sz="2200" dirty="0"/>
          </a:p>
        </p:txBody>
      </p:sp>
      <p:sp>
        <p:nvSpPr>
          <p:cNvPr id="4" name="Text 2"/>
          <p:cNvSpPr/>
          <p:nvPr/>
        </p:nvSpPr>
        <p:spPr>
          <a:xfrm>
            <a:off x="793790" y="3485317"/>
            <a:ext cx="2845594" cy="2903220"/>
          </a:xfrm>
          <a:prstGeom prst="rect">
            <a:avLst/>
          </a:prstGeom>
          <a:noFill/>
          <a:ln/>
        </p:spPr>
        <p:txBody>
          <a:bodyPr wrap="square" lIns="0" tIns="0" rIns="0" bIns="0" rtlCol="0" anchor="t"/>
          <a:lstStyle/>
          <a:p>
            <a:pPr indent="0" marL="0">
              <a:lnSpc>
                <a:spcPts val="2850"/>
              </a:lnSpc>
              <a:buNone/>
            </a:pPr>
            <a:r>
              <a:rPr lang="en-US" sz="1750" dirty="0">
                <a:solidFill>
                  <a:srgbClr val="EBECEF"/>
                </a:solidFill>
                <a:latin typeface="Epilogue" pitchFamily="34" charset="0"/>
                <a:ea typeface="Epilogue" pitchFamily="34" charset="-122"/>
                <a:cs typeface="Epilogue" pitchFamily="34" charset="-120"/>
              </a:rPr>
              <a:t>La recuperación de datos garantiza que la información esté disponible y accesible cuando se necesite, incluso después de incidentes o fallos en el sistema.</a:t>
            </a:r>
            <a:endParaRPr lang="en-US" sz="1750" dirty="0"/>
          </a:p>
        </p:txBody>
      </p:sp>
      <p:sp>
        <p:nvSpPr>
          <p:cNvPr id="5" name="Text 3"/>
          <p:cNvSpPr/>
          <p:nvPr/>
        </p:nvSpPr>
        <p:spPr>
          <a:xfrm>
            <a:off x="4200406" y="2549843"/>
            <a:ext cx="2835235" cy="354330"/>
          </a:xfrm>
          <a:prstGeom prst="rect">
            <a:avLst/>
          </a:prstGeom>
          <a:noFill/>
          <a:ln/>
        </p:spPr>
        <p:txBody>
          <a:bodyPr wrap="none" lIns="0" tIns="0" rIns="0" bIns="0" rtlCol="0" anchor="t"/>
          <a:lstStyle/>
          <a:p>
            <a:pPr indent="0" marL="0">
              <a:lnSpc>
                <a:spcPts val="2750"/>
              </a:lnSpc>
              <a:buNone/>
            </a:pPr>
            <a:r>
              <a:rPr lang="en-US" sz="2200" dirty="0">
                <a:solidFill>
                  <a:srgbClr val="FFFFFF"/>
                </a:solidFill>
                <a:latin typeface="Fraunces Medium" pitchFamily="34" charset="0"/>
                <a:ea typeface="Fraunces Medium" pitchFamily="34" charset="-122"/>
                <a:cs typeface="Fraunces Medium" pitchFamily="34" charset="-120"/>
              </a:rPr>
              <a:t>Integridad de Datos</a:t>
            </a:r>
            <a:endParaRPr lang="en-US" sz="2200" dirty="0"/>
          </a:p>
        </p:txBody>
      </p:sp>
      <p:sp>
        <p:nvSpPr>
          <p:cNvPr id="6" name="Text 4"/>
          <p:cNvSpPr/>
          <p:nvPr/>
        </p:nvSpPr>
        <p:spPr>
          <a:xfrm>
            <a:off x="4200406" y="3130987"/>
            <a:ext cx="2845594" cy="2540318"/>
          </a:xfrm>
          <a:prstGeom prst="rect">
            <a:avLst/>
          </a:prstGeom>
          <a:noFill/>
          <a:ln/>
        </p:spPr>
        <p:txBody>
          <a:bodyPr wrap="square" lIns="0" tIns="0" rIns="0" bIns="0" rtlCol="0" anchor="t"/>
          <a:lstStyle/>
          <a:p>
            <a:pPr indent="0" marL="0">
              <a:lnSpc>
                <a:spcPts val="2850"/>
              </a:lnSpc>
              <a:buNone/>
            </a:pPr>
            <a:r>
              <a:rPr lang="en-US" sz="1750" dirty="0">
                <a:solidFill>
                  <a:srgbClr val="EBECEF"/>
                </a:solidFill>
                <a:latin typeface="Epilogue" pitchFamily="34" charset="0"/>
                <a:ea typeface="Epilogue" pitchFamily="34" charset="-122"/>
                <a:cs typeface="Epilogue" pitchFamily="34" charset="-120"/>
              </a:rPr>
              <a:t>Los procesos de recuperación aseguran que los datos se restauren completamente y mantengan su consistencia y precisión.</a:t>
            </a:r>
            <a:endParaRPr lang="en-US" sz="1750" dirty="0"/>
          </a:p>
        </p:txBody>
      </p:sp>
      <p:sp>
        <p:nvSpPr>
          <p:cNvPr id="7" name="Text 5"/>
          <p:cNvSpPr/>
          <p:nvPr/>
        </p:nvSpPr>
        <p:spPr>
          <a:xfrm>
            <a:off x="7607022" y="2549843"/>
            <a:ext cx="2845594" cy="708660"/>
          </a:xfrm>
          <a:prstGeom prst="rect">
            <a:avLst/>
          </a:prstGeom>
          <a:noFill/>
          <a:ln/>
        </p:spPr>
        <p:txBody>
          <a:bodyPr wrap="square" lIns="0" tIns="0" rIns="0" bIns="0" rtlCol="0" anchor="t"/>
          <a:lstStyle/>
          <a:p>
            <a:pPr indent="0" marL="0">
              <a:lnSpc>
                <a:spcPts val="2750"/>
              </a:lnSpc>
              <a:buNone/>
            </a:pPr>
            <a:r>
              <a:rPr lang="en-US" sz="2200" dirty="0">
                <a:solidFill>
                  <a:srgbClr val="FFFFFF"/>
                </a:solidFill>
                <a:latin typeface="Fraunces Medium" pitchFamily="34" charset="0"/>
                <a:ea typeface="Fraunces Medium" pitchFamily="34" charset="-122"/>
                <a:cs typeface="Fraunces Medium" pitchFamily="34" charset="-120"/>
              </a:rPr>
              <a:t>Continuidad del Negocio</a:t>
            </a:r>
            <a:endParaRPr lang="en-US" sz="2200" dirty="0"/>
          </a:p>
        </p:txBody>
      </p:sp>
      <p:sp>
        <p:nvSpPr>
          <p:cNvPr id="8" name="Text 6"/>
          <p:cNvSpPr/>
          <p:nvPr/>
        </p:nvSpPr>
        <p:spPr>
          <a:xfrm>
            <a:off x="7607022" y="3485317"/>
            <a:ext cx="2845594" cy="3266123"/>
          </a:xfrm>
          <a:prstGeom prst="rect">
            <a:avLst/>
          </a:prstGeom>
          <a:noFill/>
          <a:ln/>
        </p:spPr>
        <p:txBody>
          <a:bodyPr wrap="square" lIns="0" tIns="0" rIns="0" bIns="0" rtlCol="0" anchor="t"/>
          <a:lstStyle/>
          <a:p>
            <a:pPr indent="0" marL="0">
              <a:lnSpc>
                <a:spcPts val="2850"/>
              </a:lnSpc>
              <a:buNone/>
            </a:pPr>
            <a:r>
              <a:rPr lang="en-US" sz="1750" dirty="0">
                <a:solidFill>
                  <a:srgbClr val="EBECEF"/>
                </a:solidFill>
                <a:latin typeface="Epilogue" pitchFamily="34" charset="0"/>
                <a:ea typeface="Epilogue" pitchFamily="34" charset="-122"/>
                <a:cs typeface="Epilogue" pitchFamily="34" charset="-120"/>
              </a:rPr>
              <a:t>Una estrategia sólida de recuperación de datos permite a las organizaciones continuar sus operaciones y minimizar el impacto de interrupciones inesperadas.</a:t>
            </a:r>
            <a:endParaRPr lang="en-US" sz="1750" dirty="0"/>
          </a:p>
        </p:txBody>
      </p:sp>
      <p:sp>
        <p:nvSpPr>
          <p:cNvPr id="9" name="Text 7"/>
          <p:cNvSpPr/>
          <p:nvPr/>
        </p:nvSpPr>
        <p:spPr>
          <a:xfrm>
            <a:off x="11013638" y="2549843"/>
            <a:ext cx="2845594" cy="708660"/>
          </a:xfrm>
          <a:prstGeom prst="rect">
            <a:avLst/>
          </a:prstGeom>
          <a:noFill/>
          <a:ln/>
        </p:spPr>
        <p:txBody>
          <a:bodyPr wrap="square" lIns="0" tIns="0" rIns="0" bIns="0" rtlCol="0" anchor="t"/>
          <a:lstStyle/>
          <a:p>
            <a:pPr indent="0" marL="0">
              <a:lnSpc>
                <a:spcPts val="2750"/>
              </a:lnSpc>
              <a:buNone/>
            </a:pPr>
            <a:r>
              <a:rPr lang="en-US" sz="2200" dirty="0">
                <a:solidFill>
                  <a:srgbClr val="FFFFFF"/>
                </a:solidFill>
                <a:latin typeface="Fraunces Medium" pitchFamily="34" charset="0"/>
                <a:ea typeface="Fraunces Medium" pitchFamily="34" charset="-122"/>
                <a:cs typeface="Fraunces Medium" pitchFamily="34" charset="-120"/>
              </a:rPr>
              <a:t>Cumplimiento Normativo</a:t>
            </a:r>
            <a:endParaRPr lang="en-US" sz="2200" dirty="0"/>
          </a:p>
        </p:txBody>
      </p:sp>
      <p:sp>
        <p:nvSpPr>
          <p:cNvPr id="10" name="Text 8"/>
          <p:cNvSpPr/>
          <p:nvPr/>
        </p:nvSpPr>
        <p:spPr>
          <a:xfrm>
            <a:off x="11013638" y="3485317"/>
            <a:ext cx="2845594" cy="2903220"/>
          </a:xfrm>
          <a:prstGeom prst="rect">
            <a:avLst/>
          </a:prstGeom>
          <a:noFill/>
          <a:ln/>
        </p:spPr>
        <p:txBody>
          <a:bodyPr wrap="square" lIns="0" tIns="0" rIns="0" bIns="0" rtlCol="0" anchor="t"/>
          <a:lstStyle/>
          <a:p>
            <a:pPr indent="0" marL="0">
              <a:lnSpc>
                <a:spcPts val="2850"/>
              </a:lnSpc>
              <a:buNone/>
            </a:pPr>
            <a:r>
              <a:rPr lang="en-US" sz="1750" dirty="0">
                <a:solidFill>
                  <a:srgbClr val="EBECEF"/>
                </a:solidFill>
                <a:latin typeface="Epilogue" pitchFamily="34" charset="0"/>
                <a:ea typeface="Epilogue" pitchFamily="34" charset="-122"/>
                <a:cs typeface="Epilogue" pitchFamily="34" charset="-120"/>
              </a:rPr>
              <a:t>La recuperación de datos es crucial para cumplir con requisitos legales y regulatorios relacionados con la protección y conservación de la información.</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9391769" y="2688193"/>
            <a:ext cx="4990743" cy="2853095"/>
          </a:xfrm>
          <a:prstGeom prst="rect">
            <a:avLst/>
          </a:prstGeom>
        </p:spPr>
      </p:pic>
      <p:sp>
        <p:nvSpPr>
          <p:cNvPr id="4" name="Text 0"/>
          <p:cNvSpPr/>
          <p:nvPr/>
        </p:nvSpPr>
        <p:spPr>
          <a:xfrm>
            <a:off x="693658" y="1320046"/>
            <a:ext cx="6692503" cy="619363"/>
          </a:xfrm>
          <a:prstGeom prst="rect">
            <a:avLst/>
          </a:prstGeom>
          <a:noFill/>
          <a:ln/>
        </p:spPr>
        <p:txBody>
          <a:bodyPr wrap="none" lIns="0" tIns="0" rIns="0" bIns="0" rtlCol="0" anchor="t"/>
          <a:lstStyle/>
          <a:p>
            <a:pPr indent="0" marL="0">
              <a:lnSpc>
                <a:spcPts val="4850"/>
              </a:lnSpc>
              <a:buNone/>
            </a:pPr>
            <a:r>
              <a:rPr lang="en-US" sz="3900" dirty="0">
                <a:solidFill>
                  <a:srgbClr val="FFFFFF"/>
                </a:solidFill>
                <a:latin typeface="Fraunces Medium" pitchFamily="34" charset="0"/>
                <a:ea typeface="Fraunces Medium" pitchFamily="34" charset="-122"/>
                <a:cs typeface="Fraunces Medium" pitchFamily="34" charset="-120"/>
              </a:rPr>
              <a:t>Estrategias de Recuperación</a:t>
            </a:r>
            <a:endParaRPr lang="en-US" sz="3900" dirty="0"/>
          </a:p>
        </p:txBody>
      </p:sp>
      <p:sp>
        <p:nvSpPr>
          <p:cNvPr id="5" name="Shape 1"/>
          <p:cNvSpPr/>
          <p:nvPr/>
        </p:nvSpPr>
        <p:spPr>
          <a:xfrm>
            <a:off x="693658" y="2459593"/>
            <a:ext cx="445889" cy="445889"/>
          </a:xfrm>
          <a:prstGeom prst="roundRect">
            <a:avLst>
              <a:gd name="adj" fmla="val 18671"/>
            </a:avLst>
          </a:prstGeom>
          <a:solidFill>
            <a:srgbClr val="283157"/>
          </a:solidFill>
          <a:ln w="7620">
            <a:solidFill>
              <a:srgbClr val="414A70"/>
            </a:solidFill>
            <a:prstDash val="solid"/>
          </a:ln>
        </p:spPr>
      </p:sp>
      <p:sp>
        <p:nvSpPr>
          <p:cNvPr id="6" name="Text 2"/>
          <p:cNvSpPr/>
          <p:nvPr/>
        </p:nvSpPr>
        <p:spPr>
          <a:xfrm>
            <a:off x="848439" y="2533888"/>
            <a:ext cx="136327" cy="297299"/>
          </a:xfrm>
          <a:prstGeom prst="rect">
            <a:avLst/>
          </a:prstGeom>
          <a:noFill/>
          <a:ln/>
        </p:spPr>
        <p:txBody>
          <a:bodyPr wrap="none" lIns="0" tIns="0" rIns="0" bIns="0" rtlCol="0" anchor="t"/>
          <a:lstStyle/>
          <a:p>
            <a:pPr algn="ctr" indent="0" marL="0">
              <a:lnSpc>
                <a:spcPts val="2300"/>
              </a:lnSpc>
              <a:buNone/>
            </a:pPr>
            <a:r>
              <a:rPr lang="en-US" sz="2300" dirty="0">
                <a:solidFill>
                  <a:srgbClr val="EBECEF"/>
                </a:solidFill>
                <a:latin typeface="Fraunces Medium" pitchFamily="34" charset="0"/>
                <a:ea typeface="Fraunces Medium" pitchFamily="34" charset="-122"/>
                <a:cs typeface="Fraunces Medium" pitchFamily="34" charset="-120"/>
              </a:rPr>
              <a:t>1</a:t>
            </a:r>
            <a:endParaRPr lang="en-US" sz="2300" dirty="0"/>
          </a:p>
        </p:txBody>
      </p:sp>
      <p:sp>
        <p:nvSpPr>
          <p:cNvPr id="7" name="Text 3"/>
          <p:cNvSpPr/>
          <p:nvPr/>
        </p:nvSpPr>
        <p:spPr>
          <a:xfrm>
            <a:off x="1337667" y="2459593"/>
            <a:ext cx="2477691" cy="309682"/>
          </a:xfrm>
          <a:prstGeom prst="rect">
            <a:avLst/>
          </a:prstGeom>
          <a:noFill/>
          <a:ln/>
        </p:spPr>
        <p:txBody>
          <a:bodyPr wrap="none" lIns="0" tIns="0" rIns="0" bIns="0" rtlCol="0" anchor="t"/>
          <a:lstStyle/>
          <a:p>
            <a:pPr indent="0" marL="0">
              <a:lnSpc>
                <a:spcPts val="2400"/>
              </a:lnSpc>
              <a:buNone/>
            </a:pPr>
            <a:r>
              <a:rPr lang="en-US" sz="1950" dirty="0">
                <a:solidFill>
                  <a:srgbClr val="EBECEF"/>
                </a:solidFill>
                <a:latin typeface="Fraunces Medium" pitchFamily="34" charset="0"/>
                <a:ea typeface="Fraunces Medium" pitchFamily="34" charset="-122"/>
                <a:cs typeface="Fraunces Medium" pitchFamily="34" charset="-120"/>
              </a:rPr>
              <a:t>Respaldos Regulares</a:t>
            </a:r>
            <a:endParaRPr lang="en-US" sz="1950" dirty="0"/>
          </a:p>
        </p:txBody>
      </p:sp>
      <p:sp>
        <p:nvSpPr>
          <p:cNvPr id="8" name="Text 4"/>
          <p:cNvSpPr/>
          <p:nvPr/>
        </p:nvSpPr>
        <p:spPr>
          <a:xfrm>
            <a:off x="1337667" y="2888099"/>
            <a:ext cx="3135273" cy="1585912"/>
          </a:xfrm>
          <a:prstGeom prst="rect">
            <a:avLst/>
          </a:prstGeom>
          <a:noFill/>
          <a:ln/>
        </p:spPr>
        <p:txBody>
          <a:bodyPr wrap="square" lIns="0" tIns="0" rIns="0" bIns="0" rtlCol="0" anchor="t"/>
          <a:lstStyle/>
          <a:p>
            <a:pPr indent="0" marL="0">
              <a:lnSpc>
                <a:spcPts val="2450"/>
              </a:lnSpc>
              <a:buNone/>
            </a:pPr>
            <a:r>
              <a:rPr lang="en-US" sz="1550" dirty="0">
                <a:solidFill>
                  <a:srgbClr val="EBECEF"/>
                </a:solidFill>
                <a:latin typeface="Epilogue" pitchFamily="34" charset="0"/>
                <a:ea typeface="Epilogue" pitchFamily="34" charset="-122"/>
                <a:cs typeface="Epilogue" pitchFamily="34" charset="-120"/>
              </a:rPr>
              <a:t>Realizar respaldos completos, incrementales y diferenciales a intervalos programados para poder restaurar datos ante fallas.</a:t>
            </a:r>
            <a:endParaRPr lang="en-US" sz="1550" dirty="0"/>
          </a:p>
        </p:txBody>
      </p:sp>
      <p:sp>
        <p:nvSpPr>
          <p:cNvPr id="9" name="Shape 5"/>
          <p:cNvSpPr/>
          <p:nvPr/>
        </p:nvSpPr>
        <p:spPr>
          <a:xfrm>
            <a:off x="4671060" y="2459593"/>
            <a:ext cx="445889" cy="445889"/>
          </a:xfrm>
          <a:prstGeom prst="roundRect">
            <a:avLst>
              <a:gd name="adj" fmla="val 18671"/>
            </a:avLst>
          </a:prstGeom>
          <a:solidFill>
            <a:srgbClr val="283157"/>
          </a:solidFill>
          <a:ln w="7620">
            <a:solidFill>
              <a:srgbClr val="414A70"/>
            </a:solidFill>
            <a:prstDash val="solid"/>
          </a:ln>
        </p:spPr>
      </p:sp>
      <p:sp>
        <p:nvSpPr>
          <p:cNvPr id="10" name="Text 6"/>
          <p:cNvSpPr/>
          <p:nvPr/>
        </p:nvSpPr>
        <p:spPr>
          <a:xfrm>
            <a:off x="4803934" y="2533888"/>
            <a:ext cx="180142" cy="297299"/>
          </a:xfrm>
          <a:prstGeom prst="rect">
            <a:avLst/>
          </a:prstGeom>
          <a:noFill/>
          <a:ln/>
        </p:spPr>
        <p:txBody>
          <a:bodyPr wrap="none" lIns="0" tIns="0" rIns="0" bIns="0" rtlCol="0" anchor="t"/>
          <a:lstStyle/>
          <a:p>
            <a:pPr algn="ctr" indent="0" marL="0">
              <a:lnSpc>
                <a:spcPts val="2300"/>
              </a:lnSpc>
              <a:buNone/>
            </a:pPr>
            <a:r>
              <a:rPr lang="en-US" sz="2300" dirty="0">
                <a:solidFill>
                  <a:srgbClr val="EBECEF"/>
                </a:solidFill>
                <a:latin typeface="Fraunces Medium" pitchFamily="34" charset="0"/>
                <a:ea typeface="Fraunces Medium" pitchFamily="34" charset="-122"/>
                <a:cs typeface="Fraunces Medium" pitchFamily="34" charset="-120"/>
              </a:rPr>
              <a:t>2</a:t>
            </a:r>
            <a:endParaRPr lang="en-US" sz="2300" dirty="0"/>
          </a:p>
        </p:txBody>
      </p:sp>
      <p:sp>
        <p:nvSpPr>
          <p:cNvPr id="11" name="Text 7"/>
          <p:cNvSpPr/>
          <p:nvPr/>
        </p:nvSpPr>
        <p:spPr>
          <a:xfrm>
            <a:off x="5315069" y="2459593"/>
            <a:ext cx="2933105" cy="309682"/>
          </a:xfrm>
          <a:prstGeom prst="rect">
            <a:avLst/>
          </a:prstGeom>
          <a:noFill/>
          <a:ln/>
        </p:spPr>
        <p:txBody>
          <a:bodyPr wrap="none" lIns="0" tIns="0" rIns="0" bIns="0" rtlCol="0" anchor="t"/>
          <a:lstStyle/>
          <a:p>
            <a:pPr indent="0" marL="0">
              <a:lnSpc>
                <a:spcPts val="2400"/>
              </a:lnSpc>
              <a:buNone/>
            </a:pPr>
            <a:r>
              <a:rPr lang="en-US" sz="1950" dirty="0">
                <a:solidFill>
                  <a:srgbClr val="EBECEF"/>
                </a:solidFill>
                <a:latin typeface="Fraunces Medium" pitchFamily="34" charset="0"/>
                <a:ea typeface="Fraunces Medium" pitchFamily="34" charset="-122"/>
                <a:cs typeface="Fraunces Medium" pitchFamily="34" charset="-120"/>
              </a:rPr>
              <a:t>Pruebas de Restauración</a:t>
            </a:r>
            <a:endParaRPr lang="en-US" sz="1950" dirty="0"/>
          </a:p>
        </p:txBody>
      </p:sp>
      <p:sp>
        <p:nvSpPr>
          <p:cNvPr id="12" name="Text 8"/>
          <p:cNvSpPr/>
          <p:nvPr/>
        </p:nvSpPr>
        <p:spPr>
          <a:xfrm>
            <a:off x="5315069" y="2888099"/>
            <a:ext cx="3135273" cy="1585912"/>
          </a:xfrm>
          <a:prstGeom prst="rect">
            <a:avLst/>
          </a:prstGeom>
          <a:noFill/>
          <a:ln/>
        </p:spPr>
        <p:txBody>
          <a:bodyPr wrap="square" lIns="0" tIns="0" rIns="0" bIns="0" rtlCol="0" anchor="t"/>
          <a:lstStyle/>
          <a:p>
            <a:pPr indent="0" marL="0">
              <a:lnSpc>
                <a:spcPts val="2450"/>
              </a:lnSpc>
              <a:buNone/>
            </a:pPr>
            <a:r>
              <a:rPr lang="en-US" sz="1550" dirty="0">
                <a:solidFill>
                  <a:srgbClr val="EBECEF"/>
                </a:solidFill>
                <a:latin typeface="Epilogue" pitchFamily="34" charset="0"/>
                <a:ea typeface="Epilogue" pitchFamily="34" charset="-122"/>
                <a:cs typeface="Epilogue" pitchFamily="34" charset="-120"/>
              </a:rPr>
              <a:t>Verificar periódicamente la integridad de los respaldos realizando simulacros de recuperación para garantizar su funcionalidad.</a:t>
            </a:r>
            <a:endParaRPr lang="en-US" sz="1550" dirty="0"/>
          </a:p>
        </p:txBody>
      </p:sp>
      <p:sp>
        <p:nvSpPr>
          <p:cNvPr id="13" name="Shape 9"/>
          <p:cNvSpPr/>
          <p:nvPr/>
        </p:nvSpPr>
        <p:spPr>
          <a:xfrm>
            <a:off x="693658" y="4895017"/>
            <a:ext cx="445889" cy="445889"/>
          </a:xfrm>
          <a:prstGeom prst="roundRect">
            <a:avLst>
              <a:gd name="adj" fmla="val 18671"/>
            </a:avLst>
          </a:prstGeom>
          <a:solidFill>
            <a:srgbClr val="283157"/>
          </a:solidFill>
          <a:ln w="7620">
            <a:solidFill>
              <a:srgbClr val="414A70"/>
            </a:solidFill>
            <a:prstDash val="solid"/>
          </a:ln>
        </p:spPr>
      </p:sp>
      <p:sp>
        <p:nvSpPr>
          <p:cNvPr id="14" name="Text 10"/>
          <p:cNvSpPr/>
          <p:nvPr/>
        </p:nvSpPr>
        <p:spPr>
          <a:xfrm>
            <a:off x="834509" y="4969312"/>
            <a:ext cx="164068" cy="297299"/>
          </a:xfrm>
          <a:prstGeom prst="rect">
            <a:avLst/>
          </a:prstGeom>
          <a:noFill/>
          <a:ln/>
        </p:spPr>
        <p:txBody>
          <a:bodyPr wrap="none" lIns="0" tIns="0" rIns="0" bIns="0" rtlCol="0" anchor="t"/>
          <a:lstStyle/>
          <a:p>
            <a:pPr algn="ctr" indent="0" marL="0">
              <a:lnSpc>
                <a:spcPts val="2300"/>
              </a:lnSpc>
              <a:buNone/>
            </a:pPr>
            <a:r>
              <a:rPr lang="en-US" sz="2300" dirty="0">
                <a:solidFill>
                  <a:srgbClr val="EBECEF"/>
                </a:solidFill>
                <a:latin typeface="Fraunces Medium" pitchFamily="34" charset="0"/>
                <a:ea typeface="Fraunces Medium" pitchFamily="34" charset="-122"/>
                <a:cs typeface="Fraunces Medium" pitchFamily="34" charset="-120"/>
              </a:rPr>
              <a:t>3</a:t>
            </a:r>
            <a:endParaRPr lang="en-US" sz="2300" dirty="0"/>
          </a:p>
        </p:txBody>
      </p:sp>
      <p:sp>
        <p:nvSpPr>
          <p:cNvPr id="15" name="Text 11"/>
          <p:cNvSpPr/>
          <p:nvPr/>
        </p:nvSpPr>
        <p:spPr>
          <a:xfrm>
            <a:off x="1337667" y="4895017"/>
            <a:ext cx="2638306" cy="309682"/>
          </a:xfrm>
          <a:prstGeom prst="rect">
            <a:avLst/>
          </a:prstGeom>
          <a:noFill/>
          <a:ln/>
        </p:spPr>
        <p:txBody>
          <a:bodyPr wrap="none" lIns="0" tIns="0" rIns="0" bIns="0" rtlCol="0" anchor="t"/>
          <a:lstStyle/>
          <a:p>
            <a:pPr indent="0" marL="0">
              <a:lnSpc>
                <a:spcPts val="2400"/>
              </a:lnSpc>
              <a:buNone/>
            </a:pPr>
            <a:r>
              <a:rPr lang="en-US" sz="1950" dirty="0">
                <a:solidFill>
                  <a:srgbClr val="EBECEF"/>
                </a:solidFill>
                <a:latin typeface="Fraunces Medium" pitchFamily="34" charset="0"/>
                <a:ea typeface="Fraunces Medium" pitchFamily="34" charset="-122"/>
                <a:cs typeface="Fraunces Medium" pitchFamily="34" charset="-120"/>
              </a:rPr>
              <a:t>Redundancia de Datos</a:t>
            </a:r>
            <a:endParaRPr lang="en-US" sz="1950" dirty="0"/>
          </a:p>
        </p:txBody>
      </p:sp>
      <p:sp>
        <p:nvSpPr>
          <p:cNvPr id="16" name="Text 12"/>
          <p:cNvSpPr/>
          <p:nvPr/>
        </p:nvSpPr>
        <p:spPr>
          <a:xfrm>
            <a:off x="1337667" y="5323523"/>
            <a:ext cx="3135273" cy="1585912"/>
          </a:xfrm>
          <a:prstGeom prst="rect">
            <a:avLst/>
          </a:prstGeom>
          <a:noFill/>
          <a:ln/>
        </p:spPr>
        <p:txBody>
          <a:bodyPr wrap="square" lIns="0" tIns="0" rIns="0" bIns="0" rtlCol="0" anchor="t"/>
          <a:lstStyle/>
          <a:p>
            <a:pPr indent="0" marL="0">
              <a:lnSpc>
                <a:spcPts val="2450"/>
              </a:lnSpc>
              <a:buNone/>
            </a:pPr>
            <a:r>
              <a:rPr lang="en-US" sz="1550" dirty="0">
                <a:solidFill>
                  <a:srgbClr val="EBECEF"/>
                </a:solidFill>
                <a:latin typeface="Epilogue" pitchFamily="34" charset="0"/>
                <a:ea typeface="Epilogue" pitchFamily="34" charset="-122"/>
                <a:cs typeface="Epilogue" pitchFamily="34" charset="-120"/>
              </a:rPr>
              <a:t>Implementar soluciones de almacenamiento redundante como RAID o replicación para tener múltiples copias de seguridad.</a:t>
            </a:r>
            <a:endParaRPr lang="en-US" sz="1550" dirty="0"/>
          </a:p>
        </p:txBody>
      </p:sp>
      <p:sp>
        <p:nvSpPr>
          <p:cNvPr id="17" name="Shape 13"/>
          <p:cNvSpPr/>
          <p:nvPr/>
        </p:nvSpPr>
        <p:spPr>
          <a:xfrm>
            <a:off x="4671060" y="4895017"/>
            <a:ext cx="445889" cy="445889"/>
          </a:xfrm>
          <a:prstGeom prst="roundRect">
            <a:avLst>
              <a:gd name="adj" fmla="val 18671"/>
            </a:avLst>
          </a:prstGeom>
          <a:solidFill>
            <a:srgbClr val="283157"/>
          </a:solidFill>
          <a:ln w="7620">
            <a:solidFill>
              <a:srgbClr val="414A70"/>
            </a:solidFill>
            <a:prstDash val="solid"/>
          </a:ln>
        </p:spPr>
      </p:sp>
      <p:sp>
        <p:nvSpPr>
          <p:cNvPr id="18" name="Text 14"/>
          <p:cNvSpPr/>
          <p:nvPr/>
        </p:nvSpPr>
        <p:spPr>
          <a:xfrm>
            <a:off x="4803100" y="4969312"/>
            <a:ext cx="181808" cy="297299"/>
          </a:xfrm>
          <a:prstGeom prst="rect">
            <a:avLst/>
          </a:prstGeom>
          <a:noFill/>
          <a:ln/>
        </p:spPr>
        <p:txBody>
          <a:bodyPr wrap="none" lIns="0" tIns="0" rIns="0" bIns="0" rtlCol="0" anchor="t"/>
          <a:lstStyle/>
          <a:p>
            <a:pPr algn="ctr" indent="0" marL="0">
              <a:lnSpc>
                <a:spcPts val="2300"/>
              </a:lnSpc>
              <a:buNone/>
            </a:pPr>
            <a:r>
              <a:rPr lang="en-US" sz="2300" dirty="0">
                <a:solidFill>
                  <a:srgbClr val="EBECEF"/>
                </a:solidFill>
                <a:latin typeface="Fraunces Medium" pitchFamily="34" charset="0"/>
                <a:ea typeface="Fraunces Medium" pitchFamily="34" charset="-122"/>
                <a:cs typeface="Fraunces Medium" pitchFamily="34" charset="-120"/>
              </a:rPr>
              <a:t>4</a:t>
            </a:r>
            <a:endParaRPr lang="en-US" sz="2300" dirty="0"/>
          </a:p>
        </p:txBody>
      </p:sp>
      <p:sp>
        <p:nvSpPr>
          <p:cNvPr id="19" name="Text 15"/>
          <p:cNvSpPr/>
          <p:nvPr/>
        </p:nvSpPr>
        <p:spPr>
          <a:xfrm>
            <a:off x="5315069" y="4895017"/>
            <a:ext cx="3135273" cy="619363"/>
          </a:xfrm>
          <a:prstGeom prst="rect">
            <a:avLst/>
          </a:prstGeom>
          <a:noFill/>
          <a:ln/>
        </p:spPr>
        <p:txBody>
          <a:bodyPr wrap="square" lIns="0" tIns="0" rIns="0" bIns="0" rtlCol="0" anchor="t"/>
          <a:lstStyle/>
          <a:p>
            <a:pPr indent="0" marL="0">
              <a:lnSpc>
                <a:spcPts val="2400"/>
              </a:lnSpc>
              <a:buNone/>
            </a:pPr>
            <a:r>
              <a:rPr lang="en-US" sz="1950" dirty="0">
                <a:solidFill>
                  <a:srgbClr val="EBECEF"/>
                </a:solidFill>
                <a:latin typeface="Fraunces Medium" pitchFamily="34" charset="0"/>
                <a:ea typeface="Fraunces Medium" pitchFamily="34" charset="-122"/>
                <a:cs typeface="Fraunces Medium" pitchFamily="34" charset="-120"/>
              </a:rPr>
              <a:t>Procedimientos Automatizados</a:t>
            </a:r>
            <a:endParaRPr lang="en-US" sz="1950" dirty="0"/>
          </a:p>
        </p:txBody>
      </p:sp>
      <p:sp>
        <p:nvSpPr>
          <p:cNvPr id="20" name="Text 16"/>
          <p:cNvSpPr/>
          <p:nvPr/>
        </p:nvSpPr>
        <p:spPr>
          <a:xfrm>
            <a:off x="5315069" y="5633204"/>
            <a:ext cx="3135273" cy="1268730"/>
          </a:xfrm>
          <a:prstGeom prst="rect">
            <a:avLst/>
          </a:prstGeom>
          <a:noFill/>
          <a:ln/>
        </p:spPr>
        <p:txBody>
          <a:bodyPr wrap="square" lIns="0" tIns="0" rIns="0" bIns="0" rtlCol="0" anchor="t"/>
          <a:lstStyle/>
          <a:p>
            <a:pPr indent="0" marL="0">
              <a:lnSpc>
                <a:spcPts val="2450"/>
              </a:lnSpc>
              <a:buNone/>
            </a:pPr>
            <a:r>
              <a:rPr lang="en-US" sz="1550" dirty="0">
                <a:solidFill>
                  <a:srgbClr val="EBECEF"/>
                </a:solidFill>
                <a:latin typeface="Epilogue" pitchFamily="34" charset="0"/>
                <a:ea typeface="Epilogue" pitchFamily="34" charset="-122"/>
                <a:cs typeface="Epilogue" pitchFamily="34" charset="-120"/>
              </a:rPr>
              <a:t>Diseñar scripts y herramientas que agilicen y estandaricen los procesos de respaldo y recuperación de datos.</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257294" y="1628894"/>
            <a:ext cx="4971812" cy="4971812"/>
          </a:xfrm>
          <a:prstGeom prst="rect">
            <a:avLst/>
          </a:prstGeom>
        </p:spPr>
      </p:pic>
      <p:sp>
        <p:nvSpPr>
          <p:cNvPr id="4" name="Text 0"/>
          <p:cNvSpPr/>
          <p:nvPr/>
        </p:nvSpPr>
        <p:spPr>
          <a:xfrm>
            <a:off x="6206847" y="674013"/>
            <a:ext cx="7703106" cy="1286351"/>
          </a:xfrm>
          <a:prstGeom prst="rect">
            <a:avLst/>
          </a:prstGeom>
          <a:noFill/>
          <a:ln/>
        </p:spPr>
        <p:txBody>
          <a:bodyPr wrap="square" lIns="0" tIns="0" rIns="0" bIns="0" rtlCol="0" anchor="t"/>
          <a:lstStyle/>
          <a:p>
            <a:pPr indent="0" marL="0">
              <a:lnSpc>
                <a:spcPts val="5050"/>
              </a:lnSpc>
              <a:buNone/>
            </a:pPr>
            <a:r>
              <a:rPr lang="en-US" sz="4050" dirty="0">
                <a:solidFill>
                  <a:srgbClr val="FFFFFF"/>
                </a:solidFill>
                <a:latin typeface="Fraunces Medium" pitchFamily="34" charset="0"/>
                <a:ea typeface="Fraunces Medium" pitchFamily="34" charset="-122"/>
                <a:cs typeface="Fraunces Medium" pitchFamily="34" charset="-120"/>
              </a:rPr>
              <a:t>Recuperación con Respaldos Completos</a:t>
            </a:r>
            <a:endParaRPr lang="en-US" sz="4050" dirty="0"/>
          </a:p>
        </p:txBody>
      </p:sp>
      <p:sp>
        <p:nvSpPr>
          <p:cNvPr id="5" name="Shape 1"/>
          <p:cNvSpPr/>
          <p:nvPr/>
        </p:nvSpPr>
        <p:spPr>
          <a:xfrm>
            <a:off x="6504146" y="2269093"/>
            <a:ext cx="22860" cy="5286375"/>
          </a:xfrm>
          <a:prstGeom prst="roundRect">
            <a:avLst>
              <a:gd name="adj" fmla="val 378194"/>
            </a:avLst>
          </a:prstGeom>
          <a:solidFill>
            <a:srgbClr val="414A70"/>
          </a:solidFill>
          <a:ln/>
        </p:spPr>
      </p:sp>
      <p:sp>
        <p:nvSpPr>
          <p:cNvPr id="6" name="Shape 2"/>
          <p:cNvSpPr/>
          <p:nvPr/>
        </p:nvSpPr>
        <p:spPr>
          <a:xfrm>
            <a:off x="6724233" y="2720578"/>
            <a:ext cx="720447" cy="22860"/>
          </a:xfrm>
          <a:prstGeom prst="roundRect">
            <a:avLst>
              <a:gd name="adj" fmla="val 378194"/>
            </a:avLst>
          </a:prstGeom>
          <a:solidFill>
            <a:srgbClr val="414A70"/>
          </a:solidFill>
          <a:ln/>
        </p:spPr>
      </p:sp>
      <p:sp>
        <p:nvSpPr>
          <p:cNvPr id="7" name="Shape 3"/>
          <p:cNvSpPr/>
          <p:nvPr/>
        </p:nvSpPr>
        <p:spPr>
          <a:xfrm>
            <a:off x="6284059" y="2500551"/>
            <a:ext cx="463034" cy="463034"/>
          </a:xfrm>
          <a:prstGeom prst="roundRect">
            <a:avLst>
              <a:gd name="adj" fmla="val 18671"/>
            </a:avLst>
          </a:prstGeom>
          <a:solidFill>
            <a:srgbClr val="283157"/>
          </a:solidFill>
          <a:ln w="7620">
            <a:solidFill>
              <a:srgbClr val="414A70"/>
            </a:solidFill>
            <a:prstDash val="solid"/>
          </a:ln>
        </p:spPr>
      </p:sp>
      <p:sp>
        <p:nvSpPr>
          <p:cNvPr id="8" name="Text 4"/>
          <p:cNvSpPr/>
          <p:nvPr/>
        </p:nvSpPr>
        <p:spPr>
          <a:xfrm>
            <a:off x="6444794" y="2577703"/>
            <a:ext cx="141565" cy="308729"/>
          </a:xfrm>
          <a:prstGeom prst="rect">
            <a:avLst/>
          </a:prstGeom>
          <a:noFill/>
          <a:ln/>
        </p:spPr>
        <p:txBody>
          <a:bodyPr wrap="none" lIns="0" tIns="0" rIns="0" bIns="0" rtlCol="0" anchor="t"/>
          <a:lstStyle/>
          <a:p>
            <a:pPr algn="ctr" indent="0" marL="0">
              <a:lnSpc>
                <a:spcPts val="2400"/>
              </a:lnSpc>
              <a:buNone/>
            </a:pPr>
            <a:r>
              <a:rPr lang="en-US" sz="2400" dirty="0">
                <a:solidFill>
                  <a:srgbClr val="EBECEF"/>
                </a:solidFill>
                <a:latin typeface="Fraunces Medium" pitchFamily="34" charset="0"/>
                <a:ea typeface="Fraunces Medium" pitchFamily="34" charset="-122"/>
                <a:cs typeface="Fraunces Medium" pitchFamily="34" charset="-120"/>
              </a:rPr>
              <a:t>1</a:t>
            </a:r>
            <a:endParaRPr lang="en-US" sz="2400" dirty="0"/>
          </a:p>
        </p:txBody>
      </p:sp>
      <p:sp>
        <p:nvSpPr>
          <p:cNvPr id="9" name="Text 5"/>
          <p:cNvSpPr/>
          <p:nvPr/>
        </p:nvSpPr>
        <p:spPr>
          <a:xfrm>
            <a:off x="7647623" y="2474833"/>
            <a:ext cx="3143488" cy="321588"/>
          </a:xfrm>
          <a:prstGeom prst="rect">
            <a:avLst/>
          </a:prstGeom>
          <a:noFill/>
          <a:ln/>
        </p:spPr>
        <p:txBody>
          <a:bodyPr wrap="none" lIns="0" tIns="0" rIns="0" bIns="0" rtlCol="0" anchor="t"/>
          <a:lstStyle/>
          <a:p>
            <a:pPr algn="l" indent="0" marL="0">
              <a:lnSpc>
                <a:spcPts val="2500"/>
              </a:lnSpc>
              <a:buNone/>
            </a:pPr>
            <a:r>
              <a:rPr lang="en-US" sz="2000" dirty="0">
                <a:solidFill>
                  <a:srgbClr val="EBECEF"/>
                </a:solidFill>
                <a:latin typeface="Fraunces Medium" pitchFamily="34" charset="0"/>
                <a:ea typeface="Fraunces Medium" pitchFamily="34" charset="-122"/>
                <a:cs typeface="Fraunces Medium" pitchFamily="34" charset="-120"/>
              </a:rPr>
              <a:t>Crear Respaldo Completo</a:t>
            </a:r>
            <a:endParaRPr lang="en-US" sz="2000" dirty="0"/>
          </a:p>
        </p:txBody>
      </p:sp>
      <p:sp>
        <p:nvSpPr>
          <p:cNvPr id="10" name="Text 6"/>
          <p:cNvSpPr/>
          <p:nvPr/>
        </p:nvSpPr>
        <p:spPr>
          <a:xfrm>
            <a:off x="7647623" y="2919889"/>
            <a:ext cx="6262330" cy="658654"/>
          </a:xfrm>
          <a:prstGeom prst="rect">
            <a:avLst/>
          </a:prstGeom>
          <a:noFill/>
          <a:ln/>
        </p:spPr>
        <p:txBody>
          <a:bodyPr wrap="square" lIns="0" tIns="0" rIns="0" bIns="0" rtlCol="0" anchor="t"/>
          <a:lstStyle/>
          <a:p>
            <a:pPr algn="l" indent="0" marL="0">
              <a:lnSpc>
                <a:spcPts val="2550"/>
              </a:lnSpc>
              <a:buNone/>
            </a:pPr>
            <a:r>
              <a:rPr lang="en-US" sz="1600" dirty="0">
                <a:solidFill>
                  <a:srgbClr val="EBECEF"/>
                </a:solidFill>
                <a:latin typeface="Epilogue" pitchFamily="34" charset="0"/>
                <a:ea typeface="Epilogue" pitchFamily="34" charset="-122"/>
                <a:cs typeface="Epilogue" pitchFamily="34" charset="-120"/>
              </a:rPr>
              <a:t>El primer paso es realizar un respaldo completo de la base de datos, capturando toda la información en un único archivo.</a:t>
            </a:r>
            <a:endParaRPr lang="en-US" sz="1600" dirty="0"/>
          </a:p>
        </p:txBody>
      </p:sp>
      <p:sp>
        <p:nvSpPr>
          <p:cNvPr id="11" name="Shape 7"/>
          <p:cNvSpPr/>
          <p:nvPr/>
        </p:nvSpPr>
        <p:spPr>
          <a:xfrm>
            <a:off x="6724233" y="4441508"/>
            <a:ext cx="720447" cy="22860"/>
          </a:xfrm>
          <a:prstGeom prst="roundRect">
            <a:avLst>
              <a:gd name="adj" fmla="val 378194"/>
            </a:avLst>
          </a:prstGeom>
          <a:solidFill>
            <a:srgbClr val="414A70"/>
          </a:solidFill>
          <a:ln/>
        </p:spPr>
      </p:sp>
      <p:sp>
        <p:nvSpPr>
          <p:cNvPr id="12" name="Shape 8"/>
          <p:cNvSpPr/>
          <p:nvPr/>
        </p:nvSpPr>
        <p:spPr>
          <a:xfrm>
            <a:off x="6284059" y="4221480"/>
            <a:ext cx="463034" cy="463034"/>
          </a:xfrm>
          <a:prstGeom prst="roundRect">
            <a:avLst>
              <a:gd name="adj" fmla="val 18671"/>
            </a:avLst>
          </a:prstGeom>
          <a:solidFill>
            <a:srgbClr val="283157"/>
          </a:solidFill>
          <a:ln w="7620">
            <a:solidFill>
              <a:srgbClr val="414A70"/>
            </a:solidFill>
            <a:prstDash val="solid"/>
          </a:ln>
        </p:spPr>
      </p:sp>
      <p:sp>
        <p:nvSpPr>
          <p:cNvPr id="13" name="Text 9"/>
          <p:cNvSpPr/>
          <p:nvPr/>
        </p:nvSpPr>
        <p:spPr>
          <a:xfrm>
            <a:off x="6421934" y="4298633"/>
            <a:ext cx="187166" cy="308729"/>
          </a:xfrm>
          <a:prstGeom prst="rect">
            <a:avLst/>
          </a:prstGeom>
          <a:noFill/>
          <a:ln/>
        </p:spPr>
        <p:txBody>
          <a:bodyPr wrap="none" lIns="0" tIns="0" rIns="0" bIns="0" rtlCol="0" anchor="t"/>
          <a:lstStyle/>
          <a:p>
            <a:pPr algn="ctr" indent="0" marL="0">
              <a:lnSpc>
                <a:spcPts val="2400"/>
              </a:lnSpc>
              <a:buNone/>
            </a:pPr>
            <a:r>
              <a:rPr lang="en-US" sz="2400" dirty="0">
                <a:solidFill>
                  <a:srgbClr val="EBECEF"/>
                </a:solidFill>
                <a:latin typeface="Fraunces Medium" pitchFamily="34" charset="0"/>
                <a:ea typeface="Fraunces Medium" pitchFamily="34" charset="-122"/>
                <a:cs typeface="Fraunces Medium" pitchFamily="34" charset="-120"/>
              </a:rPr>
              <a:t>2</a:t>
            </a:r>
            <a:endParaRPr lang="en-US" sz="2400" dirty="0"/>
          </a:p>
        </p:txBody>
      </p:sp>
      <p:sp>
        <p:nvSpPr>
          <p:cNvPr id="14" name="Text 10"/>
          <p:cNvSpPr/>
          <p:nvPr/>
        </p:nvSpPr>
        <p:spPr>
          <a:xfrm>
            <a:off x="7647623" y="4195763"/>
            <a:ext cx="3015972" cy="321588"/>
          </a:xfrm>
          <a:prstGeom prst="rect">
            <a:avLst/>
          </a:prstGeom>
          <a:noFill/>
          <a:ln/>
        </p:spPr>
        <p:txBody>
          <a:bodyPr wrap="none" lIns="0" tIns="0" rIns="0" bIns="0" rtlCol="0" anchor="t"/>
          <a:lstStyle/>
          <a:p>
            <a:pPr algn="l" indent="0" marL="0">
              <a:lnSpc>
                <a:spcPts val="2500"/>
              </a:lnSpc>
              <a:buNone/>
            </a:pPr>
            <a:r>
              <a:rPr lang="en-US" sz="2000" dirty="0">
                <a:solidFill>
                  <a:srgbClr val="EBECEF"/>
                </a:solidFill>
                <a:latin typeface="Fraunces Medium" pitchFamily="34" charset="0"/>
                <a:ea typeface="Fraunces Medium" pitchFamily="34" charset="-122"/>
                <a:cs typeface="Fraunces Medium" pitchFamily="34" charset="-120"/>
              </a:rPr>
              <a:t>Almacenamiento Seguro</a:t>
            </a:r>
            <a:endParaRPr lang="en-US" sz="2000" dirty="0"/>
          </a:p>
        </p:txBody>
      </p:sp>
      <p:sp>
        <p:nvSpPr>
          <p:cNvPr id="15" name="Text 11"/>
          <p:cNvSpPr/>
          <p:nvPr/>
        </p:nvSpPr>
        <p:spPr>
          <a:xfrm>
            <a:off x="7647623" y="4640818"/>
            <a:ext cx="6262330" cy="987981"/>
          </a:xfrm>
          <a:prstGeom prst="rect">
            <a:avLst/>
          </a:prstGeom>
          <a:noFill/>
          <a:ln/>
        </p:spPr>
        <p:txBody>
          <a:bodyPr wrap="square" lIns="0" tIns="0" rIns="0" bIns="0" rtlCol="0" anchor="t"/>
          <a:lstStyle/>
          <a:p>
            <a:pPr algn="l" indent="0" marL="0">
              <a:lnSpc>
                <a:spcPts val="2550"/>
              </a:lnSpc>
              <a:buNone/>
            </a:pPr>
            <a:r>
              <a:rPr lang="en-US" sz="1600" dirty="0">
                <a:solidFill>
                  <a:srgbClr val="EBECEF"/>
                </a:solidFill>
                <a:latin typeface="Epilogue" pitchFamily="34" charset="0"/>
                <a:ea typeface="Epilogue" pitchFamily="34" charset="-122"/>
                <a:cs typeface="Epilogue" pitchFamily="34" charset="-120"/>
              </a:rPr>
              <a:t>El respaldo completo se guarda en un medio de almacenamiento externo, asegurándose de que esté protegido y sea fácilmente accesible.</a:t>
            </a:r>
            <a:endParaRPr lang="en-US" sz="1600" dirty="0"/>
          </a:p>
        </p:txBody>
      </p:sp>
      <p:sp>
        <p:nvSpPr>
          <p:cNvPr id="16" name="Shape 12"/>
          <p:cNvSpPr/>
          <p:nvPr/>
        </p:nvSpPr>
        <p:spPr>
          <a:xfrm>
            <a:off x="6724233" y="6491764"/>
            <a:ext cx="720447" cy="22860"/>
          </a:xfrm>
          <a:prstGeom prst="roundRect">
            <a:avLst>
              <a:gd name="adj" fmla="val 378194"/>
            </a:avLst>
          </a:prstGeom>
          <a:solidFill>
            <a:srgbClr val="414A70"/>
          </a:solidFill>
          <a:ln/>
        </p:spPr>
      </p:sp>
      <p:sp>
        <p:nvSpPr>
          <p:cNvPr id="17" name="Shape 13"/>
          <p:cNvSpPr/>
          <p:nvPr/>
        </p:nvSpPr>
        <p:spPr>
          <a:xfrm>
            <a:off x="6284059" y="6271736"/>
            <a:ext cx="463034" cy="463034"/>
          </a:xfrm>
          <a:prstGeom prst="roundRect">
            <a:avLst>
              <a:gd name="adj" fmla="val 18671"/>
            </a:avLst>
          </a:prstGeom>
          <a:solidFill>
            <a:srgbClr val="283157"/>
          </a:solidFill>
          <a:ln w="7620">
            <a:solidFill>
              <a:srgbClr val="414A70"/>
            </a:solidFill>
            <a:prstDash val="solid"/>
          </a:ln>
        </p:spPr>
      </p:sp>
      <p:sp>
        <p:nvSpPr>
          <p:cNvPr id="18" name="Text 14"/>
          <p:cNvSpPr/>
          <p:nvPr/>
        </p:nvSpPr>
        <p:spPr>
          <a:xfrm>
            <a:off x="6430268" y="6348889"/>
            <a:ext cx="170497" cy="308729"/>
          </a:xfrm>
          <a:prstGeom prst="rect">
            <a:avLst/>
          </a:prstGeom>
          <a:noFill/>
          <a:ln/>
        </p:spPr>
        <p:txBody>
          <a:bodyPr wrap="none" lIns="0" tIns="0" rIns="0" bIns="0" rtlCol="0" anchor="t"/>
          <a:lstStyle/>
          <a:p>
            <a:pPr algn="ctr" indent="0" marL="0">
              <a:lnSpc>
                <a:spcPts val="2400"/>
              </a:lnSpc>
              <a:buNone/>
            </a:pPr>
            <a:r>
              <a:rPr lang="en-US" sz="2400" dirty="0">
                <a:solidFill>
                  <a:srgbClr val="EBECEF"/>
                </a:solidFill>
                <a:latin typeface="Fraunces Medium" pitchFamily="34" charset="0"/>
                <a:ea typeface="Fraunces Medium" pitchFamily="34" charset="-122"/>
                <a:cs typeface="Fraunces Medium" pitchFamily="34" charset="-120"/>
              </a:rPr>
              <a:t>3</a:t>
            </a:r>
            <a:endParaRPr lang="en-US" sz="2400" dirty="0"/>
          </a:p>
        </p:txBody>
      </p:sp>
      <p:sp>
        <p:nvSpPr>
          <p:cNvPr id="19" name="Text 15"/>
          <p:cNvSpPr/>
          <p:nvPr/>
        </p:nvSpPr>
        <p:spPr>
          <a:xfrm>
            <a:off x="7647623" y="6246019"/>
            <a:ext cx="2573060" cy="321588"/>
          </a:xfrm>
          <a:prstGeom prst="rect">
            <a:avLst/>
          </a:prstGeom>
          <a:noFill/>
          <a:ln/>
        </p:spPr>
        <p:txBody>
          <a:bodyPr wrap="none" lIns="0" tIns="0" rIns="0" bIns="0" rtlCol="0" anchor="t"/>
          <a:lstStyle/>
          <a:p>
            <a:pPr algn="l" indent="0" marL="0">
              <a:lnSpc>
                <a:spcPts val="2500"/>
              </a:lnSpc>
              <a:buNone/>
            </a:pPr>
            <a:r>
              <a:rPr lang="en-US" sz="2000" dirty="0">
                <a:solidFill>
                  <a:srgbClr val="EBECEF"/>
                </a:solidFill>
                <a:latin typeface="Fraunces Medium" pitchFamily="34" charset="0"/>
                <a:ea typeface="Fraunces Medium" pitchFamily="34" charset="-122"/>
                <a:cs typeface="Fraunces Medium" pitchFamily="34" charset="-120"/>
              </a:rPr>
              <a:t>Restauración Total</a:t>
            </a:r>
            <a:endParaRPr lang="en-US" sz="2000" dirty="0"/>
          </a:p>
        </p:txBody>
      </p:sp>
      <p:sp>
        <p:nvSpPr>
          <p:cNvPr id="20" name="Text 16"/>
          <p:cNvSpPr/>
          <p:nvPr/>
        </p:nvSpPr>
        <p:spPr>
          <a:xfrm>
            <a:off x="7647623" y="6691074"/>
            <a:ext cx="6262330" cy="658654"/>
          </a:xfrm>
          <a:prstGeom prst="rect">
            <a:avLst/>
          </a:prstGeom>
          <a:noFill/>
          <a:ln/>
        </p:spPr>
        <p:txBody>
          <a:bodyPr wrap="square" lIns="0" tIns="0" rIns="0" bIns="0" rtlCol="0" anchor="t"/>
          <a:lstStyle/>
          <a:p>
            <a:pPr algn="l" indent="0" marL="0">
              <a:lnSpc>
                <a:spcPts val="2550"/>
              </a:lnSpc>
              <a:buNone/>
            </a:pPr>
            <a:r>
              <a:rPr lang="en-US" sz="1600" dirty="0">
                <a:solidFill>
                  <a:srgbClr val="EBECEF"/>
                </a:solidFill>
                <a:latin typeface="Epilogue" pitchFamily="34" charset="0"/>
                <a:ea typeface="Epilogue" pitchFamily="34" charset="-122"/>
                <a:cs typeface="Epilogue" pitchFamily="34" charset="-120"/>
              </a:rPr>
              <a:t>En caso de pérdida de datos, el respaldo completo se utiliza para restaurar la base de datos a su estado original.</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9406533" y="2566392"/>
            <a:ext cx="4961215" cy="3096697"/>
          </a:xfrm>
          <a:prstGeom prst="rect">
            <a:avLst/>
          </a:prstGeom>
        </p:spPr>
      </p:pic>
      <p:sp>
        <p:nvSpPr>
          <p:cNvPr id="4" name="Text 0"/>
          <p:cNvSpPr/>
          <p:nvPr/>
        </p:nvSpPr>
        <p:spPr>
          <a:xfrm>
            <a:off x="735330" y="678418"/>
            <a:ext cx="7673340" cy="1313259"/>
          </a:xfrm>
          <a:prstGeom prst="rect">
            <a:avLst/>
          </a:prstGeom>
          <a:noFill/>
          <a:ln/>
        </p:spPr>
        <p:txBody>
          <a:bodyPr wrap="square" lIns="0" tIns="0" rIns="0" bIns="0" rtlCol="0" anchor="t"/>
          <a:lstStyle/>
          <a:p>
            <a:pPr indent="0" marL="0">
              <a:lnSpc>
                <a:spcPts val="5150"/>
              </a:lnSpc>
              <a:buNone/>
            </a:pPr>
            <a:r>
              <a:rPr lang="en-US" sz="4100" dirty="0">
                <a:solidFill>
                  <a:srgbClr val="FFFFFF"/>
                </a:solidFill>
                <a:latin typeface="Fraunces Medium" pitchFamily="34" charset="0"/>
                <a:ea typeface="Fraunces Medium" pitchFamily="34" charset="-122"/>
                <a:cs typeface="Fraunces Medium" pitchFamily="34" charset="-120"/>
              </a:rPr>
              <a:t>Recuperación con Respaldos Incrementales</a:t>
            </a:r>
            <a:endParaRPr lang="en-US" sz="4100" dirty="0"/>
          </a:p>
        </p:txBody>
      </p:sp>
      <p:pic>
        <p:nvPicPr>
          <p:cNvPr id="5" name="Image 2" descr="preencoded.png">    </p:cNvPr>
          <p:cNvPicPr>
            <a:picLocks noChangeAspect="1"/>
          </p:cNvPicPr>
          <p:nvPr/>
        </p:nvPicPr>
        <p:blipFill>
          <a:blip r:embed="rId3"/>
          <a:stretch>
            <a:fillRect/>
          </a:stretch>
        </p:blipFill>
        <p:spPr>
          <a:xfrm>
            <a:off x="735330" y="2306717"/>
            <a:ext cx="1050488" cy="1680686"/>
          </a:xfrm>
          <a:prstGeom prst="rect">
            <a:avLst/>
          </a:prstGeom>
        </p:spPr>
      </p:pic>
      <p:sp>
        <p:nvSpPr>
          <p:cNvPr id="6" name="Text 1"/>
          <p:cNvSpPr/>
          <p:nvPr/>
        </p:nvSpPr>
        <p:spPr>
          <a:xfrm>
            <a:off x="2100858" y="2516743"/>
            <a:ext cx="2626162" cy="328255"/>
          </a:xfrm>
          <a:prstGeom prst="rect">
            <a:avLst/>
          </a:prstGeom>
          <a:noFill/>
          <a:ln/>
        </p:spPr>
        <p:txBody>
          <a:bodyPr wrap="none" lIns="0" tIns="0" rIns="0" bIns="0" rtlCol="0" anchor="t"/>
          <a:lstStyle/>
          <a:p>
            <a:pPr algn="l" indent="0" marL="0">
              <a:lnSpc>
                <a:spcPts val="2550"/>
              </a:lnSpc>
              <a:buNone/>
            </a:pPr>
            <a:r>
              <a:rPr lang="en-US" sz="2050" dirty="0">
                <a:solidFill>
                  <a:srgbClr val="EBECEF"/>
                </a:solidFill>
                <a:latin typeface="Fraunces Medium" pitchFamily="34" charset="0"/>
                <a:ea typeface="Fraunces Medium" pitchFamily="34" charset="-122"/>
                <a:cs typeface="Fraunces Medium" pitchFamily="34" charset="-120"/>
              </a:rPr>
              <a:t>Respaldos Iniciales</a:t>
            </a:r>
            <a:endParaRPr lang="en-US" sz="2050" dirty="0"/>
          </a:p>
        </p:txBody>
      </p:sp>
      <p:sp>
        <p:nvSpPr>
          <p:cNvPr id="7" name="Text 2"/>
          <p:cNvSpPr/>
          <p:nvPr/>
        </p:nvSpPr>
        <p:spPr>
          <a:xfrm>
            <a:off x="2100858" y="2970967"/>
            <a:ext cx="6307812" cy="672465"/>
          </a:xfrm>
          <a:prstGeom prst="rect">
            <a:avLst/>
          </a:prstGeom>
          <a:noFill/>
          <a:ln/>
        </p:spPr>
        <p:txBody>
          <a:bodyPr wrap="square" lIns="0" tIns="0" rIns="0" bIns="0" rtlCol="0" anchor="t"/>
          <a:lstStyle/>
          <a:p>
            <a:pPr algn="l" indent="0" marL="0">
              <a:lnSpc>
                <a:spcPts val="2600"/>
              </a:lnSpc>
              <a:buNone/>
            </a:pPr>
            <a:r>
              <a:rPr lang="en-US" sz="1650" dirty="0">
                <a:solidFill>
                  <a:srgbClr val="EBECEF"/>
                </a:solidFill>
                <a:latin typeface="Epilogue" pitchFamily="34" charset="0"/>
                <a:ea typeface="Epilogue" pitchFamily="34" charset="-122"/>
                <a:cs typeface="Epilogue" pitchFamily="34" charset="-120"/>
              </a:rPr>
              <a:t>Se realiza un respaldo completo inicial de la base de datos para tener un punto de partida seguro.</a:t>
            </a:r>
            <a:endParaRPr lang="en-US" sz="1650" dirty="0"/>
          </a:p>
        </p:txBody>
      </p:sp>
      <p:pic>
        <p:nvPicPr>
          <p:cNvPr id="8" name="Image 3" descr="preencoded.png">    </p:cNvPr>
          <p:cNvPicPr>
            <a:picLocks noChangeAspect="1"/>
          </p:cNvPicPr>
          <p:nvPr/>
        </p:nvPicPr>
        <p:blipFill>
          <a:blip r:embed="rId4"/>
          <a:stretch>
            <a:fillRect/>
          </a:stretch>
        </p:blipFill>
        <p:spPr>
          <a:xfrm>
            <a:off x="735330" y="3987403"/>
            <a:ext cx="1050488" cy="1680686"/>
          </a:xfrm>
          <a:prstGeom prst="rect">
            <a:avLst/>
          </a:prstGeom>
        </p:spPr>
      </p:pic>
      <p:sp>
        <p:nvSpPr>
          <p:cNvPr id="9" name="Text 3"/>
          <p:cNvSpPr/>
          <p:nvPr/>
        </p:nvSpPr>
        <p:spPr>
          <a:xfrm>
            <a:off x="2100858" y="4197429"/>
            <a:ext cx="3049191" cy="328255"/>
          </a:xfrm>
          <a:prstGeom prst="rect">
            <a:avLst/>
          </a:prstGeom>
          <a:noFill/>
          <a:ln/>
        </p:spPr>
        <p:txBody>
          <a:bodyPr wrap="none" lIns="0" tIns="0" rIns="0" bIns="0" rtlCol="0" anchor="t"/>
          <a:lstStyle/>
          <a:p>
            <a:pPr algn="l" indent="0" marL="0">
              <a:lnSpc>
                <a:spcPts val="2550"/>
              </a:lnSpc>
              <a:buNone/>
            </a:pPr>
            <a:r>
              <a:rPr lang="en-US" sz="2050" dirty="0">
                <a:solidFill>
                  <a:srgbClr val="EBECEF"/>
                </a:solidFill>
                <a:latin typeface="Fraunces Medium" pitchFamily="34" charset="0"/>
                <a:ea typeface="Fraunces Medium" pitchFamily="34" charset="-122"/>
                <a:cs typeface="Fraunces Medium" pitchFamily="34" charset="-120"/>
              </a:rPr>
              <a:t>Respaldos Programados</a:t>
            </a:r>
            <a:endParaRPr lang="en-US" sz="2050" dirty="0"/>
          </a:p>
        </p:txBody>
      </p:sp>
      <p:sp>
        <p:nvSpPr>
          <p:cNvPr id="10" name="Text 4"/>
          <p:cNvSpPr/>
          <p:nvPr/>
        </p:nvSpPr>
        <p:spPr>
          <a:xfrm>
            <a:off x="2100858" y="4651653"/>
            <a:ext cx="6307812" cy="672465"/>
          </a:xfrm>
          <a:prstGeom prst="rect">
            <a:avLst/>
          </a:prstGeom>
          <a:noFill/>
          <a:ln/>
        </p:spPr>
        <p:txBody>
          <a:bodyPr wrap="square" lIns="0" tIns="0" rIns="0" bIns="0" rtlCol="0" anchor="t"/>
          <a:lstStyle/>
          <a:p>
            <a:pPr algn="l" indent="0" marL="0">
              <a:lnSpc>
                <a:spcPts val="2600"/>
              </a:lnSpc>
              <a:buNone/>
            </a:pPr>
            <a:r>
              <a:rPr lang="en-US" sz="1650" dirty="0">
                <a:solidFill>
                  <a:srgbClr val="EBECEF"/>
                </a:solidFill>
                <a:latin typeface="Epilogue" pitchFamily="34" charset="0"/>
                <a:ea typeface="Epilogue" pitchFamily="34" charset="-122"/>
                <a:cs typeface="Epilogue" pitchFamily="34" charset="-120"/>
              </a:rPr>
              <a:t>Se configuran respaldos incrementales periódicos que solo registran los cambios realizados desde el último respaldo.</a:t>
            </a:r>
            <a:endParaRPr lang="en-US" sz="1650" dirty="0"/>
          </a:p>
        </p:txBody>
      </p:sp>
      <p:pic>
        <p:nvPicPr>
          <p:cNvPr id="11" name="Image 4" descr="preencoded.png">    </p:cNvPr>
          <p:cNvPicPr>
            <a:picLocks noChangeAspect="1"/>
          </p:cNvPicPr>
          <p:nvPr/>
        </p:nvPicPr>
        <p:blipFill>
          <a:blip r:embed="rId5"/>
          <a:stretch>
            <a:fillRect/>
          </a:stretch>
        </p:blipFill>
        <p:spPr>
          <a:xfrm>
            <a:off x="735330" y="5668089"/>
            <a:ext cx="1050488" cy="1882973"/>
          </a:xfrm>
          <a:prstGeom prst="rect">
            <a:avLst/>
          </a:prstGeom>
        </p:spPr>
      </p:pic>
      <p:sp>
        <p:nvSpPr>
          <p:cNvPr id="12" name="Text 5"/>
          <p:cNvSpPr/>
          <p:nvPr/>
        </p:nvSpPr>
        <p:spPr>
          <a:xfrm>
            <a:off x="2100858" y="5878116"/>
            <a:ext cx="2739033" cy="328255"/>
          </a:xfrm>
          <a:prstGeom prst="rect">
            <a:avLst/>
          </a:prstGeom>
          <a:noFill/>
          <a:ln/>
        </p:spPr>
        <p:txBody>
          <a:bodyPr wrap="none" lIns="0" tIns="0" rIns="0" bIns="0" rtlCol="0" anchor="t"/>
          <a:lstStyle/>
          <a:p>
            <a:pPr algn="l" indent="0" marL="0">
              <a:lnSpc>
                <a:spcPts val="2550"/>
              </a:lnSpc>
              <a:buNone/>
            </a:pPr>
            <a:r>
              <a:rPr lang="en-US" sz="2050" dirty="0">
                <a:solidFill>
                  <a:srgbClr val="EBECEF"/>
                </a:solidFill>
                <a:latin typeface="Fraunces Medium" pitchFamily="34" charset="0"/>
                <a:ea typeface="Fraunces Medium" pitchFamily="34" charset="-122"/>
                <a:cs typeface="Fraunces Medium" pitchFamily="34" charset="-120"/>
              </a:rPr>
              <a:t>Restauración Gradual</a:t>
            </a:r>
            <a:endParaRPr lang="en-US" sz="2050" dirty="0"/>
          </a:p>
        </p:txBody>
      </p:sp>
      <p:sp>
        <p:nvSpPr>
          <p:cNvPr id="13" name="Text 6"/>
          <p:cNvSpPr/>
          <p:nvPr/>
        </p:nvSpPr>
        <p:spPr>
          <a:xfrm>
            <a:off x="2100858" y="6332339"/>
            <a:ext cx="6307812" cy="1008698"/>
          </a:xfrm>
          <a:prstGeom prst="rect">
            <a:avLst/>
          </a:prstGeom>
          <a:noFill/>
          <a:ln/>
        </p:spPr>
        <p:txBody>
          <a:bodyPr wrap="square" lIns="0" tIns="0" rIns="0" bIns="0" rtlCol="0" anchor="t"/>
          <a:lstStyle/>
          <a:p>
            <a:pPr algn="l" indent="0" marL="0">
              <a:lnSpc>
                <a:spcPts val="2600"/>
              </a:lnSpc>
              <a:buNone/>
            </a:pPr>
            <a:r>
              <a:rPr lang="en-US" sz="1650" dirty="0">
                <a:solidFill>
                  <a:srgbClr val="EBECEF"/>
                </a:solidFill>
                <a:latin typeface="Epilogue" pitchFamily="34" charset="0"/>
                <a:ea typeface="Epilogue" pitchFamily="34" charset="-122"/>
                <a:cs typeface="Epilogue" pitchFamily="34" charset="-120"/>
              </a:rPr>
              <a:t>En caso de fallo, se restaura la base de datos a partir del último respaldo completo y luego se aplican los respaldos incrementales.</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57357" y="595074"/>
            <a:ext cx="10931604" cy="676275"/>
          </a:xfrm>
          <a:prstGeom prst="rect">
            <a:avLst/>
          </a:prstGeom>
          <a:noFill/>
          <a:ln/>
        </p:spPr>
        <p:txBody>
          <a:bodyPr wrap="none" lIns="0" tIns="0" rIns="0" bIns="0" rtlCol="0" anchor="t"/>
          <a:lstStyle/>
          <a:p>
            <a:pPr indent="0" marL="0">
              <a:lnSpc>
                <a:spcPts val="5300"/>
              </a:lnSpc>
              <a:buNone/>
            </a:pPr>
            <a:r>
              <a:rPr lang="en-US" sz="4250" dirty="0">
                <a:solidFill>
                  <a:srgbClr val="FFFFFF"/>
                </a:solidFill>
                <a:latin typeface="Fraunces Medium" pitchFamily="34" charset="0"/>
                <a:ea typeface="Fraunces Medium" pitchFamily="34" charset="-122"/>
                <a:cs typeface="Fraunces Medium" pitchFamily="34" charset="-120"/>
              </a:rPr>
              <a:t>Recuperación con Respaldos Diferenciales</a:t>
            </a:r>
            <a:endParaRPr lang="en-US" sz="4250" dirty="0"/>
          </a:p>
        </p:txBody>
      </p:sp>
      <p:sp>
        <p:nvSpPr>
          <p:cNvPr id="3" name="Shape 1"/>
          <p:cNvSpPr/>
          <p:nvPr/>
        </p:nvSpPr>
        <p:spPr>
          <a:xfrm>
            <a:off x="757357" y="1704142"/>
            <a:ext cx="2185868" cy="1246823"/>
          </a:xfrm>
          <a:prstGeom prst="roundRect">
            <a:avLst>
              <a:gd name="adj" fmla="val 7290"/>
            </a:avLst>
          </a:prstGeom>
          <a:solidFill>
            <a:srgbClr val="283157"/>
          </a:solidFill>
          <a:ln w="7620">
            <a:solidFill>
              <a:srgbClr val="414A70"/>
            </a:solidFill>
            <a:prstDash val="solid"/>
          </a:ln>
        </p:spPr>
      </p:sp>
      <p:sp>
        <p:nvSpPr>
          <p:cNvPr id="4" name="Text 2"/>
          <p:cNvSpPr/>
          <p:nvPr/>
        </p:nvSpPr>
        <p:spPr>
          <a:xfrm>
            <a:off x="981313" y="2111097"/>
            <a:ext cx="124063" cy="432792"/>
          </a:xfrm>
          <a:prstGeom prst="rect">
            <a:avLst/>
          </a:prstGeom>
          <a:noFill/>
          <a:ln/>
        </p:spPr>
        <p:txBody>
          <a:bodyPr wrap="none" lIns="0" tIns="0" rIns="0" bIns="0" rtlCol="0" anchor="t"/>
          <a:lstStyle/>
          <a:p>
            <a:pPr algn="ctr" indent="0" marL="0">
              <a:lnSpc>
                <a:spcPts val="3400"/>
              </a:lnSpc>
              <a:buNone/>
            </a:pPr>
            <a:r>
              <a:rPr lang="en-US" sz="2100" dirty="0">
                <a:solidFill>
                  <a:srgbClr val="EBECEF"/>
                </a:solidFill>
                <a:latin typeface="Fraunces Medium" pitchFamily="34" charset="0"/>
                <a:ea typeface="Fraunces Medium" pitchFamily="34" charset="-122"/>
                <a:cs typeface="Fraunces Medium" pitchFamily="34" charset="-120"/>
              </a:rPr>
              <a:t>1</a:t>
            </a:r>
            <a:endParaRPr lang="en-US" sz="2100" dirty="0"/>
          </a:p>
        </p:txBody>
      </p:sp>
      <p:sp>
        <p:nvSpPr>
          <p:cNvPr id="5" name="Text 3"/>
          <p:cNvSpPr/>
          <p:nvPr/>
        </p:nvSpPr>
        <p:spPr>
          <a:xfrm>
            <a:off x="3159562" y="1920478"/>
            <a:ext cx="2844641" cy="338138"/>
          </a:xfrm>
          <a:prstGeom prst="rect">
            <a:avLst/>
          </a:prstGeom>
          <a:noFill/>
          <a:ln/>
        </p:spPr>
        <p:txBody>
          <a:bodyPr wrap="none" lIns="0" tIns="0" rIns="0" bIns="0" rtlCol="0" anchor="t"/>
          <a:lstStyle/>
          <a:p>
            <a:pPr algn="l" indent="0" marL="0">
              <a:lnSpc>
                <a:spcPts val="2650"/>
              </a:lnSpc>
              <a:buNone/>
            </a:pPr>
            <a:r>
              <a:rPr lang="en-US" sz="2100" dirty="0">
                <a:solidFill>
                  <a:srgbClr val="EBECEF"/>
                </a:solidFill>
                <a:latin typeface="Fraunces Medium" pitchFamily="34" charset="0"/>
                <a:ea typeface="Fraunces Medium" pitchFamily="34" charset="-122"/>
                <a:cs typeface="Fraunces Medium" pitchFamily="34" charset="-120"/>
              </a:rPr>
              <a:t>Respaldo Incremental</a:t>
            </a:r>
            <a:endParaRPr lang="en-US" sz="2100" dirty="0"/>
          </a:p>
        </p:txBody>
      </p:sp>
      <p:sp>
        <p:nvSpPr>
          <p:cNvPr id="6" name="Text 4"/>
          <p:cNvSpPr/>
          <p:nvPr/>
        </p:nvSpPr>
        <p:spPr>
          <a:xfrm>
            <a:off x="3159562" y="2388394"/>
            <a:ext cx="7317343" cy="346234"/>
          </a:xfrm>
          <a:prstGeom prst="rect">
            <a:avLst/>
          </a:prstGeom>
          <a:noFill/>
          <a:ln/>
        </p:spPr>
        <p:txBody>
          <a:bodyPr wrap="none" lIns="0" tIns="0" rIns="0" bIns="0" rtlCol="0" anchor="t"/>
          <a:lstStyle/>
          <a:p>
            <a:pPr algn="l" indent="0" marL="0">
              <a:lnSpc>
                <a:spcPts val="2700"/>
              </a:lnSpc>
              <a:buNone/>
            </a:pPr>
            <a:r>
              <a:rPr lang="en-US" sz="1700" dirty="0">
                <a:solidFill>
                  <a:srgbClr val="EBECEF"/>
                </a:solidFill>
                <a:latin typeface="Epilogue" pitchFamily="34" charset="0"/>
                <a:ea typeface="Epilogue" pitchFamily="34" charset="-122"/>
                <a:cs typeface="Epilogue" pitchFamily="34" charset="-120"/>
              </a:rPr>
              <a:t>Copia solo los datos nuevos o modificados desde el último respaldo.</a:t>
            </a:r>
            <a:endParaRPr lang="en-US" sz="1700" dirty="0"/>
          </a:p>
        </p:txBody>
      </p:sp>
      <p:sp>
        <p:nvSpPr>
          <p:cNvPr id="7" name="Shape 5"/>
          <p:cNvSpPr/>
          <p:nvPr/>
        </p:nvSpPr>
        <p:spPr>
          <a:xfrm>
            <a:off x="3051334" y="2935724"/>
            <a:ext cx="10713601" cy="15240"/>
          </a:xfrm>
          <a:prstGeom prst="roundRect">
            <a:avLst>
              <a:gd name="adj" fmla="val 596401"/>
            </a:avLst>
          </a:prstGeom>
          <a:solidFill>
            <a:srgbClr val="414A70"/>
          </a:solidFill>
          <a:ln/>
        </p:spPr>
      </p:sp>
      <p:sp>
        <p:nvSpPr>
          <p:cNvPr id="8" name="Shape 6"/>
          <p:cNvSpPr/>
          <p:nvPr/>
        </p:nvSpPr>
        <p:spPr>
          <a:xfrm>
            <a:off x="757357" y="3059073"/>
            <a:ext cx="4371856" cy="1593056"/>
          </a:xfrm>
          <a:prstGeom prst="roundRect">
            <a:avLst>
              <a:gd name="adj" fmla="val 5705"/>
            </a:avLst>
          </a:prstGeom>
          <a:solidFill>
            <a:srgbClr val="283157"/>
          </a:solidFill>
          <a:ln w="7620">
            <a:solidFill>
              <a:srgbClr val="414A70"/>
            </a:solidFill>
            <a:prstDash val="solid"/>
          </a:ln>
        </p:spPr>
      </p:sp>
      <p:sp>
        <p:nvSpPr>
          <p:cNvPr id="9" name="Text 7"/>
          <p:cNvSpPr/>
          <p:nvPr/>
        </p:nvSpPr>
        <p:spPr>
          <a:xfrm>
            <a:off x="981313" y="3639145"/>
            <a:ext cx="163949" cy="432792"/>
          </a:xfrm>
          <a:prstGeom prst="rect">
            <a:avLst/>
          </a:prstGeom>
          <a:noFill/>
          <a:ln/>
        </p:spPr>
        <p:txBody>
          <a:bodyPr wrap="none" lIns="0" tIns="0" rIns="0" bIns="0" rtlCol="0" anchor="t"/>
          <a:lstStyle/>
          <a:p>
            <a:pPr algn="ctr" indent="0" marL="0">
              <a:lnSpc>
                <a:spcPts val="3400"/>
              </a:lnSpc>
              <a:buNone/>
            </a:pPr>
            <a:r>
              <a:rPr lang="en-US" sz="2100" dirty="0">
                <a:solidFill>
                  <a:srgbClr val="EBECEF"/>
                </a:solidFill>
                <a:latin typeface="Fraunces Medium" pitchFamily="34" charset="0"/>
                <a:ea typeface="Fraunces Medium" pitchFamily="34" charset="-122"/>
                <a:cs typeface="Fraunces Medium" pitchFamily="34" charset="-120"/>
              </a:rPr>
              <a:t>2</a:t>
            </a:r>
            <a:endParaRPr lang="en-US" sz="2100" dirty="0"/>
          </a:p>
        </p:txBody>
      </p:sp>
      <p:sp>
        <p:nvSpPr>
          <p:cNvPr id="10" name="Text 8"/>
          <p:cNvSpPr/>
          <p:nvPr/>
        </p:nvSpPr>
        <p:spPr>
          <a:xfrm>
            <a:off x="5345549" y="3275409"/>
            <a:ext cx="2705100" cy="338138"/>
          </a:xfrm>
          <a:prstGeom prst="rect">
            <a:avLst/>
          </a:prstGeom>
          <a:noFill/>
          <a:ln/>
        </p:spPr>
        <p:txBody>
          <a:bodyPr wrap="none" lIns="0" tIns="0" rIns="0" bIns="0" rtlCol="0" anchor="t"/>
          <a:lstStyle/>
          <a:p>
            <a:pPr algn="l" indent="0" marL="0">
              <a:lnSpc>
                <a:spcPts val="2650"/>
              </a:lnSpc>
              <a:buNone/>
            </a:pPr>
            <a:r>
              <a:rPr lang="en-US" sz="2100" dirty="0">
                <a:solidFill>
                  <a:srgbClr val="EBECEF"/>
                </a:solidFill>
                <a:latin typeface="Fraunces Medium" pitchFamily="34" charset="0"/>
                <a:ea typeface="Fraunces Medium" pitchFamily="34" charset="-122"/>
                <a:cs typeface="Fraunces Medium" pitchFamily="34" charset="-120"/>
              </a:rPr>
              <a:t>Respaldo Diferencial</a:t>
            </a:r>
            <a:endParaRPr lang="en-US" sz="2100" dirty="0"/>
          </a:p>
        </p:txBody>
      </p:sp>
      <p:sp>
        <p:nvSpPr>
          <p:cNvPr id="11" name="Text 9"/>
          <p:cNvSpPr/>
          <p:nvPr/>
        </p:nvSpPr>
        <p:spPr>
          <a:xfrm>
            <a:off x="5345549" y="3743325"/>
            <a:ext cx="8311158" cy="692467"/>
          </a:xfrm>
          <a:prstGeom prst="rect">
            <a:avLst/>
          </a:prstGeom>
          <a:noFill/>
          <a:ln/>
        </p:spPr>
        <p:txBody>
          <a:bodyPr wrap="square" lIns="0" tIns="0" rIns="0" bIns="0" rtlCol="0" anchor="t"/>
          <a:lstStyle/>
          <a:p>
            <a:pPr algn="l" indent="0" marL="0">
              <a:lnSpc>
                <a:spcPts val="2700"/>
              </a:lnSpc>
              <a:buNone/>
            </a:pPr>
            <a:r>
              <a:rPr lang="en-US" sz="1700" dirty="0">
                <a:solidFill>
                  <a:srgbClr val="EBECEF"/>
                </a:solidFill>
                <a:latin typeface="Epilogue" pitchFamily="34" charset="0"/>
                <a:ea typeface="Epilogue" pitchFamily="34" charset="-122"/>
                <a:cs typeface="Epilogue" pitchFamily="34" charset="-120"/>
              </a:rPr>
              <a:t>Copia los cambios desde el último respaldo completo, no solo los datos nuevos.</a:t>
            </a:r>
            <a:endParaRPr lang="en-US" sz="1700" dirty="0"/>
          </a:p>
        </p:txBody>
      </p:sp>
      <p:sp>
        <p:nvSpPr>
          <p:cNvPr id="12" name="Shape 10"/>
          <p:cNvSpPr/>
          <p:nvPr/>
        </p:nvSpPr>
        <p:spPr>
          <a:xfrm>
            <a:off x="5237321" y="4636889"/>
            <a:ext cx="8527613" cy="15240"/>
          </a:xfrm>
          <a:prstGeom prst="roundRect">
            <a:avLst>
              <a:gd name="adj" fmla="val 596401"/>
            </a:avLst>
          </a:prstGeom>
          <a:solidFill>
            <a:srgbClr val="414A70"/>
          </a:solidFill>
          <a:ln/>
        </p:spPr>
      </p:sp>
      <p:sp>
        <p:nvSpPr>
          <p:cNvPr id="13" name="Shape 11"/>
          <p:cNvSpPr/>
          <p:nvPr/>
        </p:nvSpPr>
        <p:spPr>
          <a:xfrm>
            <a:off x="757357" y="4760238"/>
            <a:ext cx="6557843" cy="1593056"/>
          </a:xfrm>
          <a:prstGeom prst="roundRect">
            <a:avLst>
              <a:gd name="adj" fmla="val 5705"/>
            </a:avLst>
          </a:prstGeom>
          <a:solidFill>
            <a:srgbClr val="283157"/>
          </a:solidFill>
          <a:ln w="7620">
            <a:solidFill>
              <a:srgbClr val="414A70"/>
            </a:solidFill>
            <a:prstDash val="solid"/>
          </a:ln>
        </p:spPr>
      </p:sp>
      <p:sp>
        <p:nvSpPr>
          <p:cNvPr id="14" name="Text 12"/>
          <p:cNvSpPr/>
          <p:nvPr/>
        </p:nvSpPr>
        <p:spPr>
          <a:xfrm>
            <a:off x="981313" y="5340310"/>
            <a:ext cx="149423" cy="432792"/>
          </a:xfrm>
          <a:prstGeom prst="rect">
            <a:avLst/>
          </a:prstGeom>
          <a:noFill/>
          <a:ln/>
        </p:spPr>
        <p:txBody>
          <a:bodyPr wrap="none" lIns="0" tIns="0" rIns="0" bIns="0" rtlCol="0" anchor="t"/>
          <a:lstStyle/>
          <a:p>
            <a:pPr algn="ctr" indent="0" marL="0">
              <a:lnSpc>
                <a:spcPts val="3400"/>
              </a:lnSpc>
              <a:buNone/>
            </a:pPr>
            <a:r>
              <a:rPr lang="en-US" sz="2100" dirty="0">
                <a:solidFill>
                  <a:srgbClr val="EBECEF"/>
                </a:solidFill>
                <a:latin typeface="Fraunces Medium" pitchFamily="34" charset="0"/>
                <a:ea typeface="Fraunces Medium" pitchFamily="34" charset="-122"/>
                <a:cs typeface="Fraunces Medium" pitchFamily="34" charset="-120"/>
              </a:rPr>
              <a:t>3</a:t>
            </a:r>
            <a:endParaRPr lang="en-US" sz="2100" dirty="0"/>
          </a:p>
        </p:txBody>
      </p:sp>
      <p:sp>
        <p:nvSpPr>
          <p:cNvPr id="15" name="Text 13"/>
          <p:cNvSpPr/>
          <p:nvPr/>
        </p:nvSpPr>
        <p:spPr>
          <a:xfrm>
            <a:off x="7531537" y="4976574"/>
            <a:ext cx="2705100" cy="338138"/>
          </a:xfrm>
          <a:prstGeom prst="rect">
            <a:avLst/>
          </a:prstGeom>
          <a:noFill/>
          <a:ln/>
        </p:spPr>
        <p:txBody>
          <a:bodyPr wrap="none" lIns="0" tIns="0" rIns="0" bIns="0" rtlCol="0" anchor="t"/>
          <a:lstStyle/>
          <a:p>
            <a:pPr algn="l" indent="0" marL="0">
              <a:lnSpc>
                <a:spcPts val="2650"/>
              </a:lnSpc>
              <a:buNone/>
            </a:pPr>
            <a:r>
              <a:rPr lang="en-US" sz="2100" dirty="0">
                <a:solidFill>
                  <a:srgbClr val="EBECEF"/>
                </a:solidFill>
                <a:latin typeface="Fraunces Medium" pitchFamily="34" charset="0"/>
                <a:ea typeface="Fraunces Medium" pitchFamily="34" charset="-122"/>
                <a:cs typeface="Fraunces Medium" pitchFamily="34" charset="-120"/>
              </a:rPr>
              <a:t>Restauración Rápida</a:t>
            </a:r>
            <a:endParaRPr lang="en-US" sz="2100" dirty="0"/>
          </a:p>
        </p:txBody>
      </p:sp>
      <p:sp>
        <p:nvSpPr>
          <p:cNvPr id="16" name="Text 14"/>
          <p:cNvSpPr/>
          <p:nvPr/>
        </p:nvSpPr>
        <p:spPr>
          <a:xfrm>
            <a:off x="7531537" y="5444490"/>
            <a:ext cx="6125170" cy="692467"/>
          </a:xfrm>
          <a:prstGeom prst="rect">
            <a:avLst/>
          </a:prstGeom>
          <a:noFill/>
          <a:ln/>
        </p:spPr>
        <p:txBody>
          <a:bodyPr wrap="square" lIns="0" tIns="0" rIns="0" bIns="0" rtlCol="0" anchor="t"/>
          <a:lstStyle/>
          <a:p>
            <a:pPr algn="l" indent="0" marL="0">
              <a:lnSpc>
                <a:spcPts val="2700"/>
              </a:lnSpc>
              <a:buNone/>
            </a:pPr>
            <a:r>
              <a:rPr lang="en-US" sz="1700" dirty="0">
                <a:solidFill>
                  <a:srgbClr val="EBECEF"/>
                </a:solidFill>
                <a:latin typeface="Epilogue" pitchFamily="34" charset="0"/>
                <a:ea typeface="Epilogue" pitchFamily="34" charset="-122"/>
                <a:cs typeface="Epilogue" pitchFamily="34" charset="-120"/>
              </a:rPr>
              <a:t>Combinar el último respaldo completo con el diferencial para lograr una restauración más ágil.</a:t>
            </a:r>
            <a:endParaRPr lang="en-US" sz="1700" dirty="0"/>
          </a:p>
        </p:txBody>
      </p:sp>
      <p:sp>
        <p:nvSpPr>
          <p:cNvPr id="17" name="Text 15"/>
          <p:cNvSpPr/>
          <p:nvPr/>
        </p:nvSpPr>
        <p:spPr>
          <a:xfrm>
            <a:off x="757357" y="6596658"/>
            <a:ext cx="13115687" cy="1038701"/>
          </a:xfrm>
          <a:prstGeom prst="rect">
            <a:avLst/>
          </a:prstGeom>
          <a:noFill/>
          <a:ln/>
        </p:spPr>
        <p:txBody>
          <a:bodyPr wrap="square" lIns="0" tIns="0" rIns="0" bIns="0" rtlCol="0" anchor="t"/>
          <a:lstStyle/>
          <a:p>
            <a:pPr indent="0" marL="0">
              <a:lnSpc>
                <a:spcPts val="2700"/>
              </a:lnSpc>
              <a:buNone/>
            </a:pPr>
            <a:r>
              <a:rPr lang="en-US" sz="1700" dirty="0">
                <a:solidFill>
                  <a:srgbClr val="EBECEF"/>
                </a:solidFill>
                <a:latin typeface="Epilogue" pitchFamily="34" charset="0"/>
                <a:ea typeface="Epilogue" pitchFamily="34" charset="-122"/>
                <a:cs typeface="Epilogue" pitchFamily="34" charset="-120"/>
              </a:rPr>
              <a:t>Los respaldos diferenciales permiten recuperar datos de una manera más eficiente que los incrementales, al respaldar todos los cambios desde el último respaldo completo. Esto reduce el tiempo de restauración, ya que solo se necesita combinar el último respaldo completo con el diferencial.</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133475"/>
            <a:ext cx="10007441" cy="708779"/>
          </a:xfrm>
          <a:prstGeom prst="rect">
            <a:avLst/>
          </a:prstGeom>
          <a:noFill/>
          <a:ln/>
        </p:spPr>
        <p:txBody>
          <a:bodyPr wrap="none" lIns="0" tIns="0" rIns="0" bIns="0" rtlCol="0" anchor="t"/>
          <a:lstStyle/>
          <a:p>
            <a:pPr indent="0" marL="0">
              <a:lnSpc>
                <a:spcPts val="5550"/>
              </a:lnSpc>
              <a:buNone/>
            </a:pPr>
            <a:r>
              <a:rPr lang="en-US" sz="4450" dirty="0">
                <a:solidFill>
                  <a:srgbClr val="FFFFFF"/>
                </a:solidFill>
                <a:latin typeface="Fraunces Medium" pitchFamily="34" charset="0"/>
                <a:ea typeface="Fraunces Medium" pitchFamily="34" charset="-122"/>
                <a:cs typeface="Fraunces Medium" pitchFamily="34" charset="-120"/>
              </a:rPr>
              <a:t>Técnicas Avanzadas de Recuperación</a:t>
            </a:r>
            <a:endParaRPr lang="en-US" sz="4450" dirty="0"/>
          </a:p>
        </p:txBody>
      </p:sp>
      <p:pic>
        <p:nvPicPr>
          <p:cNvPr id="3" name="Image 0" descr="preencoded.png">    </p:cNvPr>
          <p:cNvPicPr>
            <a:picLocks noChangeAspect="1"/>
          </p:cNvPicPr>
          <p:nvPr/>
        </p:nvPicPr>
        <p:blipFill>
          <a:blip r:embed="rId1"/>
          <a:stretch>
            <a:fillRect/>
          </a:stretch>
        </p:blipFill>
        <p:spPr>
          <a:xfrm>
            <a:off x="793790" y="2295882"/>
            <a:ext cx="3005495" cy="1857494"/>
          </a:xfrm>
          <a:prstGeom prst="rect">
            <a:avLst/>
          </a:prstGeom>
        </p:spPr>
      </p:pic>
      <p:sp>
        <p:nvSpPr>
          <p:cNvPr id="4" name="Text 1"/>
          <p:cNvSpPr/>
          <p:nvPr/>
        </p:nvSpPr>
        <p:spPr>
          <a:xfrm>
            <a:off x="793790" y="4436864"/>
            <a:ext cx="3005495" cy="708660"/>
          </a:xfrm>
          <a:prstGeom prst="rect">
            <a:avLst/>
          </a:prstGeom>
          <a:noFill/>
          <a:ln/>
        </p:spPr>
        <p:txBody>
          <a:bodyPr wrap="square" lIns="0" tIns="0" rIns="0" bIns="0" rtlCol="0" anchor="t"/>
          <a:lstStyle/>
          <a:p>
            <a:pPr algn="l" indent="0" marL="0">
              <a:lnSpc>
                <a:spcPts val="2750"/>
              </a:lnSpc>
              <a:buNone/>
            </a:pPr>
            <a:r>
              <a:rPr lang="en-US" sz="2200" dirty="0">
                <a:solidFill>
                  <a:srgbClr val="EBECEF"/>
                </a:solidFill>
                <a:latin typeface="Fraunces Medium" pitchFamily="34" charset="0"/>
                <a:ea typeface="Fraunces Medium" pitchFamily="34" charset="-122"/>
                <a:cs typeface="Fraunces Medium" pitchFamily="34" charset="-120"/>
              </a:rPr>
              <a:t>Respaldos Multiservidor</a:t>
            </a:r>
            <a:endParaRPr lang="en-US" sz="2200" dirty="0"/>
          </a:p>
        </p:txBody>
      </p:sp>
      <p:sp>
        <p:nvSpPr>
          <p:cNvPr id="5" name="Text 2"/>
          <p:cNvSpPr/>
          <p:nvPr/>
        </p:nvSpPr>
        <p:spPr>
          <a:xfrm>
            <a:off x="793790" y="5281613"/>
            <a:ext cx="3005495" cy="1814513"/>
          </a:xfrm>
          <a:prstGeom prst="rect">
            <a:avLst/>
          </a:prstGeom>
          <a:noFill/>
          <a:ln/>
        </p:spPr>
        <p:txBody>
          <a:bodyPr wrap="square" lIns="0" tIns="0" rIns="0" bIns="0" rtlCol="0" anchor="t"/>
          <a:lstStyle/>
          <a:p>
            <a:pPr algn="l" indent="0" marL="0">
              <a:lnSpc>
                <a:spcPts val="2850"/>
              </a:lnSpc>
              <a:buNone/>
            </a:pPr>
            <a:r>
              <a:rPr lang="en-US" sz="1750" dirty="0">
                <a:solidFill>
                  <a:srgbClr val="EBECEF"/>
                </a:solidFill>
                <a:latin typeface="Epilogue" pitchFamily="34" charset="0"/>
                <a:ea typeface="Epilogue" pitchFamily="34" charset="-122"/>
                <a:cs typeface="Epilogue" pitchFamily="34" charset="-120"/>
              </a:rPr>
              <a:t>Implementar respaldos en múltiples servidores redundantes para mayor disponibilidad y seguridad de los datos.</a:t>
            </a:r>
            <a:endParaRPr lang="en-US" sz="1750" dirty="0"/>
          </a:p>
        </p:txBody>
      </p:sp>
      <p:pic>
        <p:nvPicPr>
          <p:cNvPr id="6" name="Image 1" descr="preencoded.png">    </p:cNvPr>
          <p:cNvPicPr>
            <a:picLocks noChangeAspect="1"/>
          </p:cNvPicPr>
          <p:nvPr/>
        </p:nvPicPr>
        <p:blipFill>
          <a:blip r:embed="rId2"/>
          <a:stretch>
            <a:fillRect/>
          </a:stretch>
        </p:blipFill>
        <p:spPr>
          <a:xfrm>
            <a:off x="4139446" y="2295882"/>
            <a:ext cx="3005614" cy="1857494"/>
          </a:xfrm>
          <a:prstGeom prst="rect">
            <a:avLst/>
          </a:prstGeom>
        </p:spPr>
      </p:pic>
      <p:sp>
        <p:nvSpPr>
          <p:cNvPr id="7" name="Text 3"/>
          <p:cNvSpPr/>
          <p:nvPr/>
        </p:nvSpPr>
        <p:spPr>
          <a:xfrm>
            <a:off x="4139446" y="4436864"/>
            <a:ext cx="3005614" cy="708660"/>
          </a:xfrm>
          <a:prstGeom prst="rect">
            <a:avLst/>
          </a:prstGeom>
          <a:noFill/>
          <a:ln/>
        </p:spPr>
        <p:txBody>
          <a:bodyPr wrap="square" lIns="0" tIns="0" rIns="0" bIns="0" rtlCol="0" anchor="t"/>
          <a:lstStyle/>
          <a:p>
            <a:pPr algn="l" indent="0" marL="0">
              <a:lnSpc>
                <a:spcPts val="2750"/>
              </a:lnSpc>
              <a:buNone/>
            </a:pPr>
            <a:r>
              <a:rPr lang="en-US" sz="2200" dirty="0">
                <a:solidFill>
                  <a:srgbClr val="EBECEF"/>
                </a:solidFill>
                <a:latin typeface="Fraunces Medium" pitchFamily="34" charset="0"/>
                <a:ea typeface="Fraunces Medium" pitchFamily="34" charset="-122"/>
                <a:cs typeface="Fraunces Medium" pitchFamily="34" charset="-120"/>
              </a:rPr>
              <a:t>Recuperación por Etapas</a:t>
            </a:r>
            <a:endParaRPr lang="en-US" sz="2200" dirty="0"/>
          </a:p>
        </p:txBody>
      </p:sp>
      <p:sp>
        <p:nvSpPr>
          <p:cNvPr id="8" name="Text 4"/>
          <p:cNvSpPr/>
          <p:nvPr/>
        </p:nvSpPr>
        <p:spPr>
          <a:xfrm>
            <a:off x="4139446" y="5281613"/>
            <a:ext cx="3005614" cy="1814513"/>
          </a:xfrm>
          <a:prstGeom prst="rect">
            <a:avLst/>
          </a:prstGeom>
          <a:noFill/>
          <a:ln/>
        </p:spPr>
        <p:txBody>
          <a:bodyPr wrap="square" lIns="0" tIns="0" rIns="0" bIns="0" rtlCol="0" anchor="t"/>
          <a:lstStyle/>
          <a:p>
            <a:pPr algn="l" indent="0" marL="0">
              <a:lnSpc>
                <a:spcPts val="2850"/>
              </a:lnSpc>
              <a:buNone/>
            </a:pPr>
            <a:r>
              <a:rPr lang="en-US" sz="1750" dirty="0">
                <a:solidFill>
                  <a:srgbClr val="EBECEF"/>
                </a:solidFill>
                <a:latin typeface="Epilogue" pitchFamily="34" charset="0"/>
                <a:ea typeface="Epilogue" pitchFamily="34" charset="-122"/>
                <a:cs typeface="Epilogue" pitchFamily="34" charset="-120"/>
              </a:rPr>
              <a:t>Utilizar técnicas de recuperación por pasos que permiten reconstruir los datos de manera gradual y controlada.</a:t>
            </a:r>
            <a:endParaRPr lang="en-US" sz="1750" dirty="0"/>
          </a:p>
        </p:txBody>
      </p:sp>
      <p:pic>
        <p:nvPicPr>
          <p:cNvPr id="9" name="Image 2" descr="preencoded.png">    </p:cNvPr>
          <p:cNvPicPr>
            <a:picLocks noChangeAspect="1"/>
          </p:cNvPicPr>
          <p:nvPr/>
        </p:nvPicPr>
        <p:blipFill>
          <a:blip r:embed="rId3"/>
          <a:stretch>
            <a:fillRect/>
          </a:stretch>
        </p:blipFill>
        <p:spPr>
          <a:xfrm>
            <a:off x="7485221" y="2295882"/>
            <a:ext cx="3005614" cy="1857494"/>
          </a:xfrm>
          <a:prstGeom prst="rect">
            <a:avLst/>
          </a:prstGeom>
        </p:spPr>
      </p:pic>
      <p:sp>
        <p:nvSpPr>
          <p:cNvPr id="10" name="Text 5"/>
          <p:cNvSpPr/>
          <p:nvPr/>
        </p:nvSpPr>
        <p:spPr>
          <a:xfrm>
            <a:off x="7485221" y="4436864"/>
            <a:ext cx="3005614" cy="708660"/>
          </a:xfrm>
          <a:prstGeom prst="rect">
            <a:avLst/>
          </a:prstGeom>
          <a:noFill/>
          <a:ln/>
        </p:spPr>
        <p:txBody>
          <a:bodyPr wrap="square" lIns="0" tIns="0" rIns="0" bIns="0" rtlCol="0" anchor="t"/>
          <a:lstStyle/>
          <a:p>
            <a:pPr algn="l" indent="0" marL="0">
              <a:lnSpc>
                <a:spcPts val="2750"/>
              </a:lnSpc>
              <a:buNone/>
            </a:pPr>
            <a:r>
              <a:rPr lang="en-US" sz="2200" dirty="0">
                <a:solidFill>
                  <a:srgbClr val="EBECEF"/>
                </a:solidFill>
                <a:latin typeface="Fraunces Medium" pitchFamily="34" charset="0"/>
                <a:ea typeface="Fraunces Medium" pitchFamily="34" charset="-122"/>
                <a:cs typeface="Fraunces Medium" pitchFamily="34" charset="-120"/>
              </a:rPr>
              <a:t>Integración de Herramientas</a:t>
            </a:r>
            <a:endParaRPr lang="en-US" sz="2200" dirty="0"/>
          </a:p>
        </p:txBody>
      </p:sp>
      <p:sp>
        <p:nvSpPr>
          <p:cNvPr id="11" name="Text 6"/>
          <p:cNvSpPr/>
          <p:nvPr/>
        </p:nvSpPr>
        <p:spPr>
          <a:xfrm>
            <a:off x="7485221" y="5281613"/>
            <a:ext cx="3005614" cy="1814513"/>
          </a:xfrm>
          <a:prstGeom prst="rect">
            <a:avLst/>
          </a:prstGeom>
          <a:noFill/>
          <a:ln/>
        </p:spPr>
        <p:txBody>
          <a:bodyPr wrap="square" lIns="0" tIns="0" rIns="0" bIns="0" rtlCol="0" anchor="t"/>
          <a:lstStyle/>
          <a:p>
            <a:pPr algn="l" indent="0" marL="0">
              <a:lnSpc>
                <a:spcPts val="2850"/>
              </a:lnSpc>
              <a:buNone/>
            </a:pPr>
            <a:r>
              <a:rPr lang="en-US" sz="1750" dirty="0">
                <a:solidFill>
                  <a:srgbClr val="EBECEF"/>
                </a:solidFill>
                <a:latin typeface="Epilogue" pitchFamily="34" charset="0"/>
                <a:ea typeface="Epilogue" pitchFamily="34" charset="-122"/>
                <a:cs typeface="Epilogue" pitchFamily="34" charset="-120"/>
              </a:rPr>
              <a:t>Combinar soluciones de respaldo, cifrado y recuperación para un proceso más integral y eficiente.</a:t>
            </a:r>
            <a:endParaRPr lang="en-US" sz="1750" dirty="0"/>
          </a:p>
        </p:txBody>
      </p:sp>
      <p:pic>
        <p:nvPicPr>
          <p:cNvPr id="12" name="Image 3" descr="preencoded.png">    </p:cNvPr>
          <p:cNvPicPr>
            <a:picLocks noChangeAspect="1"/>
          </p:cNvPicPr>
          <p:nvPr/>
        </p:nvPicPr>
        <p:blipFill>
          <a:blip r:embed="rId4"/>
          <a:stretch>
            <a:fillRect/>
          </a:stretch>
        </p:blipFill>
        <p:spPr>
          <a:xfrm>
            <a:off x="10830997" y="2295882"/>
            <a:ext cx="3005614" cy="1857494"/>
          </a:xfrm>
          <a:prstGeom prst="rect">
            <a:avLst/>
          </a:prstGeom>
        </p:spPr>
      </p:pic>
      <p:sp>
        <p:nvSpPr>
          <p:cNvPr id="13" name="Text 7"/>
          <p:cNvSpPr/>
          <p:nvPr/>
        </p:nvSpPr>
        <p:spPr>
          <a:xfrm>
            <a:off x="10830997" y="4436864"/>
            <a:ext cx="3005614" cy="708660"/>
          </a:xfrm>
          <a:prstGeom prst="rect">
            <a:avLst/>
          </a:prstGeom>
          <a:noFill/>
          <a:ln/>
        </p:spPr>
        <p:txBody>
          <a:bodyPr wrap="square" lIns="0" tIns="0" rIns="0" bIns="0" rtlCol="0" anchor="t"/>
          <a:lstStyle/>
          <a:p>
            <a:pPr algn="l" indent="0" marL="0">
              <a:lnSpc>
                <a:spcPts val="2750"/>
              </a:lnSpc>
              <a:buNone/>
            </a:pPr>
            <a:r>
              <a:rPr lang="en-US" sz="2200" dirty="0">
                <a:solidFill>
                  <a:srgbClr val="EBECEF"/>
                </a:solidFill>
                <a:latin typeface="Fraunces Medium" pitchFamily="34" charset="0"/>
                <a:ea typeface="Fraunces Medium" pitchFamily="34" charset="-122"/>
                <a:cs typeface="Fraunces Medium" pitchFamily="34" charset="-120"/>
              </a:rPr>
              <a:t>Recuperación desde la Nube</a:t>
            </a:r>
            <a:endParaRPr lang="en-US" sz="2200" dirty="0"/>
          </a:p>
        </p:txBody>
      </p:sp>
      <p:sp>
        <p:nvSpPr>
          <p:cNvPr id="14" name="Text 8"/>
          <p:cNvSpPr/>
          <p:nvPr/>
        </p:nvSpPr>
        <p:spPr>
          <a:xfrm>
            <a:off x="10830997" y="5281613"/>
            <a:ext cx="3005614" cy="1814513"/>
          </a:xfrm>
          <a:prstGeom prst="rect">
            <a:avLst/>
          </a:prstGeom>
          <a:noFill/>
          <a:ln/>
        </p:spPr>
        <p:txBody>
          <a:bodyPr wrap="square" lIns="0" tIns="0" rIns="0" bIns="0" rtlCol="0" anchor="t"/>
          <a:lstStyle/>
          <a:p>
            <a:pPr algn="l" indent="0" marL="0">
              <a:lnSpc>
                <a:spcPts val="2850"/>
              </a:lnSpc>
              <a:buNone/>
            </a:pPr>
            <a:r>
              <a:rPr lang="en-US" sz="1750" dirty="0">
                <a:solidFill>
                  <a:srgbClr val="EBECEF"/>
                </a:solidFill>
                <a:latin typeface="Epilogue" pitchFamily="34" charset="0"/>
                <a:ea typeface="Epilogue" pitchFamily="34" charset="-122"/>
                <a:cs typeface="Epilogue" pitchFamily="34" charset="-120"/>
              </a:rPr>
              <a:t>Aprovechar la capacidad de almacenamiento y procesamiento en la nube para agilizar la recuperación de datos.</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9427607" y="2577465"/>
            <a:ext cx="4919186" cy="3074551"/>
          </a:xfrm>
          <a:prstGeom prst="rect">
            <a:avLst/>
          </a:prstGeom>
        </p:spPr>
      </p:pic>
      <p:sp>
        <p:nvSpPr>
          <p:cNvPr id="4" name="Text 0"/>
          <p:cNvSpPr/>
          <p:nvPr/>
        </p:nvSpPr>
        <p:spPr>
          <a:xfrm>
            <a:off x="793790" y="1656755"/>
            <a:ext cx="7556421" cy="1417558"/>
          </a:xfrm>
          <a:prstGeom prst="rect">
            <a:avLst/>
          </a:prstGeom>
          <a:noFill/>
          <a:ln/>
        </p:spPr>
        <p:txBody>
          <a:bodyPr wrap="square" lIns="0" tIns="0" rIns="0" bIns="0" rtlCol="0" anchor="t"/>
          <a:lstStyle/>
          <a:p>
            <a:pPr indent="0" marL="0">
              <a:lnSpc>
                <a:spcPts val="5550"/>
              </a:lnSpc>
              <a:buNone/>
            </a:pPr>
            <a:r>
              <a:rPr lang="en-US" sz="4450" dirty="0">
                <a:solidFill>
                  <a:srgbClr val="FFFFFF"/>
                </a:solidFill>
                <a:latin typeface="Fraunces Medium" pitchFamily="34" charset="0"/>
                <a:ea typeface="Fraunces Medium" pitchFamily="34" charset="-122"/>
                <a:cs typeface="Fraunces Medium" pitchFamily="34" charset="-120"/>
              </a:rPr>
              <a:t>Simulación de Pérdida de Datos</a:t>
            </a:r>
            <a:endParaRPr lang="en-US" sz="4450" dirty="0"/>
          </a:p>
        </p:txBody>
      </p:sp>
      <p:sp>
        <p:nvSpPr>
          <p:cNvPr id="5" name="Text 1"/>
          <p:cNvSpPr/>
          <p:nvPr/>
        </p:nvSpPr>
        <p:spPr>
          <a:xfrm>
            <a:off x="793790" y="3414474"/>
            <a:ext cx="7556421" cy="1814513"/>
          </a:xfrm>
          <a:prstGeom prst="rect">
            <a:avLst/>
          </a:prstGeom>
          <a:noFill/>
          <a:ln/>
        </p:spPr>
        <p:txBody>
          <a:bodyPr wrap="square" lIns="0" tIns="0" rIns="0" bIns="0" rtlCol="0" anchor="t"/>
          <a:lstStyle/>
          <a:p>
            <a:pPr indent="0" marL="0">
              <a:lnSpc>
                <a:spcPts val="2850"/>
              </a:lnSpc>
              <a:buNone/>
            </a:pPr>
            <a:r>
              <a:rPr lang="en-US" sz="1750" dirty="0">
                <a:solidFill>
                  <a:srgbClr val="EBECEF"/>
                </a:solidFill>
                <a:latin typeface="Epilogue" pitchFamily="34" charset="0"/>
                <a:ea typeface="Epilogue" pitchFamily="34" charset="-122"/>
                <a:cs typeface="Epilogue" pitchFamily="34" charset="-120"/>
              </a:rPr>
              <a:t>La simulación de pérdida de datos es una práctica esencial para evaluar la efectividad de los planes de recuperación y respaldar los procesos críticos de una organización. Al crear escenarios de fallo controlados, se puede probar la capacidad de un sistema para restaurar datos y operaciones de manera oportuna y confiable.</a:t>
            </a:r>
            <a:endParaRPr lang="en-US" sz="1750" dirty="0"/>
          </a:p>
        </p:txBody>
      </p:sp>
      <p:sp>
        <p:nvSpPr>
          <p:cNvPr id="6" name="Text 2"/>
          <p:cNvSpPr/>
          <p:nvPr/>
        </p:nvSpPr>
        <p:spPr>
          <a:xfrm>
            <a:off x="793790" y="5484138"/>
            <a:ext cx="7556421" cy="1088708"/>
          </a:xfrm>
          <a:prstGeom prst="rect">
            <a:avLst/>
          </a:prstGeom>
          <a:noFill/>
          <a:ln/>
        </p:spPr>
        <p:txBody>
          <a:bodyPr wrap="square" lIns="0" tIns="0" rIns="0" bIns="0" rtlCol="0" anchor="t"/>
          <a:lstStyle/>
          <a:p>
            <a:pPr indent="0" marL="0">
              <a:lnSpc>
                <a:spcPts val="2850"/>
              </a:lnSpc>
              <a:buNone/>
            </a:pPr>
            <a:r>
              <a:rPr lang="en-US" sz="1750" dirty="0">
                <a:solidFill>
                  <a:srgbClr val="EBECEF"/>
                </a:solidFill>
                <a:latin typeface="Epilogue" pitchFamily="34" charset="0"/>
                <a:ea typeface="Epilogue" pitchFamily="34" charset="-122"/>
                <a:cs typeface="Epilogue" pitchFamily="34" charset="-120"/>
              </a:rPr>
              <a:t>Estas simulaciones ayudan a identificar debilidades en los planes de recuperación, permitiendo realizar mejoras y asegurar la continuidad del negocio en caso de incidentes reales.</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9396055" y="2636639"/>
            <a:ext cx="4982289" cy="2956203"/>
          </a:xfrm>
          <a:prstGeom prst="rect">
            <a:avLst/>
          </a:prstGeom>
        </p:spPr>
      </p:pic>
      <p:sp>
        <p:nvSpPr>
          <p:cNvPr id="4" name="Text 0"/>
          <p:cNvSpPr/>
          <p:nvPr/>
        </p:nvSpPr>
        <p:spPr>
          <a:xfrm>
            <a:off x="705683" y="757357"/>
            <a:ext cx="7480340" cy="630079"/>
          </a:xfrm>
          <a:prstGeom prst="rect">
            <a:avLst/>
          </a:prstGeom>
          <a:noFill/>
          <a:ln/>
        </p:spPr>
        <p:txBody>
          <a:bodyPr wrap="none" lIns="0" tIns="0" rIns="0" bIns="0" rtlCol="0" anchor="t"/>
          <a:lstStyle/>
          <a:p>
            <a:pPr indent="0" marL="0">
              <a:lnSpc>
                <a:spcPts val="4950"/>
              </a:lnSpc>
              <a:buNone/>
            </a:pPr>
            <a:r>
              <a:rPr lang="en-US" sz="3950" dirty="0">
                <a:solidFill>
                  <a:srgbClr val="FFFFFF"/>
                </a:solidFill>
                <a:latin typeface="Fraunces Medium" pitchFamily="34" charset="0"/>
                <a:ea typeface="Fraunces Medium" pitchFamily="34" charset="-122"/>
                <a:cs typeface="Fraunces Medium" pitchFamily="34" charset="-120"/>
              </a:rPr>
              <a:t>Herramientas de Recuperación</a:t>
            </a:r>
            <a:endParaRPr lang="en-US" sz="3950" dirty="0"/>
          </a:p>
        </p:txBody>
      </p:sp>
      <p:pic>
        <p:nvPicPr>
          <p:cNvPr id="5" name="Image 2" descr="preencoded.png">    </p:cNvPr>
          <p:cNvPicPr>
            <a:picLocks noChangeAspect="1"/>
          </p:cNvPicPr>
          <p:nvPr/>
        </p:nvPicPr>
        <p:blipFill>
          <a:blip r:embed="rId3"/>
          <a:stretch>
            <a:fillRect/>
          </a:stretch>
        </p:blipFill>
        <p:spPr>
          <a:xfrm>
            <a:off x="705683" y="1689854"/>
            <a:ext cx="503992" cy="503992"/>
          </a:xfrm>
          <a:prstGeom prst="rect">
            <a:avLst/>
          </a:prstGeom>
        </p:spPr>
      </p:pic>
      <p:sp>
        <p:nvSpPr>
          <p:cNvPr id="6" name="Text 1"/>
          <p:cNvSpPr/>
          <p:nvPr/>
        </p:nvSpPr>
        <p:spPr>
          <a:xfrm>
            <a:off x="705683" y="2395418"/>
            <a:ext cx="2594253" cy="315039"/>
          </a:xfrm>
          <a:prstGeom prst="rect">
            <a:avLst/>
          </a:prstGeom>
          <a:noFill/>
          <a:ln/>
        </p:spPr>
        <p:txBody>
          <a:bodyPr wrap="none" lIns="0" tIns="0" rIns="0" bIns="0" rtlCol="0" anchor="t"/>
          <a:lstStyle/>
          <a:p>
            <a:pPr algn="l" indent="0" marL="0">
              <a:lnSpc>
                <a:spcPts val="2450"/>
              </a:lnSpc>
              <a:buNone/>
            </a:pPr>
            <a:r>
              <a:rPr lang="en-US" sz="1950" dirty="0">
                <a:solidFill>
                  <a:srgbClr val="EBECEF"/>
                </a:solidFill>
                <a:latin typeface="Fraunces Medium" pitchFamily="34" charset="0"/>
                <a:ea typeface="Fraunces Medium" pitchFamily="34" charset="-122"/>
                <a:cs typeface="Fraunces Medium" pitchFamily="34" charset="-120"/>
              </a:rPr>
              <a:t>Software de Respaldo</a:t>
            </a:r>
            <a:endParaRPr lang="en-US" sz="1950" dirty="0"/>
          </a:p>
        </p:txBody>
      </p:sp>
      <p:sp>
        <p:nvSpPr>
          <p:cNvPr id="7" name="Text 2"/>
          <p:cNvSpPr/>
          <p:nvPr/>
        </p:nvSpPr>
        <p:spPr>
          <a:xfrm>
            <a:off x="705683" y="2831425"/>
            <a:ext cx="3715107" cy="967264"/>
          </a:xfrm>
          <a:prstGeom prst="rect">
            <a:avLst/>
          </a:prstGeom>
          <a:noFill/>
          <a:ln/>
        </p:spPr>
        <p:txBody>
          <a:bodyPr wrap="square" lIns="0" tIns="0" rIns="0" bIns="0" rtlCol="0" anchor="t"/>
          <a:lstStyle/>
          <a:p>
            <a:pPr algn="l" indent="0" marL="0">
              <a:lnSpc>
                <a:spcPts val="2500"/>
              </a:lnSpc>
              <a:buNone/>
            </a:pPr>
            <a:r>
              <a:rPr lang="en-US" sz="1550" dirty="0">
                <a:solidFill>
                  <a:srgbClr val="EBECEF"/>
                </a:solidFill>
                <a:latin typeface="Epilogue" pitchFamily="34" charset="0"/>
                <a:ea typeface="Epilogue" pitchFamily="34" charset="-122"/>
                <a:cs typeface="Epilogue" pitchFamily="34" charset="-120"/>
              </a:rPr>
              <a:t>Programas especializados para crear y administrar respaldos de datos, como Veeam, Acronis o Veritas.</a:t>
            </a:r>
            <a:endParaRPr lang="en-US" sz="1550" dirty="0"/>
          </a:p>
        </p:txBody>
      </p:sp>
      <p:pic>
        <p:nvPicPr>
          <p:cNvPr id="8" name="Image 3" descr="preencoded.png">    </p:cNvPr>
          <p:cNvPicPr>
            <a:picLocks noChangeAspect="1"/>
          </p:cNvPicPr>
          <p:nvPr/>
        </p:nvPicPr>
        <p:blipFill>
          <a:blip r:embed="rId4"/>
          <a:stretch>
            <a:fillRect/>
          </a:stretch>
        </p:blipFill>
        <p:spPr>
          <a:xfrm>
            <a:off x="4723209" y="1689854"/>
            <a:ext cx="503992" cy="503992"/>
          </a:xfrm>
          <a:prstGeom prst="rect">
            <a:avLst/>
          </a:prstGeom>
        </p:spPr>
      </p:pic>
      <p:sp>
        <p:nvSpPr>
          <p:cNvPr id="9" name="Text 3"/>
          <p:cNvSpPr/>
          <p:nvPr/>
        </p:nvSpPr>
        <p:spPr>
          <a:xfrm>
            <a:off x="4723209" y="2395418"/>
            <a:ext cx="3715107" cy="630079"/>
          </a:xfrm>
          <a:prstGeom prst="rect">
            <a:avLst/>
          </a:prstGeom>
          <a:noFill/>
          <a:ln/>
        </p:spPr>
        <p:txBody>
          <a:bodyPr wrap="square" lIns="0" tIns="0" rIns="0" bIns="0" rtlCol="0" anchor="t"/>
          <a:lstStyle/>
          <a:p>
            <a:pPr algn="l" indent="0" marL="0">
              <a:lnSpc>
                <a:spcPts val="2450"/>
              </a:lnSpc>
              <a:buNone/>
            </a:pPr>
            <a:r>
              <a:rPr lang="en-US" sz="1950" dirty="0">
                <a:solidFill>
                  <a:srgbClr val="EBECEF"/>
                </a:solidFill>
                <a:latin typeface="Fraunces Medium" pitchFamily="34" charset="0"/>
                <a:ea typeface="Fraunces Medium" pitchFamily="34" charset="-122"/>
                <a:cs typeface="Fraunces Medium" pitchFamily="34" charset="-120"/>
              </a:rPr>
              <a:t>Herramientas de Recuperación</a:t>
            </a:r>
            <a:endParaRPr lang="en-US" sz="1950" dirty="0"/>
          </a:p>
        </p:txBody>
      </p:sp>
      <p:sp>
        <p:nvSpPr>
          <p:cNvPr id="10" name="Text 4"/>
          <p:cNvSpPr/>
          <p:nvPr/>
        </p:nvSpPr>
        <p:spPr>
          <a:xfrm>
            <a:off x="4723209" y="3146465"/>
            <a:ext cx="3715107" cy="1289685"/>
          </a:xfrm>
          <a:prstGeom prst="rect">
            <a:avLst/>
          </a:prstGeom>
          <a:noFill/>
          <a:ln/>
        </p:spPr>
        <p:txBody>
          <a:bodyPr wrap="square" lIns="0" tIns="0" rIns="0" bIns="0" rtlCol="0" anchor="t"/>
          <a:lstStyle/>
          <a:p>
            <a:pPr algn="l" indent="0" marL="0">
              <a:lnSpc>
                <a:spcPts val="2500"/>
              </a:lnSpc>
              <a:buNone/>
            </a:pPr>
            <a:r>
              <a:rPr lang="en-US" sz="1550" dirty="0">
                <a:solidFill>
                  <a:srgbClr val="EBECEF"/>
                </a:solidFill>
                <a:latin typeface="Epilogue" pitchFamily="34" charset="0"/>
                <a:ea typeface="Epilogue" pitchFamily="34" charset="-122"/>
                <a:cs typeface="Epilogue" pitchFamily="34" charset="-120"/>
              </a:rPr>
              <a:t>Utilidades que permiten restaurar datos perdidos o dañados a partir de respaldos, como DataRecovery o Recuva.</a:t>
            </a:r>
            <a:endParaRPr lang="en-US" sz="1550" dirty="0"/>
          </a:p>
        </p:txBody>
      </p:sp>
      <p:pic>
        <p:nvPicPr>
          <p:cNvPr id="11" name="Image 4" descr="preencoded.png">    </p:cNvPr>
          <p:cNvPicPr>
            <a:picLocks noChangeAspect="1"/>
          </p:cNvPicPr>
          <p:nvPr/>
        </p:nvPicPr>
        <p:blipFill>
          <a:blip r:embed="rId5"/>
          <a:stretch>
            <a:fillRect/>
          </a:stretch>
        </p:blipFill>
        <p:spPr>
          <a:xfrm>
            <a:off x="705683" y="5040987"/>
            <a:ext cx="503992" cy="503992"/>
          </a:xfrm>
          <a:prstGeom prst="rect">
            <a:avLst/>
          </a:prstGeom>
        </p:spPr>
      </p:pic>
      <p:sp>
        <p:nvSpPr>
          <p:cNvPr id="12" name="Text 5"/>
          <p:cNvSpPr/>
          <p:nvPr/>
        </p:nvSpPr>
        <p:spPr>
          <a:xfrm>
            <a:off x="705683" y="5746552"/>
            <a:ext cx="2989659" cy="315039"/>
          </a:xfrm>
          <a:prstGeom prst="rect">
            <a:avLst/>
          </a:prstGeom>
          <a:noFill/>
          <a:ln/>
        </p:spPr>
        <p:txBody>
          <a:bodyPr wrap="none" lIns="0" tIns="0" rIns="0" bIns="0" rtlCol="0" anchor="t"/>
          <a:lstStyle/>
          <a:p>
            <a:pPr algn="l" indent="0" marL="0">
              <a:lnSpc>
                <a:spcPts val="2450"/>
              </a:lnSpc>
              <a:buNone/>
            </a:pPr>
            <a:r>
              <a:rPr lang="en-US" sz="1950" dirty="0">
                <a:solidFill>
                  <a:srgbClr val="EBECEF"/>
                </a:solidFill>
                <a:latin typeface="Fraunces Medium" pitchFamily="34" charset="0"/>
                <a:ea typeface="Fraunces Medium" pitchFamily="34" charset="-122"/>
                <a:cs typeface="Fraunces Medium" pitchFamily="34" charset="-120"/>
              </a:rPr>
              <a:t>Gestión de Base de Datos</a:t>
            </a:r>
            <a:endParaRPr lang="en-US" sz="1950" dirty="0"/>
          </a:p>
        </p:txBody>
      </p:sp>
      <p:sp>
        <p:nvSpPr>
          <p:cNvPr id="13" name="Text 6"/>
          <p:cNvSpPr/>
          <p:nvPr/>
        </p:nvSpPr>
        <p:spPr>
          <a:xfrm>
            <a:off x="705683" y="6182558"/>
            <a:ext cx="3715107" cy="1289685"/>
          </a:xfrm>
          <a:prstGeom prst="rect">
            <a:avLst/>
          </a:prstGeom>
          <a:noFill/>
          <a:ln/>
        </p:spPr>
        <p:txBody>
          <a:bodyPr wrap="square" lIns="0" tIns="0" rIns="0" bIns="0" rtlCol="0" anchor="t"/>
          <a:lstStyle/>
          <a:p>
            <a:pPr algn="l" indent="0" marL="0">
              <a:lnSpc>
                <a:spcPts val="2500"/>
              </a:lnSpc>
              <a:buNone/>
            </a:pPr>
            <a:r>
              <a:rPr lang="en-US" sz="1550" dirty="0">
                <a:solidFill>
                  <a:srgbClr val="EBECEF"/>
                </a:solidFill>
                <a:latin typeface="Epilogue" pitchFamily="34" charset="0"/>
                <a:ea typeface="Epilogue" pitchFamily="34" charset="-122"/>
                <a:cs typeface="Epilogue" pitchFamily="34" charset="-120"/>
              </a:rPr>
              <a:t>Herramientas como phpMyAdmin o SQL Server Management Studio para administrar y recuperar bases de datos.</a:t>
            </a:r>
            <a:endParaRPr lang="en-US" sz="1550" dirty="0"/>
          </a:p>
        </p:txBody>
      </p:sp>
      <p:pic>
        <p:nvPicPr>
          <p:cNvPr id="14" name="Image 5" descr="preencoded.png">    </p:cNvPr>
          <p:cNvPicPr>
            <a:picLocks noChangeAspect="1"/>
          </p:cNvPicPr>
          <p:nvPr/>
        </p:nvPicPr>
        <p:blipFill>
          <a:blip r:embed="rId6"/>
          <a:stretch>
            <a:fillRect/>
          </a:stretch>
        </p:blipFill>
        <p:spPr>
          <a:xfrm>
            <a:off x="4723209" y="5040987"/>
            <a:ext cx="503992" cy="503992"/>
          </a:xfrm>
          <a:prstGeom prst="rect">
            <a:avLst/>
          </a:prstGeom>
        </p:spPr>
      </p:pic>
      <p:sp>
        <p:nvSpPr>
          <p:cNvPr id="15" name="Text 7"/>
          <p:cNvSpPr/>
          <p:nvPr/>
        </p:nvSpPr>
        <p:spPr>
          <a:xfrm>
            <a:off x="4723209" y="5746552"/>
            <a:ext cx="3362087" cy="315039"/>
          </a:xfrm>
          <a:prstGeom prst="rect">
            <a:avLst/>
          </a:prstGeom>
          <a:noFill/>
          <a:ln/>
        </p:spPr>
        <p:txBody>
          <a:bodyPr wrap="none" lIns="0" tIns="0" rIns="0" bIns="0" rtlCol="0" anchor="t"/>
          <a:lstStyle/>
          <a:p>
            <a:pPr algn="l" indent="0" marL="0">
              <a:lnSpc>
                <a:spcPts val="2450"/>
              </a:lnSpc>
              <a:buNone/>
            </a:pPr>
            <a:r>
              <a:rPr lang="en-US" sz="1950" dirty="0">
                <a:solidFill>
                  <a:srgbClr val="EBECEF"/>
                </a:solidFill>
                <a:latin typeface="Fraunces Medium" pitchFamily="34" charset="0"/>
                <a:ea typeface="Fraunces Medium" pitchFamily="34" charset="-122"/>
                <a:cs typeface="Fraunces Medium" pitchFamily="34" charset="-120"/>
              </a:rPr>
              <a:t>Almacenamiento en la Nube</a:t>
            </a:r>
            <a:endParaRPr lang="en-US" sz="1950" dirty="0"/>
          </a:p>
        </p:txBody>
      </p:sp>
      <p:sp>
        <p:nvSpPr>
          <p:cNvPr id="16" name="Text 8"/>
          <p:cNvSpPr/>
          <p:nvPr/>
        </p:nvSpPr>
        <p:spPr>
          <a:xfrm>
            <a:off x="4723209" y="6182558"/>
            <a:ext cx="3715107" cy="1289685"/>
          </a:xfrm>
          <a:prstGeom prst="rect">
            <a:avLst/>
          </a:prstGeom>
          <a:noFill/>
          <a:ln/>
        </p:spPr>
        <p:txBody>
          <a:bodyPr wrap="square" lIns="0" tIns="0" rIns="0" bIns="0" rtlCol="0" anchor="t"/>
          <a:lstStyle/>
          <a:p>
            <a:pPr algn="l" indent="0" marL="0">
              <a:lnSpc>
                <a:spcPts val="2500"/>
              </a:lnSpc>
              <a:buNone/>
            </a:pPr>
            <a:r>
              <a:rPr lang="en-US" sz="1550" dirty="0">
                <a:solidFill>
                  <a:srgbClr val="EBECEF"/>
                </a:solidFill>
                <a:latin typeface="Epilogue" pitchFamily="34" charset="0"/>
                <a:ea typeface="Epilogue" pitchFamily="34" charset="-122"/>
                <a:cs typeface="Epilogue" pitchFamily="34" charset="-120"/>
              </a:rPr>
              <a:t>Servicios en línea como Google Drive, Dropbox o OneDrive que permiten respaldar y recuperar datos remotamente.</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29947" y="1142881"/>
            <a:ext cx="6998256" cy="473273"/>
          </a:xfrm>
          <a:prstGeom prst="rect">
            <a:avLst/>
          </a:prstGeom>
          <a:noFill/>
          <a:ln/>
        </p:spPr>
        <p:txBody>
          <a:bodyPr wrap="none" lIns="0" tIns="0" rIns="0" bIns="0" rtlCol="0" anchor="t"/>
          <a:lstStyle/>
          <a:p>
            <a:pPr indent="0" marL="0">
              <a:lnSpc>
                <a:spcPts val="3700"/>
              </a:lnSpc>
              <a:buNone/>
            </a:pPr>
            <a:r>
              <a:rPr lang="en-US" sz="2950" dirty="0">
                <a:solidFill>
                  <a:srgbClr val="FFFFFF"/>
                </a:solidFill>
                <a:latin typeface="Fraunces Medium" pitchFamily="34" charset="0"/>
                <a:ea typeface="Fraunces Medium" pitchFamily="34" charset="-122"/>
                <a:cs typeface="Fraunces Medium" pitchFamily="34" charset="-120"/>
              </a:rPr>
              <a:t>Caso Práctico: Recuperación ante Fallo</a:t>
            </a:r>
            <a:endParaRPr lang="en-US" sz="2950" dirty="0"/>
          </a:p>
        </p:txBody>
      </p:sp>
      <p:pic>
        <p:nvPicPr>
          <p:cNvPr id="3" name="Image 0" descr="preencoded.png">    </p:cNvPr>
          <p:cNvPicPr>
            <a:picLocks noChangeAspect="1"/>
          </p:cNvPicPr>
          <p:nvPr/>
        </p:nvPicPr>
        <p:blipFill>
          <a:blip r:embed="rId1"/>
          <a:stretch>
            <a:fillRect/>
          </a:stretch>
        </p:blipFill>
        <p:spPr>
          <a:xfrm>
            <a:off x="3250763" y="1918930"/>
            <a:ext cx="1343382" cy="872371"/>
          </a:xfrm>
          <a:prstGeom prst="rect">
            <a:avLst/>
          </a:prstGeom>
        </p:spPr>
      </p:pic>
      <p:sp>
        <p:nvSpPr>
          <p:cNvPr id="4" name="Text 1"/>
          <p:cNvSpPr/>
          <p:nvPr/>
        </p:nvSpPr>
        <p:spPr>
          <a:xfrm>
            <a:off x="3879056" y="2311718"/>
            <a:ext cx="86797" cy="302895"/>
          </a:xfrm>
          <a:prstGeom prst="rect">
            <a:avLst/>
          </a:prstGeom>
          <a:noFill/>
          <a:ln/>
        </p:spPr>
        <p:txBody>
          <a:bodyPr wrap="none" lIns="0" tIns="0" rIns="0" bIns="0" rtlCol="0" anchor="t"/>
          <a:lstStyle/>
          <a:p>
            <a:pPr algn="ctr" indent="0" marL="0">
              <a:lnSpc>
                <a:spcPts val="2350"/>
              </a:lnSpc>
              <a:buNone/>
            </a:pPr>
            <a:r>
              <a:rPr lang="en-US" sz="1450" dirty="0">
                <a:solidFill>
                  <a:srgbClr val="EBECEF"/>
                </a:solidFill>
                <a:latin typeface="Fraunces Medium" pitchFamily="34" charset="0"/>
                <a:ea typeface="Fraunces Medium" pitchFamily="34" charset="-122"/>
                <a:cs typeface="Fraunces Medium" pitchFamily="34" charset="-120"/>
              </a:rPr>
              <a:t>1</a:t>
            </a:r>
            <a:endParaRPr lang="en-US" sz="1450" dirty="0"/>
          </a:p>
        </p:txBody>
      </p:sp>
      <p:sp>
        <p:nvSpPr>
          <p:cNvPr id="5" name="Text 2"/>
          <p:cNvSpPr/>
          <p:nvPr/>
        </p:nvSpPr>
        <p:spPr>
          <a:xfrm>
            <a:off x="4745474" y="2070259"/>
            <a:ext cx="1892975" cy="236577"/>
          </a:xfrm>
          <a:prstGeom prst="rect">
            <a:avLst/>
          </a:prstGeom>
          <a:noFill/>
          <a:ln/>
        </p:spPr>
        <p:txBody>
          <a:bodyPr wrap="none" lIns="0" tIns="0" rIns="0" bIns="0" rtlCol="0" anchor="t"/>
          <a:lstStyle/>
          <a:p>
            <a:pPr algn="l" indent="0" marL="0">
              <a:lnSpc>
                <a:spcPts val="1850"/>
              </a:lnSpc>
              <a:buNone/>
            </a:pPr>
            <a:r>
              <a:rPr lang="en-US" sz="1450" dirty="0">
                <a:solidFill>
                  <a:srgbClr val="EBECEF"/>
                </a:solidFill>
                <a:latin typeface="Fraunces Medium" pitchFamily="34" charset="0"/>
                <a:ea typeface="Fraunces Medium" pitchFamily="34" charset="-122"/>
                <a:cs typeface="Fraunces Medium" pitchFamily="34" charset="-120"/>
              </a:rPr>
              <a:t>Diagnóstico</a:t>
            </a:r>
            <a:endParaRPr lang="en-US" sz="1450" dirty="0"/>
          </a:p>
        </p:txBody>
      </p:sp>
      <p:sp>
        <p:nvSpPr>
          <p:cNvPr id="6" name="Text 3"/>
          <p:cNvSpPr/>
          <p:nvPr/>
        </p:nvSpPr>
        <p:spPr>
          <a:xfrm>
            <a:off x="4745474" y="2397681"/>
            <a:ext cx="4534138" cy="242292"/>
          </a:xfrm>
          <a:prstGeom prst="rect">
            <a:avLst/>
          </a:prstGeom>
          <a:noFill/>
          <a:ln/>
        </p:spPr>
        <p:txBody>
          <a:bodyPr wrap="none" lIns="0" tIns="0" rIns="0" bIns="0" rtlCol="0" anchor="t"/>
          <a:lstStyle/>
          <a:p>
            <a:pPr algn="l" indent="0" marL="0">
              <a:lnSpc>
                <a:spcPts val="1900"/>
              </a:lnSpc>
              <a:buNone/>
            </a:pPr>
            <a:r>
              <a:rPr lang="en-US" sz="1150" dirty="0">
                <a:solidFill>
                  <a:srgbClr val="EBECEF"/>
                </a:solidFill>
                <a:latin typeface="Epilogue" pitchFamily="34" charset="0"/>
                <a:ea typeface="Epilogue" pitchFamily="34" charset="-122"/>
                <a:cs typeface="Epilogue" pitchFamily="34" charset="-120"/>
              </a:rPr>
              <a:t>Identificar la causa y el alcance del fallo en la base de datos.</a:t>
            </a:r>
            <a:endParaRPr lang="en-US" sz="1150" dirty="0"/>
          </a:p>
        </p:txBody>
      </p:sp>
      <p:sp>
        <p:nvSpPr>
          <p:cNvPr id="7" name="Shape 4"/>
          <p:cNvSpPr/>
          <p:nvPr/>
        </p:nvSpPr>
        <p:spPr>
          <a:xfrm>
            <a:off x="4631888" y="2806303"/>
            <a:ext cx="9430822" cy="7620"/>
          </a:xfrm>
          <a:prstGeom prst="roundRect">
            <a:avLst>
              <a:gd name="adj" fmla="val 834739"/>
            </a:avLst>
          </a:prstGeom>
          <a:solidFill>
            <a:srgbClr val="414A70"/>
          </a:solidFill>
          <a:ln/>
        </p:spPr>
      </p:sp>
      <p:pic>
        <p:nvPicPr>
          <p:cNvPr id="8" name="Image 1" descr="preencoded.png">    </p:cNvPr>
          <p:cNvPicPr>
            <a:picLocks noChangeAspect="1"/>
          </p:cNvPicPr>
          <p:nvPr/>
        </p:nvPicPr>
        <p:blipFill>
          <a:blip r:embed="rId2"/>
          <a:stretch>
            <a:fillRect/>
          </a:stretch>
        </p:blipFill>
        <p:spPr>
          <a:xfrm>
            <a:off x="2579013" y="2829044"/>
            <a:ext cx="2686883" cy="872371"/>
          </a:xfrm>
          <a:prstGeom prst="rect">
            <a:avLst/>
          </a:prstGeom>
        </p:spPr>
      </p:pic>
      <p:sp>
        <p:nvSpPr>
          <p:cNvPr id="9" name="Text 5"/>
          <p:cNvSpPr/>
          <p:nvPr/>
        </p:nvSpPr>
        <p:spPr>
          <a:xfrm>
            <a:off x="3865007" y="3113722"/>
            <a:ext cx="114657" cy="302895"/>
          </a:xfrm>
          <a:prstGeom prst="rect">
            <a:avLst/>
          </a:prstGeom>
          <a:noFill/>
          <a:ln/>
        </p:spPr>
        <p:txBody>
          <a:bodyPr wrap="none" lIns="0" tIns="0" rIns="0" bIns="0" rtlCol="0" anchor="t"/>
          <a:lstStyle/>
          <a:p>
            <a:pPr algn="ctr" indent="0" marL="0">
              <a:lnSpc>
                <a:spcPts val="2350"/>
              </a:lnSpc>
              <a:buNone/>
            </a:pPr>
            <a:r>
              <a:rPr lang="en-US" sz="1450" dirty="0">
                <a:solidFill>
                  <a:srgbClr val="EBECEF"/>
                </a:solidFill>
                <a:latin typeface="Fraunces Medium" pitchFamily="34" charset="0"/>
                <a:ea typeface="Fraunces Medium" pitchFamily="34" charset="-122"/>
                <a:cs typeface="Fraunces Medium" pitchFamily="34" charset="-120"/>
              </a:rPr>
              <a:t>2</a:t>
            </a:r>
            <a:endParaRPr lang="en-US" sz="1450" dirty="0"/>
          </a:p>
        </p:txBody>
      </p:sp>
      <p:sp>
        <p:nvSpPr>
          <p:cNvPr id="10" name="Text 6"/>
          <p:cNvSpPr/>
          <p:nvPr/>
        </p:nvSpPr>
        <p:spPr>
          <a:xfrm>
            <a:off x="5417225" y="2980373"/>
            <a:ext cx="1942862" cy="236577"/>
          </a:xfrm>
          <a:prstGeom prst="rect">
            <a:avLst/>
          </a:prstGeom>
          <a:noFill/>
          <a:ln/>
        </p:spPr>
        <p:txBody>
          <a:bodyPr wrap="none" lIns="0" tIns="0" rIns="0" bIns="0" rtlCol="0" anchor="t"/>
          <a:lstStyle/>
          <a:p>
            <a:pPr algn="l" indent="0" marL="0">
              <a:lnSpc>
                <a:spcPts val="1850"/>
              </a:lnSpc>
              <a:buNone/>
            </a:pPr>
            <a:r>
              <a:rPr lang="en-US" sz="1450" dirty="0">
                <a:solidFill>
                  <a:srgbClr val="EBECEF"/>
                </a:solidFill>
                <a:latin typeface="Fraunces Medium" pitchFamily="34" charset="0"/>
                <a:ea typeface="Fraunces Medium" pitchFamily="34" charset="-122"/>
                <a:cs typeface="Fraunces Medium" pitchFamily="34" charset="-120"/>
              </a:rPr>
              <a:t>Análisis de Respaldos</a:t>
            </a:r>
            <a:endParaRPr lang="en-US" sz="1450" dirty="0"/>
          </a:p>
        </p:txBody>
      </p:sp>
      <p:sp>
        <p:nvSpPr>
          <p:cNvPr id="11" name="Text 7"/>
          <p:cNvSpPr/>
          <p:nvPr/>
        </p:nvSpPr>
        <p:spPr>
          <a:xfrm>
            <a:off x="5417225" y="3307794"/>
            <a:ext cx="6225183" cy="242292"/>
          </a:xfrm>
          <a:prstGeom prst="rect">
            <a:avLst/>
          </a:prstGeom>
          <a:noFill/>
          <a:ln/>
        </p:spPr>
        <p:txBody>
          <a:bodyPr wrap="none" lIns="0" tIns="0" rIns="0" bIns="0" rtlCol="0" anchor="t"/>
          <a:lstStyle/>
          <a:p>
            <a:pPr algn="l" indent="0" marL="0">
              <a:lnSpc>
                <a:spcPts val="1900"/>
              </a:lnSpc>
              <a:buNone/>
            </a:pPr>
            <a:r>
              <a:rPr lang="en-US" sz="1150" dirty="0">
                <a:solidFill>
                  <a:srgbClr val="EBECEF"/>
                </a:solidFill>
                <a:latin typeface="Epilogue" pitchFamily="34" charset="0"/>
                <a:ea typeface="Epilogue" pitchFamily="34" charset="-122"/>
                <a:cs typeface="Epilogue" pitchFamily="34" charset="-120"/>
              </a:rPr>
              <a:t>Evaluar los respaldos disponibles y determinar la mejor estrategia de recuperación.</a:t>
            </a:r>
            <a:endParaRPr lang="en-US" sz="1150" dirty="0"/>
          </a:p>
        </p:txBody>
      </p:sp>
      <p:sp>
        <p:nvSpPr>
          <p:cNvPr id="12" name="Shape 8"/>
          <p:cNvSpPr/>
          <p:nvPr/>
        </p:nvSpPr>
        <p:spPr>
          <a:xfrm>
            <a:off x="5303639" y="3716417"/>
            <a:ext cx="8759071" cy="7620"/>
          </a:xfrm>
          <a:prstGeom prst="roundRect">
            <a:avLst>
              <a:gd name="adj" fmla="val 834739"/>
            </a:avLst>
          </a:prstGeom>
          <a:solidFill>
            <a:srgbClr val="414A70"/>
          </a:solidFill>
          <a:ln/>
        </p:spPr>
      </p:sp>
      <p:pic>
        <p:nvPicPr>
          <p:cNvPr id="13" name="Image 2" descr="preencoded.png">    </p:cNvPr>
          <p:cNvPicPr>
            <a:picLocks noChangeAspect="1"/>
          </p:cNvPicPr>
          <p:nvPr/>
        </p:nvPicPr>
        <p:blipFill>
          <a:blip r:embed="rId3"/>
          <a:stretch>
            <a:fillRect/>
          </a:stretch>
        </p:blipFill>
        <p:spPr>
          <a:xfrm>
            <a:off x="1907262" y="3739158"/>
            <a:ext cx="4030385" cy="872371"/>
          </a:xfrm>
          <a:prstGeom prst="rect">
            <a:avLst/>
          </a:prstGeom>
        </p:spPr>
      </p:pic>
      <p:sp>
        <p:nvSpPr>
          <p:cNvPr id="14" name="Text 9"/>
          <p:cNvSpPr/>
          <p:nvPr/>
        </p:nvSpPr>
        <p:spPr>
          <a:xfrm>
            <a:off x="3870127" y="4023836"/>
            <a:ext cx="104537" cy="302895"/>
          </a:xfrm>
          <a:prstGeom prst="rect">
            <a:avLst/>
          </a:prstGeom>
          <a:noFill/>
          <a:ln/>
        </p:spPr>
        <p:txBody>
          <a:bodyPr wrap="none" lIns="0" tIns="0" rIns="0" bIns="0" rtlCol="0" anchor="t"/>
          <a:lstStyle/>
          <a:p>
            <a:pPr algn="ctr" indent="0" marL="0">
              <a:lnSpc>
                <a:spcPts val="2350"/>
              </a:lnSpc>
              <a:buNone/>
            </a:pPr>
            <a:r>
              <a:rPr lang="en-US" sz="1450" dirty="0">
                <a:solidFill>
                  <a:srgbClr val="EBECEF"/>
                </a:solidFill>
                <a:latin typeface="Fraunces Medium" pitchFamily="34" charset="0"/>
                <a:ea typeface="Fraunces Medium" pitchFamily="34" charset="-122"/>
                <a:cs typeface="Fraunces Medium" pitchFamily="34" charset="-120"/>
              </a:rPr>
              <a:t>3</a:t>
            </a:r>
            <a:endParaRPr lang="en-US" sz="1450" dirty="0"/>
          </a:p>
        </p:txBody>
      </p:sp>
      <p:sp>
        <p:nvSpPr>
          <p:cNvPr id="15" name="Text 10"/>
          <p:cNvSpPr/>
          <p:nvPr/>
        </p:nvSpPr>
        <p:spPr>
          <a:xfrm>
            <a:off x="6088975" y="3890486"/>
            <a:ext cx="2274570" cy="236577"/>
          </a:xfrm>
          <a:prstGeom prst="rect">
            <a:avLst/>
          </a:prstGeom>
          <a:noFill/>
          <a:ln/>
        </p:spPr>
        <p:txBody>
          <a:bodyPr wrap="none" lIns="0" tIns="0" rIns="0" bIns="0" rtlCol="0" anchor="t"/>
          <a:lstStyle/>
          <a:p>
            <a:pPr algn="l" indent="0" marL="0">
              <a:lnSpc>
                <a:spcPts val="1850"/>
              </a:lnSpc>
              <a:buNone/>
            </a:pPr>
            <a:r>
              <a:rPr lang="en-US" sz="1450" dirty="0">
                <a:solidFill>
                  <a:srgbClr val="EBECEF"/>
                </a:solidFill>
                <a:latin typeface="Fraunces Medium" pitchFamily="34" charset="0"/>
                <a:ea typeface="Fraunces Medium" pitchFamily="34" charset="-122"/>
                <a:cs typeface="Fraunces Medium" pitchFamily="34" charset="-120"/>
              </a:rPr>
              <a:t>Proceso de Recuperación</a:t>
            </a:r>
            <a:endParaRPr lang="en-US" sz="1450" dirty="0"/>
          </a:p>
        </p:txBody>
      </p:sp>
      <p:sp>
        <p:nvSpPr>
          <p:cNvPr id="16" name="Text 11"/>
          <p:cNvSpPr/>
          <p:nvPr/>
        </p:nvSpPr>
        <p:spPr>
          <a:xfrm>
            <a:off x="6088975" y="4217908"/>
            <a:ext cx="6443186" cy="242292"/>
          </a:xfrm>
          <a:prstGeom prst="rect">
            <a:avLst/>
          </a:prstGeom>
          <a:noFill/>
          <a:ln/>
        </p:spPr>
        <p:txBody>
          <a:bodyPr wrap="none" lIns="0" tIns="0" rIns="0" bIns="0" rtlCol="0" anchor="t"/>
          <a:lstStyle/>
          <a:p>
            <a:pPr algn="l" indent="0" marL="0">
              <a:lnSpc>
                <a:spcPts val="1900"/>
              </a:lnSpc>
              <a:buNone/>
            </a:pPr>
            <a:r>
              <a:rPr lang="en-US" sz="1150" dirty="0">
                <a:solidFill>
                  <a:srgbClr val="EBECEF"/>
                </a:solidFill>
                <a:latin typeface="Epilogue" pitchFamily="34" charset="0"/>
                <a:ea typeface="Epilogue" pitchFamily="34" charset="-122"/>
                <a:cs typeface="Epilogue" pitchFamily="34" charset="-120"/>
              </a:rPr>
              <a:t>Aplicar los pasos necesarios para restaurar la base de datos a un estado consistente.</a:t>
            </a:r>
            <a:endParaRPr lang="en-US" sz="1150" dirty="0"/>
          </a:p>
        </p:txBody>
      </p:sp>
      <p:sp>
        <p:nvSpPr>
          <p:cNvPr id="17" name="Shape 12"/>
          <p:cNvSpPr/>
          <p:nvPr/>
        </p:nvSpPr>
        <p:spPr>
          <a:xfrm>
            <a:off x="5975390" y="4626531"/>
            <a:ext cx="8087320" cy="7620"/>
          </a:xfrm>
          <a:prstGeom prst="roundRect">
            <a:avLst>
              <a:gd name="adj" fmla="val 834739"/>
            </a:avLst>
          </a:prstGeom>
          <a:solidFill>
            <a:srgbClr val="414A70"/>
          </a:solidFill>
          <a:ln/>
        </p:spPr>
      </p:sp>
      <p:pic>
        <p:nvPicPr>
          <p:cNvPr id="18" name="Image 3" descr="preencoded.png">    </p:cNvPr>
          <p:cNvPicPr>
            <a:picLocks noChangeAspect="1"/>
          </p:cNvPicPr>
          <p:nvPr/>
        </p:nvPicPr>
        <p:blipFill>
          <a:blip r:embed="rId4"/>
          <a:stretch>
            <a:fillRect/>
          </a:stretch>
        </p:blipFill>
        <p:spPr>
          <a:xfrm>
            <a:off x="1235512" y="4649272"/>
            <a:ext cx="5373886" cy="872371"/>
          </a:xfrm>
          <a:prstGeom prst="rect">
            <a:avLst/>
          </a:prstGeom>
        </p:spPr>
      </p:pic>
      <p:sp>
        <p:nvSpPr>
          <p:cNvPr id="19" name="Text 13"/>
          <p:cNvSpPr/>
          <p:nvPr/>
        </p:nvSpPr>
        <p:spPr>
          <a:xfrm>
            <a:off x="3864531" y="4933950"/>
            <a:ext cx="115729" cy="302895"/>
          </a:xfrm>
          <a:prstGeom prst="rect">
            <a:avLst/>
          </a:prstGeom>
          <a:noFill/>
          <a:ln/>
        </p:spPr>
        <p:txBody>
          <a:bodyPr wrap="none" lIns="0" tIns="0" rIns="0" bIns="0" rtlCol="0" anchor="t"/>
          <a:lstStyle/>
          <a:p>
            <a:pPr algn="ctr" indent="0" marL="0">
              <a:lnSpc>
                <a:spcPts val="2350"/>
              </a:lnSpc>
              <a:buNone/>
            </a:pPr>
            <a:r>
              <a:rPr lang="en-US" sz="1450" dirty="0">
                <a:solidFill>
                  <a:srgbClr val="EBECEF"/>
                </a:solidFill>
                <a:latin typeface="Fraunces Medium" pitchFamily="34" charset="0"/>
                <a:ea typeface="Fraunces Medium" pitchFamily="34" charset="-122"/>
                <a:cs typeface="Fraunces Medium" pitchFamily="34" charset="-120"/>
              </a:rPr>
              <a:t>4</a:t>
            </a:r>
            <a:endParaRPr lang="en-US" sz="1450" dirty="0"/>
          </a:p>
        </p:txBody>
      </p:sp>
      <p:sp>
        <p:nvSpPr>
          <p:cNvPr id="20" name="Text 14"/>
          <p:cNvSpPr/>
          <p:nvPr/>
        </p:nvSpPr>
        <p:spPr>
          <a:xfrm>
            <a:off x="6760726" y="4800600"/>
            <a:ext cx="1892975" cy="236577"/>
          </a:xfrm>
          <a:prstGeom prst="rect">
            <a:avLst/>
          </a:prstGeom>
          <a:noFill/>
          <a:ln/>
        </p:spPr>
        <p:txBody>
          <a:bodyPr wrap="none" lIns="0" tIns="0" rIns="0" bIns="0" rtlCol="0" anchor="t"/>
          <a:lstStyle/>
          <a:p>
            <a:pPr algn="l" indent="0" marL="0">
              <a:lnSpc>
                <a:spcPts val="1850"/>
              </a:lnSpc>
              <a:buNone/>
            </a:pPr>
            <a:r>
              <a:rPr lang="en-US" sz="1450" dirty="0">
                <a:solidFill>
                  <a:srgbClr val="EBECEF"/>
                </a:solidFill>
                <a:latin typeface="Fraunces Medium" pitchFamily="34" charset="0"/>
                <a:ea typeface="Fraunces Medium" pitchFamily="34" charset="-122"/>
                <a:cs typeface="Fraunces Medium" pitchFamily="34" charset="-120"/>
              </a:rPr>
              <a:t>Validación y Pruebas</a:t>
            </a:r>
            <a:endParaRPr lang="en-US" sz="1450" dirty="0"/>
          </a:p>
        </p:txBody>
      </p:sp>
      <p:sp>
        <p:nvSpPr>
          <p:cNvPr id="21" name="Text 15"/>
          <p:cNvSpPr/>
          <p:nvPr/>
        </p:nvSpPr>
        <p:spPr>
          <a:xfrm>
            <a:off x="6760726" y="5128022"/>
            <a:ext cx="6346984" cy="242292"/>
          </a:xfrm>
          <a:prstGeom prst="rect">
            <a:avLst/>
          </a:prstGeom>
          <a:noFill/>
          <a:ln/>
        </p:spPr>
        <p:txBody>
          <a:bodyPr wrap="none" lIns="0" tIns="0" rIns="0" bIns="0" rtlCol="0" anchor="t"/>
          <a:lstStyle/>
          <a:p>
            <a:pPr algn="l" indent="0" marL="0">
              <a:lnSpc>
                <a:spcPts val="1900"/>
              </a:lnSpc>
              <a:buNone/>
            </a:pPr>
            <a:r>
              <a:rPr lang="en-US" sz="1150" dirty="0">
                <a:solidFill>
                  <a:srgbClr val="EBECEF"/>
                </a:solidFill>
                <a:latin typeface="Epilogue" pitchFamily="34" charset="0"/>
                <a:ea typeface="Epilogue" pitchFamily="34" charset="-122"/>
                <a:cs typeface="Epilogue" pitchFamily="34" charset="-120"/>
              </a:rPr>
              <a:t>Verificar la integridad de los datos recuperados y validar el correcto funcionamiento.</a:t>
            </a:r>
            <a:endParaRPr lang="en-US" sz="1150" dirty="0"/>
          </a:p>
        </p:txBody>
      </p:sp>
      <p:sp>
        <p:nvSpPr>
          <p:cNvPr id="22" name="Shape 16"/>
          <p:cNvSpPr/>
          <p:nvPr/>
        </p:nvSpPr>
        <p:spPr>
          <a:xfrm>
            <a:off x="6647140" y="5536644"/>
            <a:ext cx="7415570" cy="7620"/>
          </a:xfrm>
          <a:prstGeom prst="roundRect">
            <a:avLst>
              <a:gd name="adj" fmla="val 834739"/>
            </a:avLst>
          </a:prstGeom>
          <a:solidFill>
            <a:srgbClr val="414A70"/>
          </a:solidFill>
          <a:ln/>
        </p:spPr>
      </p:sp>
      <p:pic>
        <p:nvPicPr>
          <p:cNvPr id="23" name="Image 4" descr="preencoded.png">    </p:cNvPr>
          <p:cNvPicPr>
            <a:picLocks noChangeAspect="1"/>
          </p:cNvPicPr>
          <p:nvPr/>
        </p:nvPicPr>
        <p:blipFill>
          <a:blip r:embed="rId5"/>
          <a:stretch>
            <a:fillRect/>
          </a:stretch>
        </p:blipFill>
        <p:spPr>
          <a:xfrm>
            <a:off x="563761" y="5559385"/>
            <a:ext cx="6717387" cy="872371"/>
          </a:xfrm>
          <a:prstGeom prst="rect">
            <a:avLst/>
          </a:prstGeom>
        </p:spPr>
      </p:pic>
      <p:sp>
        <p:nvSpPr>
          <p:cNvPr id="24" name="Text 17"/>
          <p:cNvSpPr/>
          <p:nvPr/>
        </p:nvSpPr>
        <p:spPr>
          <a:xfrm>
            <a:off x="3867864" y="5844064"/>
            <a:ext cx="109061" cy="302895"/>
          </a:xfrm>
          <a:prstGeom prst="rect">
            <a:avLst/>
          </a:prstGeom>
          <a:noFill/>
          <a:ln/>
        </p:spPr>
        <p:txBody>
          <a:bodyPr wrap="none" lIns="0" tIns="0" rIns="0" bIns="0" rtlCol="0" anchor="t"/>
          <a:lstStyle/>
          <a:p>
            <a:pPr algn="ctr" indent="0" marL="0">
              <a:lnSpc>
                <a:spcPts val="2350"/>
              </a:lnSpc>
              <a:buNone/>
            </a:pPr>
            <a:r>
              <a:rPr lang="en-US" sz="1450" dirty="0">
                <a:solidFill>
                  <a:srgbClr val="EBECEF"/>
                </a:solidFill>
                <a:latin typeface="Fraunces Medium" pitchFamily="34" charset="0"/>
                <a:ea typeface="Fraunces Medium" pitchFamily="34" charset="-122"/>
                <a:cs typeface="Fraunces Medium" pitchFamily="34" charset="-120"/>
              </a:rPr>
              <a:t>5</a:t>
            </a:r>
            <a:endParaRPr lang="en-US" sz="1450" dirty="0"/>
          </a:p>
        </p:txBody>
      </p:sp>
      <p:sp>
        <p:nvSpPr>
          <p:cNvPr id="25" name="Text 18"/>
          <p:cNvSpPr/>
          <p:nvPr/>
        </p:nvSpPr>
        <p:spPr>
          <a:xfrm>
            <a:off x="7432477" y="5710714"/>
            <a:ext cx="1980009" cy="236577"/>
          </a:xfrm>
          <a:prstGeom prst="rect">
            <a:avLst/>
          </a:prstGeom>
          <a:noFill/>
          <a:ln/>
        </p:spPr>
        <p:txBody>
          <a:bodyPr wrap="none" lIns="0" tIns="0" rIns="0" bIns="0" rtlCol="0" anchor="t"/>
          <a:lstStyle/>
          <a:p>
            <a:pPr algn="l" indent="0" marL="0">
              <a:lnSpc>
                <a:spcPts val="1850"/>
              </a:lnSpc>
              <a:buNone/>
            </a:pPr>
            <a:r>
              <a:rPr lang="en-US" sz="1450" dirty="0">
                <a:solidFill>
                  <a:srgbClr val="EBECEF"/>
                </a:solidFill>
                <a:latin typeface="Fraunces Medium" pitchFamily="34" charset="0"/>
                <a:ea typeface="Fraunces Medium" pitchFamily="34" charset="-122"/>
                <a:cs typeface="Fraunces Medium" pitchFamily="34" charset="-120"/>
              </a:rPr>
              <a:t>Lecciones Aprendidas</a:t>
            </a:r>
            <a:endParaRPr lang="en-US" sz="1450" dirty="0"/>
          </a:p>
        </p:txBody>
      </p:sp>
      <p:sp>
        <p:nvSpPr>
          <p:cNvPr id="26" name="Text 19"/>
          <p:cNvSpPr/>
          <p:nvPr/>
        </p:nvSpPr>
        <p:spPr>
          <a:xfrm>
            <a:off x="7432477" y="6038136"/>
            <a:ext cx="6321266" cy="242292"/>
          </a:xfrm>
          <a:prstGeom prst="rect">
            <a:avLst/>
          </a:prstGeom>
          <a:noFill/>
          <a:ln/>
        </p:spPr>
        <p:txBody>
          <a:bodyPr wrap="none" lIns="0" tIns="0" rIns="0" bIns="0" rtlCol="0" anchor="t"/>
          <a:lstStyle/>
          <a:p>
            <a:pPr algn="l" indent="0" marL="0">
              <a:lnSpc>
                <a:spcPts val="1900"/>
              </a:lnSpc>
              <a:buNone/>
            </a:pPr>
            <a:r>
              <a:rPr lang="en-US" sz="1150" dirty="0">
                <a:solidFill>
                  <a:srgbClr val="EBECEF"/>
                </a:solidFill>
                <a:latin typeface="Epilogue" pitchFamily="34" charset="0"/>
                <a:ea typeface="Epilogue" pitchFamily="34" charset="-122"/>
                <a:cs typeface="Epilogue" pitchFamily="34" charset="-120"/>
              </a:rPr>
              <a:t>Documentar el proceso y mejorar el plan de recuperación para futuras emergencias.</a:t>
            </a:r>
            <a:endParaRPr lang="en-US" sz="1150" dirty="0"/>
          </a:p>
        </p:txBody>
      </p:sp>
      <p:sp>
        <p:nvSpPr>
          <p:cNvPr id="27" name="Text 20"/>
          <p:cNvSpPr/>
          <p:nvPr/>
        </p:nvSpPr>
        <p:spPr>
          <a:xfrm>
            <a:off x="529947" y="6602016"/>
            <a:ext cx="13570506" cy="484584"/>
          </a:xfrm>
          <a:prstGeom prst="rect">
            <a:avLst/>
          </a:prstGeom>
          <a:noFill/>
          <a:ln/>
        </p:spPr>
        <p:txBody>
          <a:bodyPr wrap="square" lIns="0" tIns="0" rIns="0" bIns="0" rtlCol="0" anchor="t"/>
          <a:lstStyle/>
          <a:p>
            <a:pPr indent="0" marL="0">
              <a:lnSpc>
                <a:spcPts val="1900"/>
              </a:lnSpc>
              <a:buNone/>
            </a:pPr>
            <a:r>
              <a:rPr lang="en-US" sz="1150" dirty="0">
                <a:solidFill>
                  <a:srgbClr val="EBECEF"/>
                </a:solidFill>
                <a:latin typeface="Epilogue" pitchFamily="34" charset="0"/>
                <a:ea typeface="Epilogue" pitchFamily="34" charset="-122"/>
                <a:cs typeface="Epilogue" pitchFamily="34" charset="-120"/>
              </a:rPr>
              <a:t>En este caso práctico, analizaremos un escenario de fallo en la base de datos y cómo llevar a cabo un proceso de recuperación efectivo. Desde la identificación del problema hasta la validación final de los datos, cada paso será crucial para restaurar la integridad de la información y minimizar el impacto en las operaciones.</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9402128" y="2561630"/>
            <a:ext cx="4970145" cy="3106341"/>
          </a:xfrm>
          <a:prstGeom prst="rect">
            <a:avLst/>
          </a:prstGeom>
        </p:spPr>
      </p:pic>
      <p:sp>
        <p:nvSpPr>
          <p:cNvPr id="4" name="Text 0"/>
          <p:cNvSpPr/>
          <p:nvPr/>
        </p:nvSpPr>
        <p:spPr>
          <a:xfrm>
            <a:off x="722948" y="848558"/>
            <a:ext cx="5189577" cy="645557"/>
          </a:xfrm>
          <a:prstGeom prst="rect">
            <a:avLst/>
          </a:prstGeom>
          <a:noFill/>
          <a:ln/>
        </p:spPr>
        <p:txBody>
          <a:bodyPr wrap="none" lIns="0" tIns="0" rIns="0" bIns="0" rtlCol="0" anchor="t"/>
          <a:lstStyle/>
          <a:p>
            <a:pPr indent="0" marL="0">
              <a:lnSpc>
                <a:spcPts val="5050"/>
              </a:lnSpc>
              <a:buNone/>
            </a:pPr>
            <a:r>
              <a:rPr lang="en-US" sz="4050" dirty="0">
                <a:solidFill>
                  <a:srgbClr val="FFFFFF"/>
                </a:solidFill>
                <a:latin typeface="Fraunces Medium" pitchFamily="34" charset="0"/>
                <a:ea typeface="Fraunces Medium" pitchFamily="34" charset="-122"/>
                <a:cs typeface="Fraunces Medium" pitchFamily="34" charset="-120"/>
              </a:rPr>
              <a:t>Objetivos del Módulo</a:t>
            </a:r>
            <a:endParaRPr lang="en-US" sz="4050" dirty="0"/>
          </a:p>
        </p:txBody>
      </p:sp>
      <p:sp>
        <p:nvSpPr>
          <p:cNvPr id="5" name="Shape 1"/>
          <p:cNvSpPr/>
          <p:nvPr/>
        </p:nvSpPr>
        <p:spPr>
          <a:xfrm>
            <a:off x="722948" y="1803916"/>
            <a:ext cx="3745825" cy="2850475"/>
          </a:xfrm>
          <a:prstGeom prst="roundRect">
            <a:avLst>
              <a:gd name="adj" fmla="val 3044"/>
            </a:avLst>
          </a:prstGeom>
          <a:solidFill>
            <a:srgbClr val="283157"/>
          </a:solidFill>
          <a:ln w="7620">
            <a:solidFill>
              <a:srgbClr val="414A70"/>
            </a:solidFill>
            <a:prstDash val="solid"/>
          </a:ln>
        </p:spPr>
      </p:sp>
      <p:sp>
        <p:nvSpPr>
          <p:cNvPr id="6" name="Text 2"/>
          <p:cNvSpPr/>
          <p:nvPr/>
        </p:nvSpPr>
        <p:spPr>
          <a:xfrm>
            <a:off x="937141" y="2018109"/>
            <a:ext cx="3317438" cy="645557"/>
          </a:xfrm>
          <a:prstGeom prst="rect">
            <a:avLst/>
          </a:prstGeom>
          <a:noFill/>
          <a:ln/>
        </p:spPr>
        <p:txBody>
          <a:bodyPr wrap="square" lIns="0" tIns="0" rIns="0" bIns="0" rtlCol="0" anchor="t"/>
          <a:lstStyle/>
          <a:p>
            <a:pPr indent="0" marL="0">
              <a:lnSpc>
                <a:spcPts val="2500"/>
              </a:lnSpc>
              <a:buNone/>
            </a:pPr>
            <a:r>
              <a:rPr lang="en-US" sz="2000" dirty="0">
                <a:solidFill>
                  <a:srgbClr val="EBECEF"/>
                </a:solidFill>
                <a:latin typeface="Fraunces Medium" pitchFamily="34" charset="0"/>
                <a:ea typeface="Fraunces Medium" pitchFamily="34" charset="-122"/>
                <a:cs typeface="Fraunces Medium" pitchFamily="34" charset="-120"/>
              </a:rPr>
              <a:t>Comprender Estrategias de Recuperación</a:t>
            </a:r>
            <a:endParaRPr lang="en-US" sz="2000" dirty="0"/>
          </a:p>
        </p:txBody>
      </p:sp>
      <p:sp>
        <p:nvSpPr>
          <p:cNvPr id="7" name="Text 3"/>
          <p:cNvSpPr/>
          <p:nvPr/>
        </p:nvSpPr>
        <p:spPr>
          <a:xfrm>
            <a:off x="937141" y="2787610"/>
            <a:ext cx="3317438" cy="1652588"/>
          </a:xfrm>
          <a:prstGeom prst="rect">
            <a:avLst/>
          </a:prstGeom>
          <a:noFill/>
          <a:ln/>
        </p:spPr>
        <p:txBody>
          <a:bodyPr wrap="square" lIns="0" tIns="0" rIns="0" bIns="0" rtlCol="0" anchor="t"/>
          <a:lstStyle/>
          <a:p>
            <a:pPr indent="0" marL="0">
              <a:lnSpc>
                <a:spcPts val="2600"/>
              </a:lnSpc>
              <a:buNone/>
            </a:pPr>
            <a:r>
              <a:rPr lang="en-US" sz="1600" dirty="0">
                <a:solidFill>
                  <a:srgbClr val="EBECEF"/>
                </a:solidFill>
                <a:latin typeface="Epilogue" pitchFamily="34" charset="0"/>
                <a:ea typeface="Epilogue" pitchFamily="34" charset="-122"/>
                <a:cs typeface="Epilogue" pitchFamily="34" charset="-120"/>
              </a:rPr>
              <a:t>Aprender y dominar las diferentes estrategias y técnicas para recuperar datos en caso de pérdida o fallo del sistema.</a:t>
            </a:r>
            <a:endParaRPr lang="en-US" sz="1600" dirty="0"/>
          </a:p>
        </p:txBody>
      </p:sp>
      <p:sp>
        <p:nvSpPr>
          <p:cNvPr id="8" name="Shape 4"/>
          <p:cNvSpPr/>
          <p:nvPr/>
        </p:nvSpPr>
        <p:spPr>
          <a:xfrm>
            <a:off x="4675346" y="1803916"/>
            <a:ext cx="3745825" cy="2850475"/>
          </a:xfrm>
          <a:prstGeom prst="roundRect">
            <a:avLst>
              <a:gd name="adj" fmla="val 3044"/>
            </a:avLst>
          </a:prstGeom>
          <a:solidFill>
            <a:srgbClr val="283157"/>
          </a:solidFill>
          <a:ln w="7620">
            <a:solidFill>
              <a:srgbClr val="414A70"/>
            </a:solidFill>
            <a:prstDash val="solid"/>
          </a:ln>
        </p:spPr>
      </p:sp>
      <p:sp>
        <p:nvSpPr>
          <p:cNvPr id="9" name="Text 5"/>
          <p:cNvSpPr/>
          <p:nvPr/>
        </p:nvSpPr>
        <p:spPr>
          <a:xfrm>
            <a:off x="4889540" y="2018109"/>
            <a:ext cx="3317438" cy="645557"/>
          </a:xfrm>
          <a:prstGeom prst="rect">
            <a:avLst/>
          </a:prstGeom>
          <a:noFill/>
          <a:ln/>
        </p:spPr>
        <p:txBody>
          <a:bodyPr wrap="square" lIns="0" tIns="0" rIns="0" bIns="0" rtlCol="0" anchor="t"/>
          <a:lstStyle/>
          <a:p>
            <a:pPr indent="0" marL="0">
              <a:lnSpc>
                <a:spcPts val="2500"/>
              </a:lnSpc>
              <a:buNone/>
            </a:pPr>
            <a:r>
              <a:rPr lang="en-US" sz="2000" dirty="0">
                <a:solidFill>
                  <a:srgbClr val="EBECEF"/>
                </a:solidFill>
                <a:latin typeface="Fraunces Medium" pitchFamily="34" charset="0"/>
                <a:ea typeface="Fraunces Medium" pitchFamily="34" charset="-122"/>
                <a:cs typeface="Fraunces Medium" pitchFamily="34" charset="-120"/>
              </a:rPr>
              <a:t>Implementar Planes con Respaldos</a:t>
            </a:r>
            <a:endParaRPr lang="en-US" sz="2000" dirty="0"/>
          </a:p>
        </p:txBody>
      </p:sp>
      <p:sp>
        <p:nvSpPr>
          <p:cNvPr id="10" name="Text 6"/>
          <p:cNvSpPr/>
          <p:nvPr/>
        </p:nvSpPr>
        <p:spPr>
          <a:xfrm>
            <a:off x="4889540" y="2787610"/>
            <a:ext cx="3317438" cy="1652588"/>
          </a:xfrm>
          <a:prstGeom prst="rect">
            <a:avLst/>
          </a:prstGeom>
          <a:noFill/>
          <a:ln/>
        </p:spPr>
        <p:txBody>
          <a:bodyPr wrap="square" lIns="0" tIns="0" rIns="0" bIns="0" rtlCol="0" anchor="t"/>
          <a:lstStyle/>
          <a:p>
            <a:pPr indent="0" marL="0">
              <a:lnSpc>
                <a:spcPts val="2600"/>
              </a:lnSpc>
              <a:buNone/>
            </a:pPr>
            <a:r>
              <a:rPr lang="en-US" sz="1600" dirty="0">
                <a:solidFill>
                  <a:srgbClr val="EBECEF"/>
                </a:solidFill>
                <a:latin typeface="Epilogue" pitchFamily="34" charset="0"/>
                <a:ea typeface="Epilogue" pitchFamily="34" charset="-122"/>
                <a:cs typeface="Epilogue" pitchFamily="34" charset="-120"/>
              </a:rPr>
              <a:t>Diseñar e implementar planes de respaldo completos, incrementales y diferenciales para garantizar la seguridad de los datos.</a:t>
            </a:r>
            <a:endParaRPr lang="en-US" sz="1600" dirty="0"/>
          </a:p>
        </p:txBody>
      </p:sp>
      <p:sp>
        <p:nvSpPr>
          <p:cNvPr id="11" name="Shape 7"/>
          <p:cNvSpPr/>
          <p:nvPr/>
        </p:nvSpPr>
        <p:spPr>
          <a:xfrm>
            <a:off x="722948" y="4860965"/>
            <a:ext cx="3745825" cy="2519958"/>
          </a:xfrm>
          <a:prstGeom prst="roundRect">
            <a:avLst>
              <a:gd name="adj" fmla="val 3443"/>
            </a:avLst>
          </a:prstGeom>
          <a:solidFill>
            <a:srgbClr val="283157"/>
          </a:solidFill>
          <a:ln w="7620">
            <a:solidFill>
              <a:srgbClr val="414A70"/>
            </a:solidFill>
            <a:prstDash val="solid"/>
          </a:ln>
        </p:spPr>
      </p:sp>
      <p:sp>
        <p:nvSpPr>
          <p:cNvPr id="12" name="Text 8"/>
          <p:cNvSpPr/>
          <p:nvPr/>
        </p:nvSpPr>
        <p:spPr>
          <a:xfrm>
            <a:off x="937141" y="5075158"/>
            <a:ext cx="3317438" cy="645557"/>
          </a:xfrm>
          <a:prstGeom prst="rect">
            <a:avLst/>
          </a:prstGeom>
          <a:noFill/>
          <a:ln/>
        </p:spPr>
        <p:txBody>
          <a:bodyPr wrap="square" lIns="0" tIns="0" rIns="0" bIns="0" rtlCol="0" anchor="t"/>
          <a:lstStyle/>
          <a:p>
            <a:pPr indent="0" marL="0">
              <a:lnSpc>
                <a:spcPts val="2500"/>
              </a:lnSpc>
              <a:buNone/>
            </a:pPr>
            <a:r>
              <a:rPr lang="en-US" sz="2000" dirty="0">
                <a:solidFill>
                  <a:srgbClr val="EBECEF"/>
                </a:solidFill>
                <a:latin typeface="Fraunces Medium" pitchFamily="34" charset="0"/>
                <a:ea typeface="Fraunces Medium" pitchFamily="34" charset="-122"/>
                <a:cs typeface="Fraunces Medium" pitchFamily="34" charset="-120"/>
              </a:rPr>
              <a:t>Utilizar Herramientas Avanzadas</a:t>
            </a:r>
            <a:endParaRPr lang="en-US" sz="2000" dirty="0"/>
          </a:p>
        </p:txBody>
      </p:sp>
      <p:sp>
        <p:nvSpPr>
          <p:cNvPr id="13" name="Text 9"/>
          <p:cNvSpPr/>
          <p:nvPr/>
        </p:nvSpPr>
        <p:spPr>
          <a:xfrm>
            <a:off x="937141" y="5844659"/>
            <a:ext cx="3317438" cy="1322070"/>
          </a:xfrm>
          <a:prstGeom prst="rect">
            <a:avLst/>
          </a:prstGeom>
          <a:noFill/>
          <a:ln/>
        </p:spPr>
        <p:txBody>
          <a:bodyPr wrap="square" lIns="0" tIns="0" rIns="0" bIns="0" rtlCol="0" anchor="t"/>
          <a:lstStyle/>
          <a:p>
            <a:pPr indent="0" marL="0">
              <a:lnSpc>
                <a:spcPts val="2600"/>
              </a:lnSpc>
              <a:buNone/>
            </a:pPr>
            <a:r>
              <a:rPr lang="en-US" sz="1600" dirty="0">
                <a:solidFill>
                  <a:srgbClr val="EBECEF"/>
                </a:solidFill>
                <a:latin typeface="Epilogue" pitchFamily="34" charset="0"/>
                <a:ea typeface="Epilogue" pitchFamily="34" charset="-122"/>
                <a:cs typeface="Epilogue" pitchFamily="34" charset="-120"/>
              </a:rPr>
              <a:t>Conocer y aplicar herramientas especializadas en recuperación de datos y simulación de escenarios de fallo.</a:t>
            </a:r>
            <a:endParaRPr lang="en-US" sz="1600" dirty="0"/>
          </a:p>
        </p:txBody>
      </p:sp>
      <p:sp>
        <p:nvSpPr>
          <p:cNvPr id="14" name="Shape 10"/>
          <p:cNvSpPr/>
          <p:nvPr/>
        </p:nvSpPr>
        <p:spPr>
          <a:xfrm>
            <a:off x="4675346" y="4860965"/>
            <a:ext cx="3745825" cy="2519958"/>
          </a:xfrm>
          <a:prstGeom prst="roundRect">
            <a:avLst>
              <a:gd name="adj" fmla="val 3443"/>
            </a:avLst>
          </a:prstGeom>
          <a:solidFill>
            <a:srgbClr val="283157"/>
          </a:solidFill>
          <a:ln w="7620">
            <a:solidFill>
              <a:srgbClr val="414A70"/>
            </a:solidFill>
            <a:prstDash val="solid"/>
          </a:ln>
        </p:spPr>
      </p:sp>
      <p:sp>
        <p:nvSpPr>
          <p:cNvPr id="15" name="Text 11"/>
          <p:cNvSpPr/>
          <p:nvPr/>
        </p:nvSpPr>
        <p:spPr>
          <a:xfrm>
            <a:off x="4889540" y="5075158"/>
            <a:ext cx="3317438" cy="645557"/>
          </a:xfrm>
          <a:prstGeom prst="rect">
            <a:avLst/>
          </a:prstGeom>
          <a:noFill/>
          <a:ln/>
        </p:spPr>
        <p:txBody>
          <a:bodyPr wrap="square" lIns="0" tIns="0" rIns="0" bIns="0" rtlCol="0" anchor="t"/>
          <a:lstStyle/>
          <a:p>
            <a:pPr indent="0" marL="0">
              <a:lnSpc>
                <a:spcPts val="2500"/>
              </a:lnSpc>
              <a:buNone/>
            </a:pPr>
            <a:r>
              <a:rPr lang="en-US" sz="2000" dirty="0">
                <a:solidFill>
                  <a:srgbClr val="EBECEF"/>
                </a:solidFill>
                <a:latin typeface="Fraunces Medium" pitchFamily="34" charset="0"/>
                <a:ea typeface="Fraunces Medium" pitchFamily="34" charset="-122"/>
                <a:cs typeface="Fraunces Medium" pitchFamily="34" charset="-120"/>
              </a:rPr>
              <a:t>Aplicar Conocimientos en Escenarios Reales</a:t>
            </a:r>
            <a:endParaRPr lang="en-US" sz="2000" dirty="0"/>
          </a:p>
        </p:txBody>
      </p:sp>
      <p:sp>
        <p:nvSpPr>
          <p:cNvPr id="16" name="Text 12"/>
          <p:cNvSpPr/>
          <p:nvPr/>
        </p:nvSpPr>
        <p:spPr>
          <a:xfrm>
            <a:off x="4889540" y="5844659"/>
            <a:ext cx="3317438" cy="1322070"/>
          </a:xfrm>
          <a:prstGeom prst="rect">
            <a:avLst/>
          </a:prstGeom>
          <a:noFill/>
          <a:ln/>
        </p:spPr>
        <p:txBody>
          <a:bodyPr wrap="square" lIns="0" tIns="0" rIns="0" bIns="0" rtlCol="0" anchor="t"/>
          <a:lstStyle/>
          <a:p>
            <a:pPr indent="0" marL="0">
              <a:lnSpc>
                <a:spcPts val="2600"/>
              </a:lnSpc>
              <a:buNone/>
            </a:pPr>
            <a:r>
              <a:rPr lang="en-US" sz="1600" dirty="0">
                <a:solidFill>
                  <a:srgbClr val="EBECEF"/>
                </a:solidFill>
                <a:latin typeface="Epilogue" pitchFamily="34" charset="0"/>
                <a:ea typeface="Epilogue" pitchFamily="34" charset="-122"/>
                <a:cs typeface="Epilogue" pitchFamily="34" charset="-120"/>
              </a:rPr>
              <a:t>Poner en práctica lo aprendido en un caso práctico de recuperación de datos tras un fallo del sistema.</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466142"/>
          </a:xfrm>
          <a:prstGeom prst="rect">
            <a:avLst/>
          </a:prstGeom>
        </p:spPr>
      </p:pic>
      <p:pic>
        <p:nvPicPr>
          <p:cNvPr id="3" name="Image 1" descr="preencoded.png">    </p:cNvPr>
          <p:cNvPicPr>
            <a:picLocks noChangeAspect="1"/>
          </p:cNvPicPr>
          <p:nvPr/>
        </p:nvPicPr>
        <p:blipFill>
          <a:blip r:embed="rId2"/>
          <a:stretch>
            <a:fillRect/>
          </a:stretch>
        </p:blipFill>
        <p:spPr>
          <a:xfrm>
            <a:off x="5773817" y="246578"/>
            <a:ext cx="3082766" cy="1972985"/>
          </a:xfrm>
          <a:prstGeom prst="rect">
            <a:avLst/>
          </a:prstGeom>
        </p:spPr>
      </p:pic>
      <p:sp>
        <p:nvSpPr>
          <p:cNvPr id="4" name="Text 0"/>
          <p:cNvSpPr/>
          <p:nvPr/>
        </p:nvSpPr>
        <p:spPr>
          <a:xfrm>
            <a:off x="690443" y="3009781"/>
            <a:ext cx="9770269" cy="616506"/>
          </a:xfrm>
          <a:prstGeom prst="rect">
            <a:avLst/>
          </a:prstGeom>
          <a:noFill/>
          <a:ln/>
        </p:spPr>
        <p:txBody>
          <a:bodyPr wrap="none" lIns="0" tIns="0" rIns="0" bIns="0" rtlCol="0" anchor="t"/>
          <a:lstStyle/>
          <a:p>
            <a:pPr indent="0" marL="0">
              <a:lnSpc>
                <a:spcPts val="4850"/>
              </a:lnSpc>
              <a:buNone/>
            </a:pPr>
            <a:r>
              <a:rPr lang="en-US" sz="3850" dirty="0">
                <a:solidFill>
                  <a:srgbClr val="FFFFFF"/>
                </a:solidFill>
                <a:latin typeface="Fraunces Medium" pitchFamily="34" charset="0"/>
                <a:ea typeface="Fraunces Medium" pitchFamily="34" charset="-122"/>
                <a:cs typeface="Fraunces Medium" pitchFamily="34" charset="-120"/>
              </a:rPr>
              <a:t>Comprender Estrategias de Recuperación</a:t>
            </a:r>
            <a:endParaRPr lang="en-US" sz="3850" dirty="0"/>
          </a:p>
        </p:txBody>
      </p:sp>
      <p:sp>
        <p:nvSpPr>
          <p:cNvPr id="5" name="Shape 1"/>
          <p:cNvSpPr/>
          <p:nvPr/>
        </p:nvSpPr>
        <p:spPr>
          <a:xfrm>
            <a:off x="690443" y="3922157"/>
            <a:ext cx="6526173" cy="1783199"/>
          </a:xfrm>
          <a:prstGeom prst="roundRect">
            <a:avLst>
              <a:gd name="adj" fmla="val 4647"/>
            </a:avLst>
          </a:prstGeom>
          <a:solidFill>
            <a:srgbClr val="283157"/>
          </a:solidFill>
          <a:ln w="7620">
            <a:solidFill>
              <a:srgbClr val="414A70"/>
            </a:solidFill>
            <a:prstDash val="solid"/>
          </a:ln>
        </p:spPr>
      </p:sp>
      <p:sp>
        <p:nvSpPr>
          <p:cNvPr id="6" name="Text 2"/>
          <p:cNvSpPr/>
          <p:nvPr/>
        </p:nvSpPr>
        <p:spPr>
          <a:xfrm>
            <a:off x="895350" y="4127063"/>
            <a:ext cx="2598063" cy="308134"/>
          </a:xfrm>
          <a:prstGeom prst="rect">
            <a:avLst/>
          </a:prstGeom>
          <a:noFill/>
          <a:ln/>
        </p:spPr>
        <p:txBody>
          <a:bodyPr wrap="none" lIns="0" tIns="0" rIns="0" bIns="0" rtlCol="0" anchor="t"/>
          <a:lstStyle/>
          <a:p>
            <a:pPr indent="0" marL="0">
              <a:lnSpc>
                <a:spcPts val="2400"/>
              </a:lnSpc>
              <a:buNone/>
            </a:pPr>
            <a:r>
              <a:rPr lang="en-US" sz="1900" dirty="0">
                <a:solidFill>
                  <a:srgbClr val="EBECEF"/>
                </a:solidFill>
                <a:latin typeface="Fraunces Medium" pitchFamily="34" charset="0"/>
                <a:ea typeface="Fraunces Medium" pitchFamily="34" charset="-122"/>
                <a:cs typeface="Fraunces Medium" pitchFamily="34" charset="-120"/>
              </a:rPr>
              <a:t>Evaluación de Riesgos</a:t>
            </a:r>
            <a:endParaRPr lang="en-US" sz="1900" dirty="0"/>
          </a:p>
        </p:txBody>
      </p:sp>
      <p:sp>
        <p:nvSpPr>
          <p:cNvPr id="7" name="Text 3"/>
          <p:cNvSpPr/>
          <p:nvPr/>
        </p:nvSpPr>
        <p:spPr>
          <a:xfrm>
            <a:off x="895350" y="4553545"/>
            <a:ext cx="6116360" cy="946904"/>
          </a:xfrm>
          <a:prstGeom prst="rect">
            <a:avLst/>
          </a:prstGeom>
          <a:noFill/>
          <a:ln/>
        </p:spPr>
        <p:txBody>
          <a:bodyPr wrap="square" lIns="0" tIns="0" rIns="0" bIns="0" rtlCol="0" anchor="t"/>
          <a:lstStyle/>
          <a:p>
            <a:pPr indent="0" marL="0">
              <a:lnSpc>
                <a:spcPts val="2450"/>
              </a:lnSpc>
              <a:buNone/>
            </a:pPr>
            <a:r>
              <a:rPr lang="en-US" sz="1550" dirty="0">
                <a:solidFill>
                  <a:srgbClr val="EBECEF"/>
                </a:solidFill>
                <a:latin typeface="Epilogue" pitchFamily="34" charset="0"/>
                <a:ea typeface="Epilogue" pitchFamily="34" charset="-122"/>
                <a:cs typeface="Epilogue" pitchFamily="34" charset="-120"/>
              </a:rPr>
              <a:t>Identificar los tipos de fallas más comunes y sus impactos potenciales en los datos es fundamental para diseñar estrategias de recuperación efectivas.</a:t>
            </a:r>
            <a:endParaRPr lang="en-US" sz="1550" dirty="0"/>
          </a:p>
        </p:txBody>
      </p:sp>
      <p:sp>
        <p:nvSpPr>
          <p:cNvPr id="8" name="Shape 4"/>
          <p:cNvSpPr/>
          <p:nvPr/>
        </p:nvSpPr>
        <p:spPr>
          <a:xfrm>
            <a:off x="7413903" y="3922157"/>
            <a:ext cx="6526173" cy="1783199"/>
          </a:xfrm>
          <a:prstGeom prst="roundRect">
            <a:avLst>
              <a:gd name="adj" fmla="val 4647"/>
            </a:avLst>
          </a:prstGeom>
          <a:solidFill>
            <a:srgbClr val="283157"/>
          </a:solidFill>
          <a:ln w="7620">
            <a:solidFill>
              <a:srgbClr val="414A70"/>
            </a:solidFill>
            <a:prstDash val="solid"/>
          </a:ln>
        </p:spPr>
      </p:sp>
      <p:sp>
        <p:nvSpPr>
          <p:cNvPr id="9" name="Text 5"/>
          <p:cNvSpPr/>
          <p:nvPr/>
        </p:nvSpPr>
        <p:spPr>
          <a:xfrm>
            <a:off x="7618809" y="4127063"/>
            <a:ext cx="2489002" cy="308134"/>
          </a:xfrm>
          <a:prstGeom prst="rect">
            <a:avLst/>
          </a:prstGeom>
          <a:noFill/>
          <a:ln/>
        </p:spPr>
        <p:txBody>
          <a:bodyPr wrap="none" lIns="0" tIns="0" rIns="0" bIns="0" rtlCol="0" anchor="t"/>
          <a:lstStyle/>
          <a:p>
            <a:pPr indent="0" marL="0">
              <a:lnSpc>
                <a:spcPts val="2400"/>
              </a:lnSpc>
              <a:buNone/>
            </a:pPr>
            <a:r>
              <a:rPr lang="en-US" sz="1900" dirty="0">
                <a:solidFill>
                  <a:srgbClr val="EBECEF"/>
                </a:solidFill>
                <a:latin typeface="Fraunces Medium" pitchFamily="34" charset="0"/>
                <a:ea typeface="Fraunces Medium" pitchFamily="34" charset="-122"/>
                <a:cs typeface="Fraunces Medium" pitchFamily="34" charset="-120"/>
              </a:rPr>
              <a:t>Políticas de Respaldo</a:t>
            </a:r>
            <a:endParaRPr lang="en-US" sz="1900" dirty="0"/>
          </a:p>
        </p:txBody>
      </p:sp>
      <p:sp>
        <p:nvSpPr>
          <p:cNvPr id="10" name="Text 6"/>
          <p:cNvSpPr/>
          <p:nvPr/>
        </p:nvSpPr>
        <p:spPr>
          <a:xfrm>
            <a:off x="7618809" y="4553545"/>
            <a:ext cx="6116360" cy="946904"/>
          </a:xfrm>
          <a:prstGeom prst="rect">
            <a:avLst/>
          </a:prstGeom>
          <a:noFill/>
          <a:ln/>
        </p:spPr>
        <p:txBody>
          <a:bodyPr wrap="square" lIns="0" tIns="0" rIns="0" bIns="0" rtlCol="0" anchor="t"/>
          <a:lstStyle/>
          <a:p>
            <a:pPr indent="0" marL="0">
              <a:lnSpc>
                <a:spcPts val="2450"/>
              </a:lnSpc>
              <a:buNone/>
            </a:pPr>
            <a:r>
              <a:rPr lang="en-US" sz="1550" dirty="0">
                <a:solidFill>
                  <a:srgbClr val="EBECEF"/>
                </a:solidFill>
                <a:latin typeface="Epilogue" pitchFamily="34" charset="0"/>
                <a:ea typeface="Epilogue" pitchFamily="34" charset="-122"/>
                <a:cs typeface="Epilogue" pitchFamily="34" charset="-120"/>
              </a:rPr>
              <a:t>Establecer pautas claras sobre la frecuencia, el alcance y los procedimientos de respaldo es crucial para asegurar la integridad de los datos.</a:t>
            </a:r>
            <a:endParaRPr lang="en-US" sz="1550" dirty="0"/>
          </a:p>
        </p:txBody>
      </p:sp>
      <p:sp>
        <p:nvSpPr>
          <p:cNvPr id="11" name="Shape 7"/>
          <p:cNvSpPr/>
          <p:nvPr/>
        </p:nvSpPr>
        <p:spPr>
          <a:xfrm>
            <a:off x="690443" y="5902643"/>
            <a:ext cx="6526173" cy="1783199"/>
          </a:xfrm>
          <a:prstGeom prst="roundRect">
            <a:avLst>
              <a:gd name="adj" fmla="val 4647"/>
            </a:avLst>
          </a:prstGeom>
          <a:solidFill>
            <a:srgbClr val="283157"/>
          </a:solidFill>
          <a:ln w="7620">
            <a:solidFill>
              <a:srgbClr val="414A70"/>
            </a:solidFill>
            <a:prstDash val="solid"/>
          </a:ln>
        </p:spPr>
      </p:sp>
      <p:sp>
        <p:nvSpPr>
          <p:cNvPr id="12" name="Text 8"/>
          <p:cNvSpPr/>
          <p:nvPr/>
        </p:nvSpPr>
        <p:spPr>
          <a:xfrm>
            <a:off x="895350" y="6107549"/>
            <a:ext cx="2982992" cy="308134"/>
          </a:xfrm>
          <a:prstGeom prst="rect">
            <a:avLst/>
          </a:prstGeom>
          <a:noFill/>
          <a:ln/>
        </p:spPr>
        <p:txBody>
          <a:bodyPr wrap="none" lIns="0" tIns="0" rIns="0" bIns="0" rtlCol="0" anchor="t"/>
          <a:lstStyle/>
          <a:p>
            <a:pPr indent="0" marL="0">
              <a:lnSpc>
                <a:spcPts val="2400"/>
              </a:lnSpc>
              <a:buNone/>
            </a:pPr>
            <a:r>
              <a:rPr lang="en-US" sz="1900" dirty="0">
                <a:solidFill>
                  <a:srgbClr val="EBECEF"/>
                </a:solidFill>
                <a:latin typeface="Fraunces Medium" pitchFamily="34" charset="0"/>
                <a:ea typeface="Fraunces Medium" pitchFamily="34" charset="-122"/>
                <a:cs typeface="Fraunces Medium" pitchFamily="34" charset="-120"/>
              </a:rPr>
              <a:t>Pruebas de Recuperación</a:t>
            </a:r>
            <a:endParaRPr lang="en-US" sz="1900" dirty="0"/>
          </a:p>
        </p:txBody>
      </p:sp>
      <p:sp>
        <p:nvSpPr>
          <p:cNvPr id="13" name="Text 9"/>
          <p:cNvSpPr/>
          <p:nvPr/>
        </p:nvSpPr>
        <p:spPr>
          <a:xfrm>
            <a:off x="895350" y="6534031"/>
            <a:ext cx="6116360" cy="946904"/>
          </a:xfrm>
          <a:prstGeom prst="rect">
            <a:avLst/>
          </a:prstGeom>
          <a:noFill/>
          <a:ln/>
        </p:spPr>
        <p:txBody>
          <a:bodyPr wrap="square" lIns="0" tIns="0" rIns="0" bIns="0" rtlCol="0" anchor="t"/>
          <a:lstStyle/>
          <a:p>
            <a:pPr indent="0" marL="0">
              <a:lnSpc>
                <a:spcPts val="2450"/>
              </a:lnSpc>
              <a:buNone/>
            </a:pPr>
            <a:r>
              <a:rPr lang="en-US" sz="1550" dirty="0">
                <a:solidFill>
                  <a:srgbClr val="EBECEF"/>
                </a:solidFill>
                <a:latin typeface="Epilogue" pitchFamily="34" charset="0"/>
                <a:ea typeface="Epilogue" pitchFamily="34" charset="-122"/>
                <a:cs typeface="Epilogue" pitchFamily="34" charset="-120"/>
              </a:rPr>
              <a:t>Realizar simulaciones periódicas de escenarios de falla y probar los procesos de recuperación ayuda a identificar y solucionar problemas antes de que ocurra una crisis real.</a:t>
            </a:r>
            <a:endParaRPr lang="en-US" sz="1550" dirty="0"/>
          </a:p>
        </p:txBody>
      </p:sp>
      <p:sp>
        <p:nvSpPr>
          <p:cNvPr id="14" name="Shape 10"/>
          <p:cNvSpPr/>
          <p:nvPr/>
        </p:nvSpPr>
        <p:spPr>
          <a:xfrm>
            <a:off x="7413903" y="5902643"/>
            <a:ext cx="6526173" cy="1783199"/>
          </a:xfrm>
          <a:prstGeom prst="roundRect">
            <a:avLst>
              <a:gd name="adj" fmla="val 4647"/>
            </a:avLst>
          </a:prstGeom>
          <a:solidFill>
            <a:srgbClr val="283157"/>
          </a:solidFill>
          <a:ln w="7620">
            <a:solidFill>
              <a:srgbClr val="414A70"/>
            </a:solidFill>
            <a:prstDash val="solid"/>
          </a:ln>
        </p:spPr>
      </p:sp>
      <p:sp>
        <p:nvSpPr>
          <p:cNvPr id="15" name="Text 11"/>
          <p:cNvSpPr/>
          <p:nvPr/>
        </p:nvSpPr>
        <p:spPr>
          <a:xfrm>
            <a:off x="7618809" y="6107549"/>
            <a:ext cx="3059668" cy="308134"/>
          </a:xfrm>
          <a:prstGeom prst="rect">
            <a:avLst/>
          </a:prstGeom>
          <a:noFill/>
          <a:ln/>
        </p:spPr>
        <p:txBody>
          <a:bodyPr wrap="none" lIns="0" tIns="0" rIns="0" bIns="0" rtlCol="0" anchor="t"/>
          <a:lstStyle/>
          <a:p>
            <a:pPr indent="0" marL="0">
              <a:lnSpc>
                <a:spcPts val="2400"/>
              </a:lnSpc>
              <a:buNone/>
            </a:pPr>
            <a:r>
              <a:rPr lang="en-US" sz="1900" dirty="0">
                <a:solidFill>
                  <a:srgbClr val="EBECEF"/>
                </a:solidFill>
                <a:latin typeface="Fraunces Medium" pitchFamily="34" charset="0"/>
                <a:ea typeface="Fraunces Medium" pitchFamily="34" charset="-122"/>
                <a:cs typeface="Fraunces Medium" pitchFamily="34" charset="-120"/>
              </a:rPr>
              <a:t>Documentación Detallada</a:t>
            </a:r>
            <a:endParaRPr lang="en-US" sz="1900" dirty="0"/>
          </a:p>
        </p:txBody>
      </p:sp>
      <p:sp>
        <p:nvSpPr>
          <p:cNvPr id="16" name="Text 12"/>
          <p:cNvSpPr/>
          <p:nvPr/>
        </p:nvSpPr>
        <p:spPr>
          <a:xfrm>
            <a:off x="7618809" y="6534031"/>
            <a:ext cx="6116360" cy="946904"/>
          </a:xfrm>
          <a:prstGeom prst="rect">
            <a:avLst/>
          </a:prstGeom>
          <a:noFill/>
          <a:ln/>
        </p:spPr>
        <p:txBody>
          <a:bodyPr wrap="square" lIns="0" tIns="0" rIns="0" bIns="0" rtlCol="0" anchor="t"/>
          <a:lstStyle/>
          <a:p>
            <a:pPr indent="0" marL="0">
              <a:lnSpc>
                <a:spcPts val="2450"/>
              </a:lnSpc>
              <a:buNone/>
            </a:pPr>
            <a:r>
              <a:rPr lang="en-US" sz="1550" dirty="0">
                <a:solidFill>
                  <a:srgbClr val="EBECEF"/>
                </a:solidFill>
                <a:latin typeface="Epilogue" pitchFamily="34" charset="0"/>
                <a:ea typeface="Epilogue" pitchFamily="34" charset="-122"/>
                <a:cs typeface="Epilogue" pitchFamily="34" charset="-120"/>
              </a:rPr>
              <a:t>Mantener registros precisos de los procedimientos, los cronogramas y los resultados de los respaldos y las recuperaciones facilita la resolución de problemas.</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251936" y="2501622"/>
            <a:ext cx="4982528" cy="3226237"/>
          </a:xfrm>
          <a:prstGeom prst="rect">
            <a:avLst/>
          </a:prstGeom>
        </p:spPr>
      </p:pic>
      <p:sp>
        <p:nvSpPr>
          <p:cNvPr id="4" name="Text 0"/>
          <p:cNvSpPr/>
          <p:nvPr/>
        </p:nvSpPr>
        <p:spPr>
          <a:xfrm>
            <a:off x="6191726" y="600908"/>
            <a:ext cx="7733348" cy="1259681"/>
          </a:xfrm>
          <a:prstGeom prst="rect">
            <a:avLst/>
          </a:prstGeom>
          <a:noFill/>
          <a:ln/>
        </p:spPr>
        <p:txBody>
          <a:bodyPr wrap="square" lIns="0" tIns="0" rIns="0" bIns="0" rtlCol="0" anchor="t"/>
          <a:lstStyle/>
          <a:p>
            <a:pPr indent="0" marL="0">
              <a:lnSpc>
                <a:spcPts val="4950"/>
              </a:lnSpc>
              <a:buNone/>
            </a:pPr>
            <a:r>
              <a:rPr lang="en-US" sz="3950" dirty="0">
                <a:solidFill>
                  <a:srgbClr val="FFFFFF"/>
                </a:solidFill>
                <a:latin typeface="Fraunces Medium" pitchFamily="34" charset="0"/>
                <a:ea typeface="Fraunces Medium" pitchFamily="34" charset="-122"/>
                <a:cs typeface="Fraunces Medium" pitchFamily="34" charset="-120"/>
              </a:rPr>
              <a:t>Implementar Planes con Respaldos</a:t>
            </a:r>
            <a:endParaRPr lang="en-US" sz="3950" dirty="0"/>
          </a:p>
        </p:txBody>
      </p:sp>
      <p:pic>
        <p:nvPicPr>
          <p:cNvPr id="5" name="Image 2" descr="preencoded.png">    </p:cNvPr>
          <p:cNvPicPr>
            <a:picLocks noChangeAspect="1"/>
          </p:cNvPicPr>
          <p:nvPr/>
        </p:nvPicPr>
        <p:blipFill>
          <a:blip r:embed="rId3"/>
          <a:stretch>
            <a:fillRect/>
          </a:stretch>
        </p:blipFill>
        <p:spPr>
          <a:xfrm>
            <a:off x="6191726" y="2162770"/>
            <a:ext cx="503753" cy="503753"/>
          </a:xfrm>
          <a:prstGeom prst="rect">
            <a:avLst/>
          </a:prstGeom>
        </p:spPr>
      </p:pic>
      <p:sp>
        <p:nvSpPr>
          <p:cNvPr id="6" name="Text 1"/>
          <p:cNvSpPr/>
          <p:nvPr/>
        </p:nvSpPr>
        <p:spPr>
          <a:xfrm>
            <a:off x="6191726" y="2867978"/>
            <a:ext cx="2581275" cy="314920"/>
          </a:xfrm>
          <a:prstGeom prst="rect">
            <a:avLst/>
          </a:prstGeom>
          <a:noFill/>
          <a:ln/>
        </p:spPr>
        <p:txBody>
          <a:bodyPr wrap="none" lIns="0" tIns="0" rIns="0" bIns="0" rtlCol="0" anchor="t"/>
          <a:lstStyle/>
          <a:p>
            <a:pPr algn="l" indent="0" marL="0">
              <a:lnSpc>
                <a:spcPts val="2450"/>
              </a:lnSpc>
              <a:buNone/>
            </a:pPr>
            <a:r>
              <a:rPr lang="en-US" sz="1950" dirty="0">
                <a:solidFill>
                  <a:srgbClr val="EBECEF"/>
                </a:solidFill>
                <a:latin typeface="Fraunces Medium" pitchFamily="34" charset="0"/>
                <a:ea typeface="Fraunces Medium" pitchFamily="34" charset="-122"/>
                <a:cs typeface="Fraunces Medium" pitchFamily="34" charset="-120"/>
              </a:rPr>
              <a:t>Respaldos Completos</a:t>
            </a:r>
            <a:endParaRPr lang="en-US" sz="1950" dirty="0"/>
          </a:p>
        </p:txBody>
      </p:sp>
      <p:sp>
        <p:nvSpPr>
          <p:cNvPr id="7" name="Text 2"/>
          <p:cNvSpPr/>
          <p:nvPr/>
        </p:nvSpPr>
        <p:spPr>
          <a:xfrm>
            <a:off x="6191726" y="3303746"/>
            <a:ext cx="3715583" cy="1289685"/>
          </a:xfrm>
          <a:prstGeom prst="rect">
            <a:avLst/>
          </a:prstGeom>
          <a:noFill/>
          <a:ln/>
        </p:spPr>
        <p:txBody>
          <a:bodyPr wrap="square" lIns="0" tIns="0" rIns="0" bIns="0" rtlCol="0" anchor="t"/>
          <a:lstStyle/>
          <a:p>
            <a:pPr algn="l" indent="0" marL="0">
              <a:lnSpc>
                <a:spcPts val="2500"/>
              </a:lnSpc>
              <a:buNone/>
            </a:pPr>
            <a:r>
              <a:rPr lang="en-US" sz="1550" dirty="0">
                <a:solidFill>
                  <a:srgbClr val="EBECEF"/>
                </a:solidFill>
                <a:latin typeface="Epilogue" pitchFamily="34" charset="0"/>
                <a:ea typeface="Epilogue" pitchFamily="34" charset="-122"/>
                <a:cs typeface="Epilogue" pitchFamily="34" charset="-120"/>
              </a:rPr>
              <a:t>Crear una copia de seguridad completa de la base de datos para asegurar la recuperación de todos los datos en caso de falla.</a:t>
            </a:r>
            <a:endParaRPr lang="en-US" sz="1550" dirty="0"/>
          </a:p>
        </p:txBody>
      </p:sp>
      <p:pic>
        <p:nvPicPr>
          <p:cNvPr id="8" name="Image 3" descr="preencoded.png">    </p:cNvPr>
          <p:cNvPicPr>
            <a:picLocks noChangeAspect="1"/>
          </p:cNvPicPr>
          <p:nvPr/>
        </p:nvPicPr>
        <p:blipFill>
          <a:blip r:embed="rId4"/>
          <a:stretch>
            <a:fillRect/>
          </a:stretch>
        </p:blipFill>
        <p:spPr>
          <a:xfrm>
            <a:off x="10209490" y="2162770"/>
            <a:ext cx="503753" cy="503753"/>
          </a:xfrm>
          <a:prstGeom prst="rect">
            <a:avLst/>
          </a:prstGeom>
        </p:spPr>
      </p:pic>
      <p:sp>
        <p:nvSpPr>
          <p:cNvPr id="9" name="Text 3"/>
          <p:cNvSpPr/>
          <p:nvPr/>
        </p:nvSpPr>
        <p:spPr>
          <a:xfrm>
            <a:off x="10209490" y="2867978"/>
            <a:ext cx="3021449" cy="314920"/>
          </a:xfrm>
          <a:prstGeom prst="rect">
            <a:avLst/>
          </a:prstGeom>
          <a:noFill/>
          <a:ln/>
        </p:spPr>
        <p:txBody>
          <a:bodyPr wrap="none" lIns="0" tIns="0" rIns="0" bIns="0" rtlCol="0" anchor="t"/>
          <a:lstStyle/>
          <a:p>
            <a:pPr algn="l" indent="0" marL="0">
              <a:lnSpc>
                <a:spcPts val="2450"/>
              </a:lnSpc>
              <a:buNone/>
            </a:pPr>
            <a:r>
              <a:rPr lang="en-US" sz="1950" dirty="0">
                <a:solidFill>
                  <a:srgbClr val="EBECEF"/>
                </a:solidFill>
                <a:latin typeface="Fraunces Medium" pitchFamily="34" charset="0"/>
                <a:ea typeface="Fraunces Medium" pitchFamily="34" charset="-122"/>
                <a:cs typeface="Fraunces Medium" pitchFamily="34" charset="-120"/>
              </a:rPr>
              <a:t>Respaldos Incrementales</a:t>
            </a:r>
            <a:endParaRPr lang="en-US" sz="1950" dirty="0"/>
          </a:p>
        </p:txBody>
      </p:sp>
      <p:sp>
        <p:nvSpPr>
          <p:cNvPr id="10" name="Text 4"/>
          <p:cNvSpPr/>
          <p:nvPr/>
        </p:nvSpPr>
        <p:spPr>
          <a:xfrm>
            <a:off x="10209490" y="3303746"/>
            <a:ext cx="3715583" cy="1289685"/>
          </a:xfrm>
          <a:prstGeom prst="rect">
            <a:avLst/>
          </a:prstGeom>
          <a:noFill/>
          <a:ln/>
        </p:spPr>
        <p:txBody>
          <a:bodyPr wrap="square" lIns="0" tIns="0" rIns="0" bIns="0" rtlCol="0" anchor="t"/>
          <a:lstStyle/>
          <a:p>
            <a:pPr algn="l" indent="0" marL="0">
              <a:lnSpc>
                <a:spcPts val="2500"/>
              </a:lnSpc>
              <a:buNone/>
            </a:pPr>
            <a:r>
              <a:rPr lang="en-US" sz="1550" dirty="0">
                <a:solidFill>
                  <a:srgbClr val="EBECEF"/>
                </a:solidFill>
                <a:latin typeface="Epilogue" pitchFamily="34" charset="0"/>
                <a:ea typeface="Epilogue" pitchFamily="34" charset="-122"/>
                <a:cs typeface="Epilogue" pitchFamily="34" charset="-120"/>
              </a:rPr>
              <a:t>Realizar respaldos increméntales periódicamente para capturar solamente los cambios desde el último respaldo completo.</a:t>
            </a:r>
            <a:endParaRPr lang="en-US" sz="1550" dirty="0"/>
          </a:p>
        </p:txBody>
      </p:sp>
      <p:pic>
        <p:nvPicPr>
          <p:cNvPr id="11" name="Image 4" descr="preencoded.png">    </p:cNvPr>
          <p:cNvPicPr>
            <a:picLocks noChangeAspect="1"/>
          </p:cNvPicPr>
          <p:nvPr/>
        </p:nvPicPr>
        <p:blipFill>
          <a:blip r:embed="rId5"/>
          <a:stretch>
            <a:fillRect/>
          </a:stretch>
        </p:blipFill>
        <p:spPr>
          <a:xfrm>
            <a:off x="6191726" y="5197912"/>
            <a:ext cx="503753" cy="503753"/>
          </a:xfrm>
          <a:prstGeom prst="rect">
            <a:avLst/>
          </a:prstGeom>
        </p:spPr>
      </p:pic>
      <p:sp>
        <p:nvSpPr>
          <p:cNvPr id="12" name="Text 5"/>
          <p:cNvSpPr/>
          <p:nvPr/>
        </p:nvSpPr>
        <p:spPr>
          <a:xfrm>
            <a:off x="6191726" y="5903119"/>
            <a:ext cx="2519005" cy="314920"/>
          </a:xfrm>
          <a:prstGeom prst="rect">
            <a:avLst/>
          </a:prstGeom>
          <a:noFill/>
          <a:ln/>
        </p:spPr>
        <p:txBody>
          <a:bodyPr wrap="none" lIns="0" tIns="0" rIns="0" bIns="0" rtlCol="0" anchor="t"/>
          <a:lstStyle/>
          <a:p>
            <a:pPr algn="l" indent="0" marL="0">
              <a:lnSpc>
                <a:spcPts val="2450"/>
              </a:lnSpc>
              <a:buNone/>
            </a:pPr>
            <a:r>
              <a:rPr lang="en-US" sz="1950" dirty="0">
                <a:solidFill>
                  <a:srgbClr val="EBECEF"/>
                </a:solidFill>
                <a:latin typeface="Fraunces Medium" pitchFamily="34" charset="0"/>
                <a:ea typeface="Fraunces Medium" pitchFamily="34" charset="-122"/>
                <a:cs typeface="Fraunces Medium" pitchFamily="34" charset="-120"/>
              </a:rPr>
              <a:t>Planificación</a:t>
            </a:r>
            <a:endParaRPr lang="en-US" sz="1950" dirty="0"/>
          </a:p>
        </p:txBody>
      </p:sp>
      <p:sp>
        <p:nvSpPr>
          <p:cNvPr id="13" name="Text 6"/>
          <p:cNvSpPr/>
          <p:nvPr/>
        </p:nvSpPr>
        <p:spPr>
          <a:xfrm>
            <a:off x="6191726" y="6338888"/>
            <a:ext cx="3715583" cy="1289685"/>
          </a:xfrm>
          <a:prstGeom prst="rect">
            <a:avLst/>
          </a:prstGeom>
          <a:noFill/>
          <a:ln/>
        </p:spPr>
        <p:txBody>
          <a:bodyPr wrap="square" lIns="0" tIns="0" rIns="0" bIns="0" rtlCol="0" anchor="t"/>
          <a:lstStyle/>
          <a:p>
            <a:pPr algn="l" indent="0" marL="0">
              <a:lnSpc>
                <a:spcPts val="2500"/>
              </a:lnSpc>
              <a:buNone/>
            </a:pPr>
            <a:r>
              <a:rPr lang="en-US" sz="1550" dirty="0">
                <a:solidFill>
                  <a:srgbClr val="EBECEF"/>
                </a:solidFill>
                <a:latin typeface="Epilogue" pitchFamily="34" charset="0"/>
                <a:ea typeface="Epilogue" pitchFamily="34" charset="-122"/>
                <a:cs typeface="Epilogue" pitchFamily="34" charset="-120"/>
              </a:rPr>
              <a:t>Establecer un cronograma de respaldos que se ajuste a las necesidades del negocio y permita recuperación rápida ante incidentes.</a:t>
            </a:r>
            <a:endParaRPr lang="en-US" sz="1550" dirty="0"/>
          </a:p>
        </p:txBody>
      </p:sp>
      <p:pic>
        <p:nvPicPr>
          <p:cNvPr id="14" name="Image 5" descr="preencoded.png">    </p:cNvPr>
          <p:cNvPicPr>
            <a:picLocks noChangeAspect="1"/>
          </p:cNvPicPr>
          <p:nvPr/>
        </p:nvPicPr>
        <p:blipFill>
          <a:blip r:embed="rId6"/>
          <a:stretch>
            <a:fillRect/>
          </a:stretch>
        </p:blipFill>
        <p:spPr>
          <a:xfrm>
            <a:off x="10209490" y="5197912"/>
            <a:ext cx="503753" cy="503753"/>
          </a:xfrm>
          <a:prstGeom prst="rect">
            <a:avLst/>
          </a:prstGeom>
        </p:spPr>
      </p:pic>
      <p:sp>
        <p:nvSpPr>
          <p:cNvPr id="15" name="Text 7"/>
          <p:cNvSpPr/>
          <p:nvPr/>
        </p:nvSpPr>
        <p:spPr>
          <a:xfrm>
            <a:off x="10209490" y="5903119"/>
            <a:ext cx="2953107" cy="314920"/>
          </a:xfrm>
          <a:prstGeom prst="rect">
            <a:avLst/>
          </a:prstGeom>
          <a:noFill/>
          <a:ln/>
        </p:spPr>
        <p:txBody>
          <a:bodyPr wrap="none" lIns="0" tIns="0" rIns="0" bIns="0" rtlCol="0" anchor="t"/>
          <a:lstStyle/>
          <a:p>
            <a:pPr algn="l" indent="0" marL="0">
              <a:lnSpc>
                <a:spcPts val="2450"/>
              </a:lnSpc>
              <a:buNone/>
            </a:pPr>
            <a:r>
              <a:rPr lang="en-US" sz="1950" dirty="0">
                <a:solidFill>
                  <a:srgbClr val="EBECEF"/>
                </a:solidFill>
                <a:latin typeface="Fraunces Medium" pitchFamily="34" charset="0"/>
                <a:ea typeface="Fraunces Medium" pitchFamily="34" charset="-122"/>
                <a:cs typeface="Fraunces Medium" pitchFamily="34" charset="-120"/>
              </a:rPr>
              <a:t>Almacenamiento Seguro</a:t>
            </a:r>
            <a:endParaRPr lang="en-US" sz="1950" dirty="0"/>
          </a:p>
        </p:txBody>
      </p:sp>
      <p:sp>
        <p:nvSpPr>
          <p:cNvPr id="16" name="Text 8"/>
          <p:cNvSpPr/>
          <p:nvPr/>
        </p:nvSpPr>
        <p:spPr>
          <a:xfrm>
            <a:off x="10209490" y="6338888"/>
            <a:ext cx="3715583" cy="1289685"/>
          </a:xfrm>
          <a:prstGeom prst="rect">
            <a:avLst/>
          </a:prstGeom>
          <a:noFill/>
          <a:ln/>
        </p:spPr>
        <p:txBody>
          <a:bodyPr wrap="square" lIns="0" tIns="0" rIns="0" bIns="0" rtlCol="0" anchor="t"/>
          <a:lstStyle/>
          <a:p>
            <a:pPr algn="l" indent="0" marL="0">
              <a:lnSpc>
                <a:spcPts val="2500"/>
              </a:lnSpc>
              <a:buNone/>
            </a:pPr>
            <a:r>
              <a:rPr lang="en-US" sz="1550" dirty="0">
                <a:solidFill>
                  <a:srgbClr val="EBECEF"/>
                </a:solidFill>
                <a:latin typeface="Epilogue" pitchFamily="34" charset="0"/>
                <a:ea typeface="Epilogue" pitchFamily="34" charset="-122"/>
                <a:cs typeface="Epilogue" pitchFamily="34" charset="-120"/>
              </a:rPr>
              <a:t>Asegurar el almacenamiento de los respaldos en ubicaciones seguras y confiables, protegidos contra pérdida, robo o daños.</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253603" y="2143006"/>
            <a:ext cx="4979075" cy="3943469"/>
          </a:xfrm>
          <a:prstGeom prst="rect">
            <a:avLst/>
          </a:prstGeom>
        </p:spPr>
      </p:pic>
      <p:sp>
        <p:nvSpPr>
          <p:cNvPr id="4" name="Text 0"/>
          <p:cNvSpPr/>
          <p:nvPr/>
        </p:nvSpPr>
        <p:spPr>
          <a:xfrm>
            <a:off x="6196489" y="779026"/>
            <a:ext cx="7723823" cy="1268016"/>
          </a:xfrm>
          <a:prstGeom prst="rect">
            <a:avLst/>
          </a:prstGeom>
          <a:noFill/>
          <a:ln/>
        </p:spPr>
        <p:txBody>
          <a:bodyPr wrap="square" lIns="0" tIns="0" rIns="0" bIns="0" rtlCol="0" anchor="t"/>
          <a:lstStyle/>
          <a:p>
            <a:pPr indent="0" marL="0">
              <a:lnSpc>
                <a:spcPts val="4950"/>
              </a:lnSpc>
              <a:buNone/>
            </a:pPr>
            <a:r>
              <a:rPr lang="en-US" sz="3950" dirty="0">
                <a:solidFill>
                  <a:srgbClr val="FFFFFF"/>
                </a:solidFill>
                <a:latin typeface="Fraunces Medium" pitchFamily="34" charset="0"/>
                <a:ea typeface="Fraunces Medium" pitchFamily="34" charset="-122"/>
                <a:cs typeface="Fraunces Medium" pitchFamily="34" charset="-120"/>
              </a:rPr>
              <a:t>Utilizar Herramientas Avanzadas</a:t>
            </a:r>
            <a:endParaRPr lang="en-US" sz="3950" dirty="0"/>
          </a:p>
        </p:txBody>
      </p:sp>
      <p:sp>
        <p:nvSpPr>
          <p:cNvPr id="5" name="Shape 1"/>
          <p:cNvSpPr/>
          <p:nvPr/>
        </p:nvSpPr>
        <p:spPr>
          <a:xfrm>
            <a:off x="6196489" y="2579608"/>
            <a:ext cx="355044" cy="355044"/>
          </a:xfrm>
          <a:prstGeom prst="roundRect">
            <a:avLst>
              <a:gd name="adj" fmla="val 24002"/>
            </a:avLst>
          </a:prstGeom>
          <a:solidFill>
            <a:srgbClr val="283157"/>
          </a:solidFill>
          <a:ln w="7620">
            <a:solidFill>
              <a:srgbClr val="414A70"/>
            </a:solidFill>
            <a:prstDash val="solid"/>
          </a:ln>
        </p:spPr>
      </p:sp>
      <p:sp>
        <p:nvSpPr>
          <p:cNvPr id="6" name="Text 2"/>
          <p:cNvSpPr/>
          <p:nvPr/>
        </p:nvSpPr>
        <p:spPr>
          <a:xfrm>
            <a:off x="6754416" y="2579608"/>
            <a:ext cx="3202543" cy="633889"/>
          </a:xfrm>
          <a:prstGeom prst="rect">
            <a:avLst/>
          </a:prstGeom>
          <a:noFill/>
          <a:ln/>
        </p:spPr>
        <p:txBody>
          <a:bodyPr wrap="square" lIns="0" tIns="0" rIns="0" bIns="0" rtlCol="0" anchor="t"/>
          <a:lstStyle/>
          <a:p>
            <a:pPr indent="0" marL="0">
              <a:lnSpc>
                <a:spcPts val="2450"/>
              </a:lnSpc>
              <a:buNone/>
            </a:pPr>
            <a:r>
              <a:rPr lang="en-US" sz="1950" dirty="0">
                <a:solidFill>
                  <a:srgbClr val="EBECEF"/>
                </a:solidFill>
                <a:latin typeface="Fraunces Medium" pitchFamily="34" charset="0"/>
                <a:ea typeface="Fraunces Medium" pitchFamily="34" charset="-122"/>
                <a:cs typeface="Fraunces Medium" pitchFamily="34" charset="-120"/>
              </a:rPr>
              <a:t>Herramientas de Respaldo Automatizado</a:t>
            </a:r>
            <a:endParaRPr lang="en-US" sz="1950" dirty="0"/>
          </a:p>
        </p:txBody>
      </p:sp>
      <p:sp>
        <p:nvSpPr>
          <p:cNvPr id="7" name="Text 3"/>
          <p:cNvSpPr/>
          <p:nvPr/>
        </p:nvSpPr>
        <p:spPr>
          <a:xfrm>
            <a:off x="6754416" y="3335179"/>
            <a:ext cx="3202543" cy="1298258"/>
          </a:xfrm>
          <a:prstGeom prst="rect">
            <a:avLst/>
          </a:prstGeom>
          <a:noFill/>
          <a:ln/>
        </p:spPr>
        <p:txBody>
          <a:bodyPr wrap="square" lIns="0" tIns="0" rIns="0" bIns="0" rtlCol="0" anchor="t"/>
          <a:lstStyle/>
          <a:p>
            <a:pPr indent="0" marL="0">
              <a:lnSpc>
                <a:spcPts val="2550"/>
              </a:lnSpc>
              <a:buNone/>
            </a:pPr>
            <a:r>
              <a:rPr lang="en-US" sz="1550" dirty="0">
                <a:solidFill>
                  <a:srgbClr val="EBECEF"/>
                </a:solidFill>
                <a:latin typeface="Epilogue" pitchFamily="34" charset="0"/>
                <a:ea typeface="Epilogue" pitchFamily="34" charset="-122"/>
                <a:cs typeface="Epilogue" pitchFamily="34" charset="-120"/>
              </a:rPr>
              <a:t>Utilizar software especializado que realiza respaldos de datos de forma programada y sin intervención manual.</a:t>
            </a:r>
            <a:endParaRPr lang="en-US" sz="1550" dirty="0"/>
          </a:p>
        </p:txBody>
      </p:sp>
      <p:sp>
        <p:nvSpPr>
          <p:cNvPr id="8" name="Shape 4"/>
          <p:cNvSpPr/>
          <p:nvPr/>
        </p:nvSpPr>
        <p:spPr>
          <a:xfrm>
            <a:off x="10159841" y="2579608"/>
            <a:ext cx="355044" cy="355044"/>
          </a:xfrm>
          <a:prstGeom prst="roundRect">
            <a:avLst>
              <a:gd name="adj" fmla="val 24002"/>
            </a:avLst>
          </a:prstGeom>
          <a:solidFill>
            <a:srgbClr val="283157"/>
          </a:solidFill>
          <a:ln w="7620">
            <a:solidFill>
              <a:srgbClr val="414A70"/>
            </a:solidFill>
            <a:prstDash val="solid"/>
          </a:ln>
        </p:spPr>
      </p:sp>
      <p:sp>
        <p:nvSpPr>
          <p:cNvPr id="9" name="Text 5"/>
          <p:cNvSpPr/>
          <p:nvPr/>
        </p:nvSpPr>
        <p:spPr>
          <a:xfrm>
            <a:off x="10717768" y="2579608"/>
            <a:ext cx="3202543" cy="633889"/>
          </a:xfrm>
          <a:prstGeom prst="rect">
            <a:avLst/>
          </a:prstGeom>
          <a:noFill/>
          <a:ln/>
        </p:spPr>
        <p:txBody>
          <a:bodyPr wrap="square" lIns="0" tIns="0" rIns="0" bIns="0" rtlCol="0" anchor="t"/>
          <a:lstStyle/>
          <a:p>
            <a:pPr indent="0" marL="0">
              <a:lnSpc>
                <a:spcPts val="2450"/>
              </a:lnSpc>
              <a:buNone/>
            </a:pPr>
            <a:r>
              <a:rPr lang="en-US" sz="1950" dirty="0">
                <a:solidFill>
                  <a:srgbClr val="EBECEF"/>
                </a:solidFill>
                <a:latin typeface="Fraunces Medium" pitchFamily="34" charset="0"/>
                <a:ea typeface="Fraunces Medium" pitchFamily="34" charset="-122"/>
                <a:cs typeface="Fraunces Medium" pitchFamily="34" charset="-120"/>
              </a:rPr>
              <a:t>Herramientas de Recuperación Integral</a:t>
            </a:r>
            <a:endParaRPr lang="en-US" sz="1950" dirty="0"/>
          </a:p>
        </p:txBody>
      </p:sp>
      <p:sp>
        <p:nvSpPr>
          <p:cNvPr id="10" name="Text 6"/>
          <p:cNvSpPr/>
          <p:nvPr/>
        </p:nvSpPr>
        <p:spPr>
          <a:xfrm>
            <a:off x="10717768" y="3335179"/>
            <a:ext cx="3202543" cy="1622822"/>
          </a:xfrm>
          <a:prstGeom prst="rect">
            <a:avLst/>
          </a:prstGeom>
          <a:noFill/>
          <a:ln/>
        </p:spPr>
        <p:txBody>
          <a:bodyPr wrap="square" lIns="0" tIns="0" rIns="0" bIns="0" rtlCol="0" anchor="t"/>
          <a:lstStyle/>
          <a:p>
            <a:pPr indent="0" marL="0">
              <a:lnSpc>
                <a:spcPts val="2550"/>
              </a:lnSpc>
              <a:buNone/>
            </a:pPr>
            <a:r>
              <a:rPr lang="en-US" sz="1550" dirty="0">
                <a:solidFill>
                  <a:srgbClr val="EBECEF"/>
                </a:solidFill>
                <a:latin typeface="Epilogue" pitchFamily="34" charset="0"/>
                <a:ea typeface="Epilogue" pitchFamily="34" charset="-122"/>
                <a:cs typeface="Epilogue" pitchFamily="34" charset="-120"/>
              </a:rPr>
              <a:t>Contar con aplicaciones que permiten restaurar la base de datos completa o archivos individuales de manera rápida y eficiente.</a:t>
            </a:r>
            <a:endParaRPr lang="en-US" sz="1550" dirty="0"/>
          </a:p>
        </p:txBody>
      </p:sp>
      <p:sp>
        <p:nvSpPr>
          <p:cNvPr id="11" name="Shape 7"/>
          <p:cNvSpPr/>
          <p:nvPr/>
        </p:nvSpPr>
        <p:spPr>
          <a:xfrm>
            <a:off x="6196489" y="5389126"/>
            <a:ext cx="355044" cy="355044"/>
          </a:xfrm>
          <a:prstGeom prst="roundRect">
            <a:avLst>
              <a:gd name="adj" fmla="val 24002"/>
            </a:avLst>
          </a:prstGeom>
          <a:solidFill>
            <a:srgbClr val="283157"/>
          </a:solidFill>
          <a:ln w="7620">
            <a:solidFill>
              <a:srgbClr val="414A70"/>
            </a:solidFill>
            <a:prstDash val="solid"/>
          </a:ln>
        </p:spPr>
      </p:sp>
      <p:sp>
        <p:nvSpPr>
          <p:cNvPr id="12" name="Text 8"/>
          <p:cNvSpPr/>
          <p:nvPr/>
        </p:nvSpPr>
        <p:spPr>
          <a:xfrm>
            <a:off x="6754416" y="5389126"/>
            <a:ext cx="3189089" cy="316944"/>
          </a:xfrm>
          <a:prstGeom prst="rect">
            <a:avLst/>
          </a:prstGeom>
          <a:noFill/>
          <a:ln/>
        </p:spPr>
        <p:txBody>
          <a:bodyPr wrap="none" lIns="0" tIns="0" rIns="0" bIns="0" rtlCol="0" anchor="t"/>
          <a:lstStyle/>
          <a:p>
            <a:pPr indent="0" marL="0">
              <a:lnSpc>
                <a:spcPts val="2450"/>
              </a:lnSpc>
              <a:buNone/>
            </a:pPr>
            <a:r>
              <a:rPr lang="en-US" sz="1950" dirty="0">
                <a:solidFill>
                  <a:srgbClr val="EBECEF"/>
                </a:solidFill>
                <a:latin typeface="Fraunces Medium" pitchFamily="34" charset="0"/>
                <a:ea typeface="Fraunces Medium" pitchFamily="34" charset="-122"/>
                <a:cs typeface="Fraunces Medium" pitchFamily="34" charset="-120"/>
              </a:rPr>
              <a:t>Monitoreo en Tiempo Real</a:t>
            </a:r>
            <a:endParaRPr lang="en-US" sz="1950" dirty="0"/>
          </a:p>
        </p:txBody>
      </p:sp>
      <p:sp>
        <p:nvSpPr>
          <p:cNvPr id="13" name="Text 9"/>
          <p:cNvSpPr/>
          <p:nvPr/>
        </p:nvSpPr>
        <p:spPr>
          <a:xfrm>
            <a:off x="6754416" y="5827752"/>
            <a:ext cx="3202543" cy="1622822"/>
          </a:xfrm>
          <a:prstGeom prst="rect">
            <a:avLst/>
          </a:prstGeom>
          <a:noFill/>
          <a:ln/>
        </p:spPr>
        <p:txBody>
          <a:bodyPr wrap="square" lIns="0" tIns="0" rIns="0" bIns="0" rtlCol="0" anchor="t"/>
          <a:lstStyle/>
          <a:p>
            <a:pPr indent="0" marL="0">
              <a:lnSpc>
                <a:spcPts val="2550"/>
              </a:lnSpc>
              <a:buNone/>
            </a:pPr>
            <a:r>
              <a:rPr lang="en-US" sz="1550" dirty="0">
                <a:solidFill>
                  <a:srgbClr val="EBECEF"/>
                </a:solidFill>
                <a:latin typeface="Epilogue" pitchFamily="34" charset="0"/>
                <a:ea typeface="Epilogue" pitchFamily="34" charset="-122"/>
                <a:cs typeface="Epilogue" pitchFamily="34" charset="-120"/>
              </a:rPr>
              <a:t>Implementar soluciones que vigilen constantemente la integridad de los datos y generen alertas ante posibles incidentes.</a:t>
            </a:r>
            <a:endParaRPr lang="en-US" sz="1550" dirty="0"/>
          </a:p>
        </p:txBody>
      </p:sp>
      <p:sp>
        <p:nvSpPr>
          <p:cNvPr id="14" name="Shape 10"/>
          <p:cNvSpPr/>
          <p:nvPr/>
        </p:nvSpPr>
        <p:spPr>
          <a:xfrm>
            <a:off x="10159841" y="5389126"/>
            <a:ext cx="355044" cy="355044"/>
          </a:xfrm>
          <a:prstGeom prst="roundRect">
            <a:avLst>
              <a:gd name="adj" fmla="val 24002"/>
            </a:avLst>
          </a:prstGeom>
          <a:solidFill>
            <a:srgbClr val="283157"/>
          </a:solidFill>
          <a:ln w="7620">
            <a:solidFill>
              <a:srgbClr val="414A70"/>
            </a:solidFill>
            <a:prstDash val="solid"/>
          </a:ln>
        </p:spPr>
      </p:sp>
      <p:sp>
        <p:nvSpPr>
          <p:cNvPr id="15" name="Text 11"/>
          <p:cNvSpPr/>
          <p:nvPr/>
        </p:nvSpPr>
        <p:spPr>
          <a:xfrm>
            <a:off x="10717768" y="5389126"/>
            <a:ext cx="3082766" cy="316944"/>
          </a:xfrm>
          <a:prstGeom prst="rect">
            <a:avLst/>
          </a:prstGeom>
          <a:noFill/>
          <a:ln/>
        </p:spPr>
        <p:txBody>
          <a:bodyPr wrap="none" lIns="0" tIns="0" rIns="0" bIns="0" rtlCol="0" anchor="t"/>
          <a:lstStyle/>
          <a:p>
            <a:pPr indent="0" marL="0">
              <a:lnSpc>
                <a:spcPts val="2450"/>
              </a:lnSpc>
              <a:buNone/>
            </a:pPr>
            <a:r>
              <a:rPr lang="en-US" sz="1950" dirty="0">
                <a:solidFill>
                  <a:srgbClr val="EBECEF"/>
                </a:solidFill>
                <a:latin typeface="Fraunces Medium" pitchFamily="34" charset="0"/>
                <a:ea typeface="Fraunces Medium" pitchFamily="34" charset="-122"/>
                <a:cs typeface="Fraunces Medium" pitchFamily="34" charset="-120"/>
              </a:rPr>
              <a:t>Simulación de Escenarios</a:t>
            </a:r>
            <a:endParaRPr lang="en-US" sz="1950" dirty="0"/>
          </a:p>
        </p:txBody>
      </p:sp>
      <p:sp>
        <p:nvSpPr>
          <p:cNvPr id="16" name="Text 12"/>
          <p:cNvSpPr/>
          <p:nvPr/>
        </p:nvSpPr>
        <p:spPr>
          <a:xfrm>
            <a:off x="10717768" y="5827752"/>
            <a:ext cx="3202543" cy="1622822"/>
          </a:xfrm>
          <a:prstGeom prst="rect">
            <a:avLst/>
          </a:prstGeom>
          <a:noFill/>
          <a:ln/>
        </p:spPr>
        <p:txBody>
          <a:bodyPr wrap="square" lIns="0" tIns="0" rIns="0" bIns="0" rtlCol="0" anchor="t"/>
          <a:lstStyle/>
          <a:p>
            <a:pPr indent="0" marL="0">
              <a:lnSpc>
                <a:spcPts val="2550"/>
              </a:lnSpc>
              <a:buNone/>
            </a:pPr>
            <a:r>
              <a:rPr lang="en-US" sz="1550" dirty="0">
                <a:solidFill>
                  <a:srgbClr val="EBECEF"/>
                </a:solidFill>
                <a:latin typeface="Epilogue" pitchFamily="34" charset="0"/>
                <a:ea typeface="Epilogue" pitchFamily="34" charset="-122"/>
                <a:cs typeface="Epilogue" pitchFamily="34" charset="-120"/>
              </a:rPr>
              <a:t>Probar los planes de recuperación en entornos controlados para validar su efectividad antes de enfrentar una situación real.</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60095" y="770692"/>
            <a:ext cx="7623810" cy="1357313"/>
          </a:xfrm>
          <a:prstGeom prst="rect">
            <a:avLst/>
          </a:prstGeom>
          <a:noFill/>
          <a:ln/>
        </p:spPr>
        <p:txBody>
          <a:bodyPr wrap="square" lIns="0" tIns="0" rIns="0" bIns="0" rtlCol="0" anchor="t"/>
          <a:lstStyle/>
          <a:p>
            <a:pPr indent="0" marL="0">
              <a:lnSpc>
                <a:spcPts val="5300"/>
              </a:lnSpc>
              <a:buNone/>
            </a:pPr>
            <a:r>
              <a:rPr lang="en-US" sz="4250" dirty="0">
                <a:solidFill>
                  <a:srgbClr val="FFFFFF"/>
                </a:solidFill>
                <a:latin typeface="Fraunces Medium" pitchFamily="34" charset="0"/>
                <a:ea typeface="Fraunces Medium" pitchFamily="34" charset="-122"/>
                <a:cs typeface="Fraunces Medium" pitchFamily="34" charset="-120"/>
              </a:rPr>
              <a:t>Aplicar Conocimientos en Escenarios Reales</a:t>
            </a:r>
            <a:endParaRPr lang="en-US" sz="4250" dirty="0"/>
          </a:p>
        </p:txBody>
      </p:sp>
      <p:sp>
        <p:nvSpPr>
          <p:cNvPr id="4" name="Text 1"/>
          <p:cNvSpPr/>
          <p:nvPr/>
        </p:nvSpPr>
        <p:spPr>
          <a:xfrm>
            <a:off x="760095" y="2453759"/>
            <a:ext cx="7623810" cy="1042273"/>
          </a:xfrm>
          <a:prstGeom prst="rect">
            <a:avLst/>
          </a:prstGeom>
          <a:noFill/>
          <a:ln/>
        </p:spPr>
        <p:txBody>
          <a:bodyPr wrap="square" lIns="0" tIns="0" rIns="0" bIns="0" rtlCol="0" anchor="t"/>
          <a:lstStyle/>
          <a:p>
            <a:pPr indent="0" marL="0">
              <a:lnSpc>
                <a:spcPts val="2700"/>
              </a:lnSpc>
              <a:buNone/>
            </a:pPr>
            <a:r>
              <a:rPr lang="en-US" sz="1700" dirty="0">
                <a:solidFill>
                  <a:srgbClr val="EBECEF"/>
                </a:solidFill>
                <a:latin typeface="Epilogue" pitchFamily="34" charset="0"/>
                <a:ea typeface="Epilogue" pitchFamily="34" charset="-122"/>
                <a:cs typeface="Epilogue" pitchFamily="34" charset="-120"/>
              </a:rPr>
              <a:t>Se recomienda poner en práctica los conocimientos sobre recuperación de datos en escenarios de falla simulada, trabajando de manera colaborativa para diseñar y ejecutar soluciones efectivas.</a:t>
            </a:r>
            <a:endParaRPr lang="en-US" sz="1700" dirty="0"/>
          </a:p>
        </p:txBody>
      </p:sp>
      <p:sp>
        <p:nvSpPr>
          <p:cNvPr id="5" name="Text 2"/>
          <p:cNvSpPr/>
          <p:nvPr/>
        </p:nvSpPr>
        <p:spPr>
          <a:xfrm>
            <a:off x="760095" y="3740348"/>
            <a:ext cx="7623810" cy="2431971"/>
          </a:xfrm>
          <a:prstGeom prst="rect">
            <a:avLst/>
          </a:prstGeom>
          <a:noFill/>
          <a:ln/>
        </p:spPr>
        <p:txBody>
          <a:bodyPr wrap="square" lIns="0" tIns="0" rIns="0" bIns="0" rtlCol="0" anchor="t"/>
          <a:lstStyle/>
          <a:p>
            <a:pPr indent="0" marL="0">
              <a:lnSpc>
                <a:spcPts val="2700"/>
              </a:lnSpc>
              <a:buNone/>
            </a:pPr>
            <a:r>
              <a:rPr lang="en-US" sz="1700" dirty="0">
                <a:solidFill>
                  <a:srgbClr val="EBECEF"/>
                </a:solidFill>
                <a:latin typeface="Epilogue" pitchFamily="34" charset="0"/>
                <a:ea typeface="Epilogue" pitchFamily="34" charset="-122"/>
                <a:cs typeface="Epilogue" pitchFamily="34" charset="-120"/>
              </a:rPr>
              <a:t>La aplicación de técnicas avanzadas de respaldo y recuperación es esencial para garantizar la integridad de los datos y minimizar el impacto de posibles fallos. Es crucial realizar copias de seguridad periódicas y planificar estrategias de recuperación ante desastres, evaluando métodos como los respaldos completos, incrementales y diferenciales para determinar cuál es el más adecuado según cada necesidad.</a:t>
            </a:r>
            <a:endParaRPr lang="en-US" sz="1700" dirty="0"/>
          </a:p>
        </p:txBody>
      </p:sp>
      <p:sp>
        <p:nvSpPr>
          <p:cNvPr id="6" name="Text 3"/>
          <p:cNvSpPr/>
          <p:nvPr/>
        </p:nvSpPr>
        <p:spPr>
          <a:xfrm>
            <a:off x="760095" y="6416635"/>
            <a:ext cx="7623810" cy="1042273"/>
          </a:xfrm>
          <a:prstGeom prst="rect">
            <a:avLst/>
          </a:prstGeom>
          <a:noFill/>
          <a:ln/>
        </p:spPr>
        <p:txBody>
          <a:bodyPr wrap="square" lIns="0" tIns="0" rIns="0" bIns="0" rtlCol="0" anchor="t"/>
          <a:lstStyle/>
          <a:p>
            <a:pPr indent="0" marL="0">
              <a:lnSpc>
                <a:spcPts val="2700"/>
              </a:lnSpc>
              <a:buNone/>
            </a:pPr>
            <a:r>
              <a:rPr lang="en-US" sz="1700" dirty="0">
                <a:solidFill>
                  <a:srgbClr val="EBECEF"/>
                </a:solidFill>
                <a:latin typeface="Epilogue" pitchFamily="34" charset="0"/>
                <a:ea typeface="Epilogue" pitchFamily="34" charset="-122"/>
                <a:cs typeface="Epilogue" pitchFamily="34" charset="-120"/>
              </a:rPr>
              <a:t>Este enfoque asegura que las implementaciones de bases de datos sean robustas y capaces de mantener la continuidad operativa incluso en situaciones críticas.</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2024-11-05T07:47:13Z</dcterms:created>
  <dcterms:modified xsi:type="dcterms:W3CDTF">2024-11-05T07:47:13Z</dcterms:modified>
</cp:coreProperties>
</file>