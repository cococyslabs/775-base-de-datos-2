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Fira Mono Medium"/>
      <p:regular r:id="rId22"/>
    </p:embeddedFont>
    <p:embeddedFont>
      <p:font typeface="Fira Mono Medium"/>
      <p:regular r:id="rId23"/>
    </p:embeddedFont>
    <p:embeddedFont>
      <p:font typeface="Fira Sans"/>
      <p:regular r:id="rId24"/>
    </p:embeddedFont>
    <p:embeddedFont>
      <p:font typeface="Fira Sans"/>
      <p:regular r:id="rId25"/>
    </p:embeddedFont>
    <p:embeddedFont>
      <p:font typeface="Fira Sans"/>
      <p:regular r:id="rId26"/>
    </p:embeddedFont>
    <p:embeddedFont>
      <p:font typeface="Fira Sans"/>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7607" y="2159318"/>
            <a:ext cx="4919186" cy="3910846"/>
          </a:xfrm>
          <a:prstGeom prst="rect">
            <a:avLst/>
          </a:prstGeom>
        </p:spPr>
      </p:pic>
      <p:sp>
        <p:nvSpPr>
          <p:cNvPr id="4" name="Text 0"/>
          <p:cNvSpPr/>
          <p:nvPr/>
        </p:nvSpPr>
        <p:spPr>
          <a:xfrm>
            <a:off x="793790" y="2184083"/>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Fundamentos de Bases de Datos NoSQL</a:t>
            </a:r>
            <a:endParaRPr lang="en-US" sz="4450" dirty="0"/>
          </a:p>
        </p:txBody>
      </p:sp>
      <p:sp>
        <p:nvSpPr>
          <p:cNvPr id="5" name="Text 1"/>
          <p:cNvSpPr/>
          <p:nvPr/>
        </p:nvSpPr>
        <p:spPr>
          <a:xfrm>
            <a:off x="793790" y="3941802"/>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NoSQL (Not only SQL) representan un paradigma de almacenamiento y procesamiento de datos que se aleja del modelo relacional tradicional de las bases de datos SQL. Ofrecen soluciones flexibles y escalables para abordar los desafíos de la era del Big Data.</a:t>
            </a:r>
            <a:endParaRPr lang="en-US" sz="1750" dirty="0"/>
          </a:p>
        </p:txBody>
      </p:sp>
      <p:sp>
        <p:nvSpPr>
          <p:cNvPr id="6" name="Shape 2"/>
          <p:cNvSpPr/>
          <p:nvPr/>
        </p:nvSpPr>
        <p:spPr>
          <a:xfrm>
            <a:off x="793790" y="5665470"/>
            <a:ext cx="362903" cy="362903"/>
          </a:xfrm>
          <a:prstGeom prst="roundRect">
            <a:avLst>
              <a:gd name="adj" fmla="val 25194296"/>
            </a:avLst>
          </a:prstGeom>
          <a:noFill/>
          <a:ln w="7620">
            <a:solidFill>
              <a:srgbClr val="FFFFFF"/>
            </a:solidFill>
            <a:prstDash val="solid"/>
          </a:ln>
        </p:spPr>
      </p:sp>
      <p:pic>
        <p:nvPicPr>
          <p:cNvPr id="7" name="Image 2" descr="preencoded.png">    </p:cNvPr>
          <p:cNvPicPr>
            <a:picLocks noChangeAspect="1"/>
          </p:cNvPicPr>
          <p:nvPr/>
        </p:nvPicPr>
        <p:blipFill>
          <a:blip r:embed="rId3"/>
          <a:stretch>
            <a:fillRect/>
          </a:stretch>
        </p:blipFill>
        <p:spPr>
          <a:xfrm>
            <a:off x="801410" y="5673090"/>
            <a:ext cx="347663" cy="347663"/>
          </a:xfrm>
          <a:prstGeom prst="rect">
            <a:avLst/>
          </a:prstGeom>
        </p:spPr>
      </p:pic>
      <p:sp>
        <p:nvSpPr>
          <p:cNvPr id="8" name="Text 3"/>
          <p:cNvSpPr/>
          <p:nvPr/>
        </p:nvSpPr>
        <p:spPr>
          <a:xfrm>
            <a:off x="1270040" y="5648563"/>
            <a:ext cx="5637728" cy="396835"/>
          </a:xfrm>
          <a:prstGeom prst="rect">
            <a:avLst/>
          </a:prstGeom>
          <a:noFill/>
          <a:ln/>
        </p:spPr>
        <p:txBody>
          <a:bodyPr wrap="none" lIns="0" tIns="0" rIns="0" bIns="0" rtlCol="0" anchor="t"/>
          <a:lstStyle/>
          <a:p>
            <a:pPr algn="l" indent="0" marL="0">
              <a:lnSpc>
                <a:spcPts val="3100"/>
              </a:lnSpc>
              <a:buNone/>
            </a:pPr>
            <a:r>
              <a:rPr lang="en-US" sz="2200" b="1" dirty="0">
                <a:solidFill>
                  <a:srgbClr val="E0D6DE"/>
                </a:solidFill>
                <a:latin typeface="Fira Sans Bold" pitchFamily="34" charset="0"/>
                <a:ea typeface="Fira Sans Bold" pitchFamily="34" charset="-122"/>
                <a:cs typeface="Fira Sans Bold" pitchFamily="34" charset="-120"/>
              </a:rPr>
              <a:t>por DIEGO ANDRE MAZARIEGOS BARRIENTOS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38839" y="1858804"/>
            <a:ext cx="5008602" cy="4511993"/>
          </a:xfrm>
          <a:prstGeom prst="rect">
            <a:avLst/>
          </a:prstGeom>
        </p:spPr>
      </p:pic>
      <p:sp>
        <p:nvSpPr>
          <p:cNvPr id="4" name="Text 0"/>
          <p:cNvSpPr/>
          <p:nvPr/>
        </p:nvSpPr>
        <p:spPr>
          <a:xfrm>
            <a:off x="6155174" y="559475"/>
            <a:ext cx="4777621" cy="597218"/>
          </a:xfrm>
          <a:prstGeom prst="rect">
            <a:avLst/>
          </a:prstGeom>
          <a:noFill/>
          <a:ln/>
        </p:spPr>
        <p:txBody>
          <a:bodyPr wrap="none" lIns="0" tIns="0" rIns="0" bIns="0" rtlCol="0" anchor="t"/>
          <a:lstStyle/>
          <a:p>
            <a:pPr indent="0" marL="0">
              <a:lnSpc>
                <a:spcPts val="4700"/>
              </a:lnSpc>
              <a:buNone/>
            </a:pPr>
            <a:r>
              <a:rPr lang="en-US" sz="3750" dirty="0">
                <a:solidFill>
                  <a:srgbClr val="FBF3FA"/>
                </a:solidFill>
                <a:latin typeface="Fira Mono Medium" pitchFamily="34" charset="0"/>
                <a:ea typeface="Fira Mono Medium" pitchFamily="34" charset="-122"/>
                <a:cs typeface="Fira Mono Medium" pitchFamily="34" charset="-120"/>
              </a:rPr>
              <a:t>¿Qué es NoSQL?</a:t>
            </a:r>
            <a:endParaRPr lang="en-US" sz="3750" dirty="0"/>
          </a:p>
        </p:txBody>
      </p:sp>
      <p:pic>
        <p:nvPicPr>
          <p:cNvPr id="5" name="Image 2" descr="preencoded.png">    </p:cNvPr>
          <p:cNvPicPr>
            <a:picLocks noChangeAspect="1"/>
          </p:cNvPicPr>
          <p:nvPr/>
        </p:nvPicPr>
        <p:blipFill>
          <a:blip r:embed="rId3"/>
          <a:stretch>
            <a:fillRect/>
          </a:stretch>
        </p:blipFill>
        <p:spPr>
          <a:xfrm>
            <a:off x="6155174" y="1443276"/>
            <a:ext cx="477679" cy="477679"/>
          </a:xfrm>
          <a:prstGeom prst="rect">
            <a:avLst/>
          </a:prstGeom>
        </p:spPr>
      </p:pic>
      <p:sp>
        <p:nvSpPr>
          <p:cNvPr id="6" name="Text 1"/>
          <p:cNvSpPr/>
          <p:nvPr/>
        </p:nvSpPr>
        <p:spPr>
          <a:xfrm>
            <a:off x="6155174" y="2112050"/>
            <a:ext cx="2864763" cy="298490"/>
          </a:xfrm>
          <a:prstGeom prst="rect">
            <a:avLst/>
          </a:prstGeom>
          <a:noFill/>
          <a:ln/>
        </p:spPr>
        <p:txBody>
          <a:bodyPr wrap="none" lIns="0" tIns="0" rIns="0" bIns="0" rtlCol="0" anchor="t"/>
          <a:lstStyle/>
          <a:p>
            <a:pPr algn="l" indent="0" marL="0">
              <a:lnSpc>
                <a:spcPts val="2350"/>
              </a:lnSpc>
              <a:buNone/>
            </a:pPr>
            <a:r>
              <a:rPr lang="en-US" sz="1850" dirty="0">
                <a:solidFill>
                  <a:srgbClr val="E0D6DE"/>
                </a:solidFill>
                <a:latin typeface="Fira Mono Medium" pitchFamily="34" charset="0"/>
                <a:ea typeface="Fira Mono Medium" pitchFamily="34" charset="-122"/>
                <a:cs typeface="Fira Mono Medium" pitchFamily="34" charset="-120"/>
              </a:rPr>
              <a:t>Bases de Datos NoSQL</a:t>
            </a:r>
            <a:endParaRPr lang="en-US" sz="1850" dirty="0"/>
          </a:p>
        </p:txBody>
      </p:sp>
      <p:sp>
        <p:nvSpPr>
          <p:cNvPr id="7" name="Text 2"/>
          <p:cNvSpPr/>
          <p:nvPr/>
        </p:nvSpPr>
        <p:spPr>
          <a:xfrm>
            <a:off x="6155174" y="2525197"/>
            <a:ext cx="7806452" cy="611505"/>
          </a:xfrm>
          <a:prstGeom prst="rect">
            <a:avLst/>
          </a:prstGeom>
          <a:noFill/>
          <a:ln/>
        </p:spPr>
        <p:txBody>
          <a:bodyPr wrap="square" lIns="0" tIns="0" rIns="0" bIns="0" rtlCol="0" anchor="t"/>
          <a:lstStyle/>
          <a:p>
            <a:pPr algn="l" indent="0" marL="0">
              <a:lnSpc>
                <a:spcPts val="2400"/>
              </a:lnSpc>
              <a:buNone/>
            </a:pPr>
            <a:r>
              <a:rPr lang="en-US" sz="1500" dirty="0">
                <a:solidFill>
                  <a:srgbClr val="E0D6DE"/>
                </a:solidFill>
                <a:latin typeface="Fira Sans" pitchFamily="34" charset="0"/>
                <a:ea typeface="Fira Sans" pitchFamily="34" charset="-122"/>
                <a:cs typeface="Fira Sans" pitchFamily="34" charset="-120"/>
              </a:rPr>
              <a:t>NoSQL se refiere a una clase de sistemas de gestión de bases de datos que se diferencian de los sistemas de bases de datos relacionales tradicionales.</a:t>
            </a:r>
            <a:endParaRPr lang="en-US" sz="1500" dirty="0"/>
          </a:p>
        </p:txBody>
      </p:sp>
      <p:pic>
        <p:nvPicPr>
          <p:cNvPr id="8" name="Image 3" descr="preencoded.png">    </p:cNvPr>
          <p:cNvPicPr>
            <a:picLocks noChangeAspect="1"/>
          </p:cNvPicPr>
          <p:nvPr/>
        </p:nvPicPr>
        <p:blipFill>
          <a:blip r:embed="rId4"/>
          <a:stretch>
            <a:fillRect/>
          </a:stretch>
        </p:blipFill>
        <p:spPr>
          <a:xfrm>
            <a:off x="6155174" y="3709988"/>
            <a:ext cx="477679" cy="477679"/>
          </a:xfrm>
          <a:prstGeom prst="rect">
            <a:avLst/>
          </a:prstGeom>
        </p:spPr>
      </p:pic>
      <p:sp>
        <p:nvSpPr>
          <p:cNvPr id="9" name="Text 3"/>
          <p:cNvSpPr/>
          <p:nvPr/>
        </p:nvSpPr>
        <p:spPr>
          <a:xfrm>
            <a:off x="6155174" y="4378762"/>
            <a:ext cx="2721531" cy="298490"/>
          </a:xfrm>
          <a:prstGeom prst="rect">
            <a:avLst/>
          </a:prstGeom>
          <a:noFill/>
          <a:ln/>
        </p:spPr>
        <p:txBody>
          <a:bodyPr wrap="none" lIns="0" tIns="0" rIns="0" bIns="0" rtlCol="0" anchor="t"/>
          <a:lstStyle/>
          <a:p>
            <a:pPr algn="l" indent="0" marL="0">
              <a:lnSpc>
                <a:spcPts val="2350"/>
              </a:lnSpc>
              <a:buNone/>
            </a:pPr>
            <a:r>
              <a:rPr lang="en-US" sz="1850" dirty="0">
                <a:solidFill>
                  <a:srgbClr val="E0D6DE"/>
                </a:solidFill>
                <a:latin typeface="Fira Mono Medium" pitchFamily="34" charset="0"/>
                <a:ea typeface="Fira Mono Medium" pitchFamily="34" charset="-122"/>
                <a:cs typeface="Fira Mono Medium" pitchFamily="34" charset="-120"/>
              </a:rPr>
              <a:t>Estructura Flexible</a:t>
            </a:r>
            <a:endParaRPr lang="en-US" sz="1850" dirty="0"/>
          </a:p>
        </p:txBody>
      </p:sp>
      <p:sp>
        <p:nvSpPr>
          <p:cNvPr id="10" name="Text 4"/>
          <p:cNvSpPr/>
          <p:nvPr/>
        </p:nvSpPr>
        <p:spPr>
          <a:xfrm>
            <a:off x="6155174" y="4791908"/>
            <a:ext cx="7806452" cy="611505"/>
          </a:xfrm>
          <a:prstGeom prst="rect">
            <a:avLst/>
          </a:prstGeom>
          <a:noFill/>
          <a:ln/>
        </p:spPr>
        <p:txBody>
          <a:bodyPr wrap="square" lIns="0" tIns="0" rIns="0" bIns="0" rtlCol="0" anchor="t"/>
          <a:lstStyle/>
          <a:p>
            <a:pPr algn="l" indent="0" marL="0">
              <a:lnSpc>
                <a:spcPts val="2400"/>
              </a:lnSpc>
              <a:buNone/>
            </a:pPr>
            <a:r>
              <a:rPr lang="en-US" sz="1500" dirty="0">
                <a:solidFill>
                  <a:srgbClr val="E0D6DE"/>
                </a:solidFill>
                <a:latin typeface="Fira Sans" pitchFamily="34" charset="0"/>
                <a:ea typeface="Fira Sans" pitchFamily="34" charset="-122"/>
                <a:cs typeface="Fira Sans" pitchFamily="34" charset="-120"/>
              </a:rPr>
              <a:t>A diferencia de las bases de datos SQL, las bases de datos NoSQL no se basan en el modelo relacional y tabular, sino en estructuras de datos más flexibles.</a:t>
            </a:r>
            <a:endParaRPr lang="en-US" sz="1500" dirty="0"/>
          </a:p>
        </p:txBody>
      </p:sp>
      <p:pic>
        <p:nvPicPr>
          <p:cNvPr id="11" name="Image 4" descr="preencoded.png">    </p:cNvPr>
          <p:cNvPicPr>
            <a:picLocks noChangeAspect="1"/>
          </p:cNvPicPr>
          <p:nvPr/>
        </p:nvPicPr>
        <p:blipFill>
          <a:blip r:embed="rId5"/>
          <a:stretch>
            <a:fillRect/>
          </a:stretch>
        </p:blipFill>
        <p:spPr>
          <a:xfrm>
            <a:off x="6155174" y="5976699"/>
            <a:ext cx="477679" cy="477679"/>
          </a:xfrm>
          <a:prstGeom prst="rect">
            <a:avLst/>
          </a:prstGeom>
        </p:spPr>
      </p:pic>
      <p:sp>
        <p:nvSpPr>
          <p:cNvPr id="12" name="Text 5"/>
          <p:cNvSpPr/>
          <p:nvPr/>
        </p:nvSpPr>
        <p:spPr>
          <a:xfrm>
            <a:off x="6155174" y="6645473"/>
            <a:ext cx="2578298" cy="298490"/>
          </a:xfrm>
          <a:prstGeom prst="rect">
            <a:avLst/>
          </a:prstGeom>
          <a:noFill/>
          <a:ln/>
        </p:spPr>
        <p:txBody>
          <a:bodyPr wrap="none" lIns="0" tIns="0" rIns="0" bIns="0" rtlCol="0" anchor="t"/>
          <a:lstStyle/>
          <a:p>
            <a:pPr algn="l" indent="0" marL="0">
              <a:lnSpc>
                <a:spcPts val="2350"/>
              </a:lnSpc>
              <a:buNone/>
            </a:pPr>
            <a:r>
              <a:rPr lang="en-US" sz="1850" dirty="0">
                <a:solidFill>
                  <a:srgbClr val="E0D6DE"/>
                </a:solidFill>
                <a:latin typeface="Fira Mono Medium" pitchFamily="34" charset="0"/>
                <a:ea typeface="Fira Mono Medium" pitchFamily="34" charset="-122"/>
                <a:cs typeface="Fira Mono Medium" pitchFamily="34" charset="-120"/>
              </a:rPr>
              <a:t>Alta Escalabilidad</a:t>
            </a:r>
            <a:endParaRPr lang="en-US" sz="1850" dirty="0"/>
          </a:p>
        </p:txBody>
      </p:sp>
      <p:sp>
        <p:nvSpPr>
          <p:cNvPr id="13" name="Text 6"/>
          <p:cNvSpPr/>
          <p:nvPr/>
        </p:nvSpPr>
        <p:spPr>
          <a:xfrm>
            <a:off x="6155174" y="7058620"/>
            <a:ext cx="7806452" cy="611505"/>
          </a:xfrm>
          <a:prstGeom prst="rect">
            <a:avLst/>
          </a:prstGeom>
          <a:noFill/>
          <a:ln/>
        </p:spPr>
        <p:txBody>
          <a:bodyPr wrap="square" lIns="0" tIns="0" rIns="0" bIns="0" rtlCol="0" anchor="t"/>
          <a:lstStyle/>
          <a:p>
            <a:pPr algn="l" indent="0" marL="0">
              <a:lnSpc>
                <a:spcPts val="2400"/>
              </a:lnSpc>
              <a:buNone/>
            </a:pPr>
            <a:r>
              <a:rPr lang="en-US" sz="1500" dirty="0">
                <a:solidFill>
                  <a:srgbClr val="E0D6DE"/>
                </a:solidFill>
                <a:latin typeface="Fira Sans" pitchFamily="34" charset="0"/>
                <a:ea typeface="Fira Sans" pitchFamily="34" charset="-122"/>
                <a:cs typeface="Fira Sans" pitchFamily="34" charset="-120"/>
              </a:rPr>
              <a:t>NoSQL está diseñado para escalar horizontalmente, distribuyendo datos a través de múltiples servidores para manejar grandes volúmenes de datos y alta carga de trabajo.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33475"/>
            <a:ext cx="9865400"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Tipos de Bases de Datos NoSQL</a:t>
            </a:r>
            <a:endParaRPr lang="en-US" sz="4450" dirty="0"/>
          </a:p>
        </p:txBody>
      </p:sp>
      <p:pic>
        <p:nvPicPr>
          <p:cNvPr id="3" name="Image 0" descr="preencoded.png">    </p:cNvPr>
          <p:cNvPicPr>
            <a:picLocks noChangeAspect="1"/>
          </p:cNvPicPr>
          <p:nvPr/>
        </p:nvPicPr>
        <p:blipFill>
          <a:blip r:embed="rId1"/>
          <a:stretch>
            <a:fillRect/>
          </a:stretch>
        </p:blipFill>
        <p:spPr>
          <a:xfrm>
            <a:off x="793790" y="2295882"/>
            <a:ext cx="3005495" cy="1857494"/>
          </a:xfrm>
          <a:prstGeom prst="rect">
            <a:avLst/>
          </a:prstGeom>
        </p:spPr>
      </p:pic>
      <p:sp>
        <p:nvSpPr>
          <p:cNvPr id="4" name="Text 1"/>
          <p:cNvSpPr/>
          <p:nvPr/>
        </p:nvSpPr>
        <p:spPr>
          <a:xfrm>
            <a:off x="793790" y="4436864"/>
            <a:ext cx="3005495" cy="708660"/>
          </a:xfrm>
          <a:prstGeom prst="rect">
            <a:avLst/>
          </a:prstGeom>
          <a:noFill/>
          <a:ln/>
        </p:spPr>
        <p:txBody>
          <a:bodyPr wrap="square" lIns="0" tIns="0" rIns="0" bIns="0" rtlCol="0" anchor="t"/>
          <a:lstStyle/>
          <a:p>
            <a:pPr algn="l"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Bases de Datos Documentales</a:t>
            </a:r>
            <a:endParaRPr lang="en-US" sz="2200" dirty="0"/>
          </a:p>
        </p:txBody>
      </p:sp>
      <p:sp>
        <p:nvSpPr>
          <p:cNvPr id="5" name="Text 2"/>
          <p:cNvSpPr/>
          <p:nvPr/>
        </p:nvSpPr>
        <p:spPr>
          <a:xfrm>
            <a:off x="793790" y="5281613"/>
            <a:ext cx="3005495" cy="1814513"/>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Almacenan datos en forma de documentos, como JSON o XML, permitiendo una estructura flexible y jerárquica.</a:t>
            </a:r>
            <a:endParaRPr lang="en-US" sz="1750" dirty="0"/>
          </a:p>
        </p:txBody>
      </p:sp>
      <p:pic>
        <p:nvPicPr>
          <p:cNvPr id="6" name="Image 1" descr="preencoded.png">    </p:cNvPr>
          <p:cNvPicPr>
            <a:picLocks noChangeAspect="1"/>
          </p:cNvPicPr>
          <p:nvPr/>
        </p:nvPicPr>
        <p:blipFill>
          <a:blip r:embed="rId2"/>
          <a:stretch>
            <a:fillRect/>
          </a:stretch>
        </p:blipFill>
        <p:spPr>
          <a:xfrm>
            <a:off x="4139446" y="2295882"/>
            <a:ext cx="3005614" cy="1857494"/>
          </a:xfrm>
          <a:prstGeom prst="rect">
            <a:avLst/>
          </a:prstGeom>
        </p:spPr>
      </p:pic>
      <p:sp>
        <p:nvSpPr>
          <p:cNvPr id="7" name="Text 3"/>
          <p:cNvSpPr/>
          <p:nvPr/>
        </p:nvSpPr>
        <p:spPr>
          <a:xfrm>
            <a:off x="4139446" y="4436864"/>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Bases de Datos Clave-Valor</a:t>
            </a:r>
            <a:endParaRPr lang="en-US" sz="2200" dirty="0"/>
          </a:p>
        </p:txBody>
      </p:sp>
      <p:sp>
        <p:nvSpPr>
          <p:cNvPr id="8" name="Text 4"/>
          <p:cNvSpPr/>
          <p:nvPr/>
        </p:nvSpPr>
        <p:spPr>
          <a:xfrm>
            <a:off x="4139446" y="5281613"/>
            <a:ext cx="3005614" cy="1451610"/>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Utilizan un esquema simple de pares clave-valor para almacenar y recuperar datos de manera rápida y eficiente.</a:t>
            </a:r>
            <a:endParaRPr lang="en-US" sz="1750" dirty="0"/>
          </a:p>
        </p:txBody>
      </p:sp>
      <p:pic>
        <p:nvPicPr>
          <p:cNvPr id="9" name="Image 2" descr="preencoded.png">    </p:cNvPr>
          <p:cNvPicPr>
            <a:picLocks noChangeAspect="1"/>
          </p:cNvPicPr>
          <p:nvPr/>
        </p:nvPicPr>
        <p:blipFill>
          <a:blip r:embed="rId3"/>
          <a:stretch>
            <a:fillRect/>
          </a:stretch>
        </p:blipFill>
        <p:spPr>
          <a:xfrm>
            <a:off x="7485221" y="2295882"/>
            <a:ext cx="3005614" cy="1857494"/>
          </a:xfrm>
          <a:prstGeom prst="rect">
            <a:avLst/>
          </a:prstGeom>
        </p:spPr>
      </p:pic>
      <p:sp>
        <p:nvSpPr>
          <p:cNvPr id="10" name="Text 5"/>
          <p:cNvSpPr/>
          <p:nvPr/>
        </p:nvSpPr>
        <p:spPr>
          <a:xfrm>
            <a:off x="7485221" y="4436864"/>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Bases de Datos Columnares</a:t>
            </a:r>
            <a:endParaRPr lang="en-US" sz="2200" dirty="0"/>
          </a:p>
        </p:txBody>
      </p:sp>
      <p:sp>
        <p:nvSpPr>
          <p:cNvPr id="11" name="Text 6"/>
          <p:cNvSpPr/>
          <p:nvPr/>
        </p:nvSpPr>
        <p:spPr>
          <a:xfrm>
            <a:off x="7485221" y="5281613"/>
            <a:ext cx="3005614" cy="1451610"/>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Organizan los datos por columnas en lugar de filas, lo que las hace eficientes para análisis y consultas.</a:t>
            </a:r>
            <a:endParaRPr lang="en-US" sz="1750" dirty="0"/>
          </a:p>
        </p:txBody>
      </p:sp>
      <p:pic>
        <p:nvPicPr>
          <p:cNvPr id="12" name="Image 3" descr="preencoded.png">    </p:cNvPr>
          <p:cNvPicPr>
            <a:picLocks noChangeAspect="1"/>
          </p:cNvPicPr>
          <p:nvPr/>
        </p:nvPicPr>
        <p:blipFill>
          <a:blip r:embed="rId4"/>
          <a:stretch>
            <a:fillRect/>
          </a:stretch>
        </p:blipFill>
        <p:spPr>
          <a:xfrm>
            <a:off x="10830997" y="2295882"/>
            <a:ext cx="3005614" cy="1857494"/>
          </a:xfrm>
          <a:prstGeom prst="rect">
            <a:avLst/>
          </a:prstGeom>
        </p:spPr>
      </p:pic>
      <p:sp>
        <p:nvSpPr>
          <p:cNvPr id="13" name="Text 7"/>
          <p:cNvSpPr/>
          <p:nvPr/>
        </p:nvSpPr>
        <p:spPr>
          <a:xfrm>
            <a:off x="10830997" y="4436864"/>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Bases de Datos de Grafos</a:t>
            </a:r>
            <a:endParaRPr lang="en-US" sz="2200" dirty="0"/>
          </a:p>
        </p:txBody>
      </p:sp>
      <p:sp>
        <p:nvSpPr>
          <p:cNvPr id="14" name="Text 8"/>
          <p:cNvSpPr/>
          <p:nvPr/>
        </p:nvSpPr>
        <p:spPr>
          <a:xfrm>
            <a:off x="10830997" y="5281613"/>
            <a:ext cx="3005614" cy="1814513"/>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Modelan los datos como una red de nodos y relaciones, siendo ideales para aplicaciones con estructuras complejas.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17107"/>
            <a:ext cx="9185077"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Bases de Datos Documentales</a:t>
            </a:r>
            <a:endParaRPr lang="en-US" sz="4450" dirty="0"/>
          </a:p>
        </p:txBody>
      </p:sp>
      <p:sp>
        <p:nvSpPr>
          <p:cNvPr id="3" name="Text 1"/>
          <p:cNvSpPr/>
          <p:nvPr/>
        </p:nvSpPr>
        <p:spPr>
          <a:xfrm>
            <a:off x="793790" y="2870121"/>
            <a:ext cx="6244709" cy="1814513"/>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documentales, como MongoDB, almacenan datos en formato de documentos flexibles, generalmente en JSON o XML. Cada documento puede tener una estructura única, lo que permite una mayor flexibilidad y adaptabilidad a las necesidades cambiantes de los datos.</a:t>
            </a:r>
            <a:endParaRPr lang="en-US" sz="1750" dirty="0"/>
          </a:p>
        </p:txBody>
      </p:sp>
      <p:sp>
        <p:nvSpPr>
          <p:cNvPr id="4" name="Text 2"/>
          <p:cNvSpPr/>
          <p:nvPr/>
        </p:nvSpPr>
        <p:spPr>
          <a:xfrm>
            <a:off x="793790" y="4888706"/>
            <a:ext cx="6244709"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A diferencia de las bases de datos relacionales, las bases de datos documentales no requieren un esquema rígido, permitiendo una rápida iteración y desarrollo ágil de aplicaciones.</a:t>
            </a:r>
            <a:endParaRPr lang="en-US" sz="1750" dirty="0"/>
          </a:p>
        </p:txBody>
      </p:sp>
      <p:pic>
        <p:nvPicPr>
          <p:cNvPr id="5" name="Image 0" descr="preencoded.png">    </p:cNvPr>
          <p:cNvPicPr>
            <a:picLocks noChangeAspect="1"/>
          </p:cNvPicPr>
          <p:nvPr/>
        </p:nvPicPr>
        <p:blipFill>
          <a:blip r:embed="rId1"/>
          <a:stretch>
            <a:fillRect/>
          </a:stretch>
        </p:blipFill>
        <p:spPr>
          <a:xfrm>
            <a:off x="7599521" y="2921198"/>
            <a:ext cx="6244709" cy="3436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7488" y="931545"/>
            <a:ext cx="4919305" cy="6366510"/>
          </a:xfrm>
          <a:prstGeom prst="rect">
            <a:avLst/>
          </a:prstGeom>
        </p:spPr>
      </p:pic>
      <p:sp>
        <p:nvSpPr>
          <p:cNvPr id="4" name="Text 0"/>
          <p:cNvSpPr/>
          <p:nvPr/>
        </p:nvSpPr>
        <p:spPr>
          <a:xfrm>
            <a:off x="793790" y="1838206"/>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Bases de Datos Clave-Valor</a:t>
            </a:r>
            <a:endParaRPr lang="en-US" sz="4450" dirty="0"/>
          </a:p>
        </p:txBody>
      </p:sp>
      <p:sp>
        <p:nvSpPr>
          <p:cNvPr id="5" name="Text 1"/>
          <p:cNvSpPr/>
          <p:nvPr/>
        </p:nvSpPr>
        <p:spPr>
          <a:xfrm>
            <a:off x="793790" y="3595926"/>
            <a:ext cx="7556421" cy="1088708"/>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clave-valor son un tipo de base de datos NoSQL que almacenan datos en pares de clave-valor. Cada clave es única y se asocia con un valor, que puede ser un simple dato o un objeto complejo.</a:t>
            </a:r>
            <a:endParaRPr lang="en-US" sz="1750" dirty="0"/>
          </a:p>
        </p:txBody>
      </p:sp>
      <p:sp>
        <p:nvSpPr>
          <p:cNvPr id="6" name="Text 2"/>
          <p:cNvSpPr/>
          <p:nvPr/>
        </p:nvSpPr>
        <p:spPr>
          <a:xfrm>
            <a:off x="793790" y="4939784"/>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Este modelo de datos es simple y eficiente, lo que lo hace ideal para aplicaciones que requieren un acceso rápido a datos sin necesidad de complejas consultas. Ejemplos de uso incluyen almacenamiento de sesiones, caché de aplicaciones y gestión de preferencias de usuario.</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84503"/>
            <a:ext cx="8504634"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Bases de Datos Columnares</a:t>
            </a:r>
            <a:endParaRPr lang="en-US" sz="4450" dirty="0"/>
          </a:p>
        </p:txBody>
      </p:sp>
      <p:pic>
        <p:nvPicPr>
          <p:cNvPr id="3" name="Image 0" descr="preencoded.png">    </p:cNvPr>
          <p:cNvPicPr>
            <a:picLocks noChangeAspect="1"/>
          </p:cNvPicPr>
          <p:nvPr/>
        </p:nvPicPr>
        <p:blipFill>
          <a:blip r:embed="rId1"/>
          <a:stretch>
            <a:fillRect/>
          </a:stretch>
        </p:blipFill>
        <p:spPr>
          <a:xfrm>
            <a:off x="793790" y="1946910"/>
            <a:ext cx="4120753" cy="2546747"/>
          </a:xfrm>
          <a:prstGeom prst="rect">
            <a:avLst/>
          </a:prstGeom>
        </p:spPr>
      </p:pic>
      <p:sp>
        <p:nvSpPr>
          <p:cNvPr id="4" name="Text 1"/>
          <p:cNvSpPr/>
          <p:nvPr/>
        </p:nvSpPr>
        <p:spPr>
          <a:xfrm>
            <a:off x="793790" y="4777145"/>
            <a:ext cx="3740587"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Estructura de Columnas</a:t>
            </a:r>
            <a:endParaRPr lang="en-US" sz="2200" dirty="0"/>
          </a:p>
        </p:txBody>
      </p:sp>
      <p:sp>
        <p:nvSpPr>
          <p:cNvPr id="5" name="Text 2"/>
          <p:cNvSpPr/>
          <p:nvPr/>
        </p:nvSpPr>
        <p:spPr>
          <a:xfrm>
            <a:off x="793790" y="5267563"/>
            <a:ext cx="4120753" cy="1451610"/>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columnares organizan los datos en columnas en lugar de filas, lo que permite un acceso rápido y eficiente a datos específicos.</a:t>
            </a:r>
            <a:endParaRPr lang="en-US" sz="1750" dirty="0"/>
          </a:p>
        </p:txBody>
      </p:sp>
      <p:pic>
        <p:nvPicPr>
          <p:cNvPr id="6" name="Image 1" descr="preencoded.png">    </p:cNvPr>
          <p:cNvPicPr>
            <a:picLocks noChangeAspect="1"/>
          </p:cNvPicPr>
          <p:nvPr/>
        </p:nvPicPr>
        <p:blipFill>
          <a:blip r:embed="rId2"/>
          <a:stretch>
            <a:fillRect/>
          </a:stretch>
        </p:blipFill>
        <p:spPr>
          <a:xfrm>
            <a:off x="5254704" y="1946910"/>
            <a:ext cx="4120872" cy="2546866"/>
          </a:xfrm>
          <a:prstGeom prst="rect">
            <a:avLst/>
          </a:prstGeom>
        </p:spPr>
      </p:pic>
      <p:sp>
        <p:nvSpPr>
          <p:cNvPr id="7" name="Text 3"/>
          <p:cNvSpPr/>
          <p:nvPr/>
        </p:nvSpPr>
        <p:spPr>
          <a:xfrm>
            <a:off x="5254704" y="4777264"/>
            <a:ext cx="2890480"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Análisis de Datos</a:t>
            </a:r>
            <a:endParaRPr lang="en-US" sz="2200" dirty="0"/>
          </a:p>
        </p:txBody>
      </p:sp>
      <p:sp>
        <p:nvSpPr>
          <p:cNvPr id="8" name="Text 4"/>
          <p:cNvSpPr/>
          <p:nvPr/>
        </p:nvSpPr>
        <p:spPr>
          <a:xfrm>
            <a:off x="5254704" y="5267682"/>
            <a:ext cx="4120872" cy="217741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Estas bases de datos son especialmente útiles para análisis de big data y aplicaciones de inteligencia de negocios que requieren consultas rápidas sobre grandes conjuntos de datos.</a:t>
            </a:r>
            <a:endParaRPr lang="en-US" sz="1750" dirty="0"/>
          </a:p>
        </p:txBody>
      </p:sp>
      <p:pic>
        <p:nvPicPr>
          <p:cNvPr id="9" name="Image 2" descr="preencoded.png">    </p:cNvPr>
          <p:cNvPicPr>
            <a:picLocks noChangeAspect="1"/>
          </p:cNvPicPr>
          <p:nvPr/>
        </p:nvPicPr>
        <p:blipFill>
          <a:blip r:embed="rId3"/>
          <a:stretch>
            <a:fillRect/>
          </a:stretch>
        </p:blipFill>
        <p:spPr>
          <a:xfrm>
            <a:off x="9715738" y="1946910"/>
            <a:ext cx="4120753" cy="2546747"/>
          </a:xfrm>
          <a:prstGeom prst="rect">
            <a:avLst/>
          </a:prstGeom>
        </p:spPr>
      </p:pic>
      <p:sp>
        <p:nvSpPr>
          <p:cNvPr id="10" name="Text 5"/>
          <p:cNvSpPr/>
          <p:nvPr/>
        </p:nvSpPr>
        <p:spPr>
          <a:xfrm>
            <a:off x="9715738" y="4777145"/>
            <a:ext cx="4080629"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Almacenamiento Eficiente</a:t>
            </a:r>
            <a:endParaRPr lang="en-US" sz="2200" dirty="0"/>
          </a:p>
        </p:txBody>
      </p:sp>
      <p:sp>
        <p:nvSpPr>
          <p:cNvPr id="11" name="Text 6"/>
          <p:cNvSpPr/>
          <p:nvPr/>
        </p:nvSpPr>
        <p:spPr>
          <a:xfrm>
            <a:off x="9715738" y="5267563"/>
            <a:ext cx="4120753" cy="217741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Fira Sans" pitchFamily="34" charset="0"/>
                <a:ea typeface="Fira Sans" pitchFamily="34" charset="-122"/>
                <a:cs typeface="Fira Sans" pitchFamily="34" charset="-120"/>
              </a:rPr>
              <a:t>El almacenamiento por columna permite una mayor compresión de datos y un uso más eficiente del espacio de almacenamiento en comparación con las bases de datos relacionales.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7488" y="2589728"/>
            <a:ext cx="4919305" cy="3050024"/>
          </a:xfrm>
          <a:prstGeom prst="rect">
            <a:avLst/>
          </a:prstGeom>
        </p:spPr>
      </p:pic>
      <p:sp>
        <p:nvSpPr>
          <p:cNvPr id="4" name="Text 0"/>
          <p:cNvSpPr/>
          <p:nvPr/>
        </p:nvSpPr>
        <p:spPr>
          <a:xfrm>
            <a:off x="793790" y="1656755"/>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Bases de Datos de Grafos</a:t>
            </a:r>
            <a:endParaRPr lang="en-US" sz="4450" dirty="0"/>
          </a:p>
        </p:txBody>
      </p:sp>
      <p:sp>
        <p:nvSpPr>
          <p:cNvPr id="5" name="Text 1"/>
          <p:cNvSpPr/>
          <p:nvPr/>
        </p:nvSpPr>
        <p:spPr>
          <a:xfrm>
            <a:off x="793790" y="3414474"/>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de grafos representan relaciones complejas entre entidades utilizando una estructura de nodos y aristas. Esta aproximación es particularmente eficaz para analizar redes sociales, sistemas de recomendación y aplicaciones de inteligencia artificial.</a:t>
            </a:r>
            <a:endParaRPr lang="en-US" sz="1750" dirty="0"/>
          </a:p>
        </p:txBody>
      </p:sp>
      <p:sp>
        <p:nvSpPr>
          <p:cNvPr id="6" name="Text 2"/>
          <p:cNvSpPr/>
          <p:nvPr/>
        </p:nvSpPr>
        <p:spPr>
          <a:xfrm>
            <a:off x="793790" y="5121235"/>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de grafos destacan por su capacidad para modelar e interrogar datos con estructuras jerárquicas y conectadas, lo que las convierte en una opción ideal para aplicaciones que requieren análisis de patrones y recorridos a través de conexiones entre datos.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92637"/>
            <a:ext cx="12927092"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Ventajas y desventajas de NoSQL vs SQL</a:t>
            </a:r>
            <a:endParaRPr lang="en-US" sz="4450" dirty="0"/>
          </a:p>
        </p:txBody>
      </p:sp>
      <p:sp>
        <p:nvSpPr>
          <p:cNvPr id="3" name="Text 1"/>
          <p:cNvSpPr/>
          <p:nvPr/>
        </p:nvSpPr>
        <p:spPr>
          <a:xfrm>
            <a:off x="793790" y="2368391"/>
            <a:ext cx="2845594" cy="708660"/>
          </a:xfrm>
          <a:prstGeom prst="rect">
            <a:avLst/>
          </a:prstGeom>
          <a:noFill/>
          <a:ln/>
        </p:spPr>
        <p:txBody>
          <a:bodyPr wrap="square" lIns="0" tIns="0" rIns="0" bIns="0" rtlCol="0" anchor="t"/>
          <a:lstStyle/>
          <a:p>
            <a:pPr indent="0" marL="0">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Ventajas de NoSQL</a:t>
            </a:r>
            <a:endParaRPr lang="en-US" sz="2200" dirty="0"/>
          </a:p>
        </p:txBody>
      </p:sp>
      <p:sp>
        <p:nvSpPr>
          <p:cNvPr id="4" name="Text 2"/>
          <p:cNvSpPr/>
          <p:nvPr/>
        </p:nvSpPr>
        <p:spPr>
          <a:xfrm>
            <a:off x="793790" y="3303865"/>
            <a:ext cx="2845594" cy="3629025"/>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Mayor escalabilidad y rendimiento para grandes volúmenes de datos. Flexibilidad en el esquema, adaptándose mejor a cambios en los datos. Mejor rendimiento para ciertos tipos de consultas, como búsquedas y análisis en tiempo real.</a:t>
            </a:r>
            <a:endParaRPr lang="en-US" sz="1750" dirty="0"/>
          </a:p>
        </p:txBody>
      </p:sp>
      <p:sp>
        <p:nvSpPr>
          <p:cNvPr id="5" name="Text 3"/>
          <p:cNvSpPr/>
          <p:nvPr/>
        </p:nvSpPr>
        <p:spPr>
          <a:xfrm>
            <a:off x="4200406" y="2368391"/>
            <a:ext cx="2845594" cy="708660"/>
          </a:xfrm>
          <a:prstGeom prst="rect">
            <a:avLst/>
          </a:prstGeom>
          <a:noFill/>
          <a:ln/>
        </p:spPr>
        <p:txBody>
          <a:bodyPr wrap="square" lIns="0" tIns="0" rIns="0" bIns="0" rtlCol="0" anchor="t"/>
          <a:lstStyle/>
          <a:p>
            <a:pPr indent="0" marL="0">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Desventajas de NoSQL</a:t>
            </a:r>
            <a:endParaRPr lang="en-US" sz="2200" dirty="0"/>
          </a:p>
        </p:txBody>
      </p:sp>
      <p:sp>
        <p:nvSpPr>
          <p:cNvPr id="6" name="Text 4"/>
          <p:cNvSpPr/>
          <p:nvPr/>
        </p:nvSpPr>
        <p:spPr>
          <a:xfrm>
            <a:off x="4200406" y="3303865"/>
            <a:ext cx="2845594" cy="3266123"/>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Menor soporte para transacciones complejas y consistencia de datos. Menor madurez y soporte en el mercado. Requiere mayor experiencia técnica para su correcta implementación y mantenimiento.</a:t>
            </a:r>
            <a:endParaRPr lang="en-US" sz="1750" dirty="0"/>
          </a:p>
        </p:txBody>
      </p:sp>
      <p:sp>
        <p:nvSpPr>
          <p:cNvPr id="7" name="Text 5"/>
          <p:cNvSpPr/>
          <p:nvPr/>
        </p:nvSpPr>
        <p:spPr>
          <a:xfrm>
            <a:off x="7607022" y="2368391"/>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Ventajas de SQL</a:t>
            </a:r>
            <a:endParaRPr lang="en-US" sz="2200" dirty="0"/>
          </a:p>
        </p:txBody>
      </p:sp>
      <p:sp>
        <p:nvSpPr>
          <p:cNvPr id="8" name="Text 6"/>
          <p:cNvSpPr/>
          <p:nvPr/>
        </p:nvSpPr>
        <p:spPr>
          <a:xfrm>
            <a:off x="7607022" y="2949535"/>
            <a:ext cx="2845594" cy="3629025"/>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Robustez y madurez, con sólidas garantías de Atomicidad, Consistencia, Aislamiento y Durabilidad (ACID) de las transacciones. Mayor soporte y herramientas disponibles. Mejor opción para aplicaciones que requieren integridad de datos.</a:t>
            </a:r>
            <a:endParaRPr lang="en-US" sz="1750" dirty="0"/>
          </a:p>
        </p:txBody>
      </p:sp>
      <p:sp>
        <p:nvSpPr>
          <p:cNvPr id="9" name="Text 7"/>
          <p:cNvSpPr/>
          <p:nvPr/>
        </p:nvSpPr>
        <p:spPr>
          <a:xfrm>
            <a:off x="11013638" y="2368391"/>
            <a:ext cx="2845594" cy="708660"/>
          </a:xfrm>
          <a:prstGeom prst="rect">
            <a:avLst/>
          </a:prstGeom>
          <a:noFill/>
          <a:ln/>
        </p:spPr>
        <p:txBody>
          <a:bodyPr wrap="square" lIns="0" tIns="0" rIns="0" bIns="0" rtlCol="0" anchor="t"/>
          <a:lstStyle/>
          <a:p>
            <a:pPr indent="0" marL="0">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Desventajas de SQL</a:t>
            </a:r>
            <a:endParaRPr lang="en-US" sz="2200" dirty="0"/>
          </a:p>
        </p:txBody>
      </p:sp>
      <p:sp>
        <p:nvSpPr>
          <p:cNvPr id="10" name="Text 8"/>
          <p:cNvSpPr/>
          <p:nvPr/>
        </p:nvSpPr>
        <p:spPr>
          <a:xfrm>
            <a:off x="11013638" y="3303865"/>
            <a:ext cx="2845594" cy="290322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Menor escalabilidad y rendimiento para grandes volúmenes de datos y cargas de trabajo altamente paralelas. Esquemas más rígidos que dificultan adaptarse a cambios en los datos.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24533"/>
            <a:ext cx="7143988"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Casos de uso de NoSQL</a:t>
            </a:r>
            <a:endParaRPr lang="en-US" sz="4450" dirty="0"/>
          </a:p>
        </p:txBody>
      </p:sp>
      <p:sp>
        <p:nvSpPr>
          <p:cNvPr id="3" name="Shape 1"/>
          <p:cNvSpPr/>
          <p:nvPr/>
        </p:nvSpPr>
        <p:spPr>
          <a:xfrm>
            <a:off x="793790" y="2186940"/>
            <a:ext cx="6408063" cy="2395657"/>
          </a:xfrm>
          <a:prstGeom prst="roundRect">
            <a:avLst>
              <a:gd name="adj" fmla="val 1420"/>
            </a:avLst>
          </a:prstGeom>
          <a:solidFill>
            <a:srgbClr val="2E2E2F"/>
          </a:solidFill>
          <a:ln/>
        </p:spPr>
      </p:sp>
      <p:sp>
        <p:nvSpPr>
          <p:cNvPr id="4" name="Text 2"/>
          <p:cNvSpPr/>
          <p:nvPr/>
        </p:nvSpPr>
        <p:spPr>
          <a:xfrm>
            <a:off x="1020604" y="2413754"/>
            <a:ext cx="5780842"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Big Data y Análisis en Tiempo Real</a:t>
            </a:r>
            <a:endParaRPr lang="en-US" sz="2200" dirty="0"/>
          </a:p>
        </p:txBody>
      </p:sp>
      <p:sp>
        <p:nvSpPr>
          <p:cNvPr id="5" name="Text 3"/>
          <p:cNvSpPr/>
          <p:nvPr/>
        </p:nvSpPr>
        <p:spPr>
          <a:xfrm>
            <a:off x="1020604" y="2904173"/>
            <a:ext cx="5954435"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NoSQL son ideales para manejar grandes volúmenes de datos no estructurados y procesar información en tiempo real, como en aplicaciones web, IoT y análisis predictivo.</a:t>
            </a:r>
            <a:endParaRPr lang="en-US" sz="1750" dirty="0"/>
          </a:p>
        </p:txBody>
      </p:sp>
      <p:sp>
        <p:nvSpPr>
          <p:cNvPr id="6" name="Shape 4"/>
          <p:cNvSpPr/>
          <p:nvPr/>
        </p:nvSpPr>
        <p:spPr>
          <a:xfrm>
            <a:off x="7428667" y="2186940"/>
            <a:ext cx="6408063" cy="2395657"/>
          </a:xfrm>
          <a:prstGeom prst="roundRect">
            <a:avLst>
              <a:gd name="adj" fmla="val 1420"/>
            </a:avLst>
          </a:prstGeom>
          <a:solidFill>
            <a:srgbClr val="2E2E2F"/>
          </a:solidFill>
          <a:ln/>
        </p:spPr>
      </p:sp>
      <p:sp>
        <p:nvSpPr>
          <p:cNvPr id="7" name="Text 5"/>
          <p:cNvSpPr/>
          <p:nvPr/>
        </p:nvSpPr>
        <p:spPr>
          <a:xfrm>
            <a:off x="7655481" y="2413754"/>
            <a:ext cx="4250650"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Sistemas de Recomendación</a:t>
            </a:r>
            <a:endParaRPr lang="en-US" sz="2200" dirty="0"/>
          </a:p>
        </p:txBody>
      </p:sp>
      <p:sp>
        <p:nvSpPr>
          <p:cNvPr id="8" name="Text 6"/>
          <p:cNvSpPr/>
          <p:nvPr/>
        </p:nvSpPr>
        <p:spPr>
          <a:xfrm>
            <a:off x="7655481" y="2904173"/>
            <a:ext cx="5954435"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NoSQL permiten almacenar y procesar rápidamente datos de comportamiento de usuarios, preferencias y relaciones complejas, fundamentales para sistemas de recomendación efectivos.</a:t>
            </a:r>
            <a:endParaRPr lang="en-US" sz="1750" dirty="0"/>
          </a:p>
        </p:txBody>
      </p:sp>
      <p:sp>
        <p:nvSpPr>
          <p:cNvPr id="9" name="Shape 7"/>
          <p:cNvSpPr/>
          <p:nvPr/>
        </p:nvSpPr>
        <p:spPr>
          <a:xfrm>
            <a:off x="793790" y="4809411"/>
            <a:ext cx="6408063" cy="2395657"/>
          </a:xfrm>
          <a:prstGeom prst="roundRect">
            <a:avLst>
              <a:gd name="adj" fmla="val 1420"/>
            </a:avLst>
          </a:prstGeom>
          <a:solidFill>
            <a:srgbClr val="2E2E2F"/>
          </a:solidFill>
          <a:ln/>
        </p:spPr>
      </p:sp>
      <p:sp>
        <p:nvSpPr>
          <p:cNvPr id="10" name="Text 8"/>
          <p:cNvSpPr/>
          <p:nvPr/>
        </p:nvSpPr>
        <p:spPr>
          <a:xfrm>
            <a:off x="1020604" y="5036225"/>
            <a:ext cx="4930735"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Aplicaciones Móviles y Juegos</a:t>
            </a:r>
            <a:endParaRPr lang="en-US" sz="2200" dirty="0"/>
          </a:p>
        </p:txBody>
      </p:sp>
      <p:sp>
        <p:nvSpPr>
          <p:cNvPr id="11" name="Text 9"/>
          <p:cNvSpPr/>
          <p:nvPr/>
        </p:nvSpPr>
        <p:spPr>
          <a:xfrm>
            <a:off x="1020604" y="5526643"/>
            <a:ext cx="5954435"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 escalabilidad y rendimiento de las bases de datos NoSQL las vuelven adecuadas para aplicaciones con gran cantidad de usuarios y datos cambiantes, como aplicaciones móviles y juegos en línea.</a:t>
            </a:r>
            <a:endParaRPr lang="en-US" sz="1750" dirty="0"/>
          </a:p>
        </p:txBody>
      </p:sp>
      <p:sp>
        <p:nvSpPr>
          <p:cNvPr id="12" name="Shape 10"/>
          <p:cNvSpPr/>
          <p:nvPr/>
        </p:nvSpPr>
        <p:spPr>
          <a:xfrm>
            <a:off x="7428667" y="4809411"/>
            <a:ext cx="6408063" cy="2395657"/>
          </a:xfrm>
          <a:prstGeom prst="roundRect">
            <a:avLst>
              <a:gd name="adj" fmla="val 1420"/>
            </a:avLst>
          </a:prstGeom>
          <a:solidFill>
            <a:srgbClr val="2E2E2F"/>
          </a:solidFill>
          <a:ln/>
        </p:spPr>
      </p:sp>
      <p:sp>
        <p:nvSpPr>
          <p:cNvPr id="13" name="Text 11"/>
          <p:cNvSpPr/>
          <p:nvPr/>
        </p:nvSpPr>
        <p:spPr>
          <a:xfrm>
            <a:off x="7655481" y="5036225"/>
            <a:ext cx="4590693"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Internet de las Cosas (IoT)</a:t>
            </a:r>
            <a:endParaRPr lang="en-US" sz="2200" dirty="0"/>
          </a:p>
        </p:txBody>
      </p:sp>
      <p:sp>
        <p:nvSpPr>
          <p:cNvPr id="14" name="Text 12"/>
          <p:cNvSpPr/>
          <p:nvPr/>
        </p:nvSpPr>
        <p:spPr>
          <a:xfrm>
            <a:off x="7655481" y="5526643"/>
            <a:ext cx="5954435"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Los datos generados por sensores y dispositivos IoT se adaptan bien a las bases de datos NoSQL, que pueden procesar altos volúmenes y velocidades de datos en tiempo real.</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6519" y="737592"/>
            <a:ext cx="8096369" cy="648653"/>
          </a:xfrm>
          <a:prstGeom prst="rect">
            <a:avLst/>
          </a:prstGeom>
          <a:noFill/>
          <a:ln/>
        </p:spPr>
        <p:txBody>
          <a:bodyPr wrap="none" lIns="0" tIns="0" rIns="0" bIns="0" rtlCol="0" anchor="t"/>
          <a:lstStyle/>
          <a:p>
            <a:pPr indent="0" marL="0">
              <a:lnSpc>
                <a:spcPts val="5100"/>
              </a:lnSpc>
              <a:buNone/>
            </a:pPr>
            <a:r>
              <a:rPr lang="en-US" sz="4050" dirty="0">
                <a:solidFill>
                  <a:srgbClr val="FBF3FA"/>
                </a:solidFill>
                <a:latin typeface="Fira Mono Medium" pitchFamily="34" charset="0"/>
                <a:ea typeface="Fira Mono Medium" pitchFamily="34" charset="-122"/>
                <a:cs typeface="Fira Mono Medium" pitchFamily="34" charset="-120"/>
              </a:rPr>
              <a:t>Modelo Documental: MongoDB</a:t>
            </a:r>
            <a:endParaRPr lang="en-US" sz="4050" dirty="0"/>
          </a:p>
        </p:txBody>
      </p:sp>
      <p:sp>
        <p:nvSpPr>
          <p:cNvPr id="3" name="Shape 1"/>
          <p:cNvSpPr/>
          <p:nvPr/>
        </p:nvSpPr>
        <p:spPr>
          <a:xfrm>
            <a:off x="726519" y="1801416"/>
            <a:ext cx="2196108" cy="1196221"/>
          </a:xfrm>
          <a:prstGeom prst="roundRect">
            <a:avLst>
              <a:gd name="adj" fmla="val 2603"/>
            </a:avLst>
          </a:prstGeom>
          <a:solidFill>
            <a:srgbClr val="2E2E2F"/>
          </a:solidFill>
          <a:ln/>
        </p:spPr>
      </p:sp>
      <p:sp>
        <p:nvSpPr>
          <p:cNvPr id="4" name="Text 2"/>
          <p:cNvSpPr/>
          <p:nvPr/>
        </p:nvSpPr>
        <p:spPr>
          <a:xfrm>
            <a:off x="934045" y="2191822"/>
            <a:ext cx="155734" cy="415290"/>
          </a:xfrm>
          <a:prstGeom prst="rect">
            <a:avLst/>
          </a:prstGeom>
          <a:noFill/>
          <a:ln/>
        </p:spPr>
        <p:txBody>
          <a:bodyPr wrap="none" lIns="0" tIns="0" rIns="0" bIns="0" rtlCol="0" anchor="t"/>
          <a:lstStyle/>
          <a:p>
            <a:pPr algn="ctr" indent="0" marL="0">
              <a:lnSpc>
                <a:spcPts val="3250"/>
              </a:lnSpc>
              <a:buNone/>
            </a:pPr>
            <a:r>
              <a:rPr lang="en-US" sz="2000" dirty="0">
                <a:solidFill>
                  <a:srgbClr val="E0D6DE"/>
                </a:solidFill>
                <a:latin typeface="Fira Mono Medium" pitchFamily="34" charset="0"/>
                <a:ea typeface="Fira Mono Medium" pitchFamily="34" charset="-122"/>
                <a:cs typeface="Fira Mono Medium" pitchFamily="34" charset="-120"/>
              </a:rPr>
              <a:t>1</a:t>
            </a:r>
            <a:endParaRPr lang="en-US" sz="2000" dirty="0"/>
          </a:p>
        </p:txBody>
      </p:sp>
      <p:sp>
        <p:nvSpPr>
          <p:cNvPr id="5" name="Text 3"/>
          <p:cNvSpPr/>
          <p:nvPr/>
        </p:nvSpPr>
        <p:spPr>
          <a:xfrm>
            <a:off x="3130153" y="2008942"/>
            <a:ext cx="2802017" cy="324445"/>
          </a:xfrm>
          <a:prstGeom prst="rect">
            <a:avLst/>
          </a:prstGeom>
          <a:noFill/>
          <a:ln/>
        </p:spPr>
        <p:txBody>
          <a:bodyPr wrap="none" lIns="0" tIns="0" rIns="0" bIns="0" rtlCol="0" anchor="t"/>
          <a:lstStyle/>
          <a:p>
            <a:pPr algn="l" indent="0" marL="0">
              <a:lnSpc>
                <a:spcPts val="2550"/>
              </a:lnSpc>
              <a:buNone/>
            </a:pPr>
            <a:r>
              <a:rPr lang="en-US" sz="2000" dirty="0">
                <a:solidFill>
                  <a:srgbClr val="E0D6DE"/>
                </a:solidFill>
                <a:latin typeface="Fira Mono Medium" pitchFamily="34" charset="0"/>
                <a:ea typeface="Fira Mono Medium" pitchFamily="34" charset="-122"/>
                <a:cs typeface="Fira Mono Medium" pitchFamily="34" charset="-120"/>
              </a:rPr>
              <a:t>Esquemas Flexibles</a:t>
            </a:r>
            <a:endParaRPr lang="en-US" sz="2000" dirty="0"/>
          </a:p>
        </p:txBody>
      </p:sp>
      <p:sp>
        <p:nvSpPr>
          <p:cNvPr id="6" name="Text 4"/>
          <p:cNvSpPr/>
          <p:nvPr/>
        </p:nvSpPr>
        <p:spPr>
          <a:xfrm>
            <a:off x="3130153" y="2457926"/>
            <a:ext cx="10505599" cy="332184"/>
          </a:xfrm>
          <a:prstGeom prst="rect">
            <a:avLst/>
          </a:prstGeom>
          <a:noFill/>
          <a:ln/>
        </p:spPr>
        <p:txBody>
          <a:bodyPr wrap="none" lIns="0" tIns="0" rIns="0" bIns="0" rtlCol="0" anchor="t"/>
          <a:lstStyle/>
          <a:p>
            <a:pPr algn="l" indent="0" marL="0">
              <a:lnSpc>
                <a:spcPts val="2600"/>
              </a:lnSpc>
              <a:buNone/>
            </a:pPr>
            <a:r>
              <a:rPr lang="en-US" sz="1600" dirty="0">
                <a:solidFill>
                  <a:srgbClr val="E0D6DE"/>
                </a:solidFill>
                <a:latin typeface="Fira Sans" pitchFamily="34" charset="0"/>
                <a:ea typeface="Fira Sans" pitchFamily="34" charset="-122"/>
                <a:cs typeface="Fira Sans" pitchFamily="34" charset="-120"/>
              </a:rPr>
              <a:t>MongoDB permite esquemas de datos flexibles, adaptándose a las necesidades cambiantes de las aplicaciones.</a:t>
            </a:r>
            <a:endParaRPr lang="en-US" sz="1600" dirty="0"/>
          </a:p>
        </p:txBody>
      </p:sp>
      <p:sp>
        <p:nvSpPr>
          <p:cNvPr id="7" name="Shape 5"/>
          <p:cNvSpPr/>
          <p:nvPr/>
        </p:nvSpPr>
        <p:spPr>
          <a:xfrm>
            <a:off x="3026331" y="2988112"/>
            <a:ext cx="10773847" cy="11430"/>
          </a:xfrm>
          <a:prstGeom prst="roundRect">
            <a:avLst>
              <a:gd name="adj" fmla="val 272448"/>
            </a:avLst>
          </a:prstGeom>
          <a:solidFill>
            <a:srgbClr val="474748"/>
          </a:solidFill>
          <a:ln/>
        </p:spPr>
      </p:sp>
      <p:sp>
        <p:nvSpPr>
          <p:cNvPr id="8" name="Shape 6"/>
          <p:cNvSpPr/>
          <p:nvPr/>
        </p:nvSpPr>
        <p:spPr>
          <a:xfrm>
            <a:off x="726519" y="3101340"/>
            <a:ext cx="4392335" cy="1528405"/>
          </a:xfrm>
          <a:prstGeom prst="roundRect">
            <a:avLst>
              <a:gd name="adj" fmla="val 2037"/>
            </a:avLst>
          </a:prstGeom>
          <a:solidFill>
            <a:srgbClr val="2E2E2F"/>
          </a:solidFill>
          <a:ln/>
        </p:spPr>
      </p:sp>
      <p:sp>
        <p:nvSpPr>
          <p:cNvPr id="9" name="Text 7"/>
          <p:cNvSpPr/>
          <p:nvPr/>
        </p:nvSpPr>
        <p:spPr>
          <a:xfrm>
            <a:off x="934045" y="3657838"/>
            <a:ext cx="155734" cy="415290"/>
          </a:xfrm>
          <a:prstGeom prst="rect">
            <a:avLst/>
          </a:prstGeom>
          <a:noFill/>
          <a:ln/>
        </p:spPr>
        <p:txBody>
          <a:bodyPr wrap="none" lIns="0" tIns="0" rIns="0" bIns="0" rtlCol="0" anchor="t"/>
          <a:lstStyle/>
          <a:p>
            <a:pPr algn="ctr" indent="0" marL="0">
              <a:lnSpc>
                <a:spcPts val="3250"/>
              </a:lnSpc>
              <a:buNone/>
            </a:pPr>
            <a:r>
              <a:rPr lang="en-US" sz="2000" dirty="0">
                <a:solidFill>
                  <a:srgbClr val="E0D6DE"/>
                </a:solidFill>
                <a:latin typeface="Fira Mono Medium" pitchFamily="34" charset="0"/>
                <a:ea typeface="Fira Mono Medium" pitchFamily="34" charset="-122"/>
                <a:cs typeface="Fira Mono Medium" pitchFamily="34" charset="-120"/>
              </a:rPr>
              <a:t>2</a:t>
            </a:r>
            <a:endParaRPr lang="en-US" sz="2000" dirty="0"/>
          </a:p>
        </p:txBody>
      </p:sp>
      <p:sp>
        <p:nvSpPr>
          <p:cNvPr id="10" name="Text 8"/>
          <p:cNvSpPr/>
          <p:nvPr/>
        </p:nvSpPr>
        <p:spPr>
          <a:xfrm>
            <a:off x="5326380" y="3308866"/>
            <a:ext cx="2594967" cy="324445"/>
          </a:xfrm>
          <a:prstGeom prst="rect">
            <a:avLst/>
          </a:prstGeom>
          <a:noFill/>
          <a:ln/>
        </p:spPr>
        <p:txBody>
          <a:bodyPr wrap="none" lIns="0" tIns="0" rIns="0" bIns="0" rtlCol="0" anchor="t"/>
          <a:lstStyle/>
          <a:p>
            <a:pPr algn="l" indent="0" marL="0">
              <a:lnSpc>
                <a:spcPts val="2550"/>
              </a:lnSpc>
              <a:buNone/>
            </a:pPr>
            <a:r>
              <a:rPr lang="en-US" sz="2000" dirty="0">
                <a:solidFill>
                  <a:srgbClr val="E0D6DE"/>
                </a:solidFill>
                <a:latin typeface="Fira Mono Medium" pitchFamily="34" charset="0"/>
                <a:ea typeface="Fira Mono Medium" pitchFamily="34" charset="-122"/>
                <a:cs typeface="Fira Mono Medium" pitchFamily="34" charset="-120"/>
              </a:rPr>
              <a:t>Datos Anidados</a:t>
            </a:r>
            <a:endParaRPr lang="en-US" sz="2000" dirty="0"/>
          </a:p>
        </p:txBody>
      </p:sp>
      <p:sp>
        <p:nvSpPr>
          <p:cNvPr id="11" name="Text 9"/>
          <p:cNvSpPr/>
          <p:nvPr/>
        </p:nvSpPr>
        <p:spPr>
          <a:xfrm>
            <a:off x="5326380" y="3757851"/>
            <a:ext cx="8369975" cy="664369"/>
          </a:xfrm>
          <a:prstGeom prst="rect">
            <a:avLst/>
          </a:prstGeom>
          <a:noFill/>
          <a:ln/>
        </p:spPr>
        <p:txBody>
          <a:bodyPr wrap="square" lIns="0" tIns="0" rIns="0" bIns="0" rtlCol="0" anchor="t"/>
          <a:lstStyle/>
          <a:p>
            <a:pPr algn="l" indent="0" marL="0">
              <a:lnSpc>
                <a:spcPts val="2600"/>
              </a:lnSpc>
              <a:buNone/>
            </a:pPr>
            <a:r>
              <a:rPr lang="en-US" sz="1600" dirty="0">
                <a:solidFill>
                  <a:srgbClr val="E0D6DE"/>
                </a:solidFill>
                <a:latin typeface="Fira Sans" pitchFamily="34" charset="0"/>
                <a:ea typeface="Fira Sans" pitchFamily="34" charset="-122"/>
                <a:cs typeface="Fira Sans" pitchFamily="34" charset="-120"/>
              </a:rPr>
              <a:t>Los documentos pueden contener datos complejos y anidados, reflejando la estructura de los objetos de la aplicación.</a:t>
            </a:r>
            <a:endParaRPr lang="en-US" sz="1600" dirty="0"/>
          </a:p>
        </p:txBody>
      </p:sp>
      <p:sp>
        <p:nvSpPr>
          <p:cNvPr id="12" name="Shape 10"/>
          <p:cNvSpPr/>
          <p:nvPr/>
        </p:nvSpPr>
        <p:spPr>
          <a:xfrm>
            <a:off x="5222558" y="4620220"/>
            <a:ext cx="8577620" cy="11430"/>
          </a:xfrm>
          <a:prstGeom prst="roundRect">
            <a:avLst>
              <a:gd name="adj" fmla="val 272448"/>
            </a:avLst>
          </a:prstGeom>
          <a:solidFill>
            <a:srgbClr val="474748"/>
          </a:solidFill>
          <a:ln/>
        </p:spPr>
      </p:sp>
      <p:sp>
        <p:nvSpPr>
          <p:cNvPr id="13" name="Shape 11"/>
          <p:cNvSpPr/>
          <p:nvPr/>
        </p:nvSpPr>
        <p:spPr>
          <a:xfrm>
            <a:off x="726519" y="4733449"/>
            <a:ext cx="6588681" cy="1528405"/>
          </a:xfrm>
          <a:prstGeom prst="roundRect">
            <a:avLst>
              <a:gd name="adj" fmla="val 2037"/>
            </a:avLst>
          </a:prstGeom>
          <a:solidFill>
            <a:srgbClr val="2E2E2F"/>
          </a:solidFill>
          <a:ln/>
        </p:spPr>
      </p:sp>
      <p:sp>
        <p:nvSpPr>
          <p:cNvPr id="14" name="Text 12"/>
          <p:cNvSpPr/>
          <p:nvPr/>
        </p:nvSpPr>
        <p:spPr>
          <a:xfrm>
            <a:off x="934045" y="5289947"/>
            <a:ext cx="155734" cy="415290"/>
          </a:xfrm>
          <a:prstGeom prst="rect">
            <a:avLst/>
          </a:prstGeom>
          <a:noFill/>
          <a:ln/>
        </p:spPr>
        <p:txBody>
          <a:bodyPr wrap="none" lIns="0" tIns="0" rIns="0" bIns="0" rtlCol="0" anchor="t"/>
          <a:lstStyle/>
          <a:p>
            <a:pPr algn="ctr" indent="0" marL="0">
              <a:lnSpc>
                <a:spcPts val="3250"/>
              </a:lnSpc>
              <a:buNone/>
            </a:pPr>
            <a:r>
              <a:rPr lang="en-US" sz="2000" dirty="0">
                <a:solidFill>
                  <a:srgbClr val="E0D6DE"/>
                </a:solidFill>
                <a:latin typeface="Fira Mono Medium" pitchFamily="34" charset="0"/>
                <a:ea typeface="Fira Mono Medium" pitchFamily="34" charset="-122"/>
                <a:cs typeface="Fira Mono Medium" pitchFamily="34" charset="-120"/>
              </a:rPr>
              <a:t>3</a:t>
            </a:r>
            <a:endParaRPr lang="en-US" sz="2000" dirty="0"/>
          </a:p>
        </p:txBody>
      </p:sp>
      <p:sp>
        <p:nvSpPr>
          <p:cNvPr id="15" name="Text 13"/>
          <p:cNvSpPr/>
          <p:nvPr/>
        </p:nvSpPr>
        <p:spPr>
          <a:xfrm>
            <a:off x="7522726" y="4940975"/>
            <a:ext cx="3113365" cy="324445"/>
          </a:xfrm>
          <a:prstGeom prst="rect">
            <a:avLst/>
          </a:prstGeom>
          <a:noFill/>
          <a:ln/>
        </p:spPr>
        <p:txBody>
          <a:bodyPr wrap="none" lIns="0" tIns="0" rIns="0" bIns="0" rtlCol="0" anchor="t"/>
          <a:lstStyle/>
          <a:p>
            <a:pPr algn="l" indent="0" marL="0">
              <a:lnSpc>
                <a:spcPts val="2550"/>
              </a:lnSpc>
              <a:buNone/>
            </a:pPr>
            <a:r>
              <a:rPr lang="en-US" sz="2000" dirty="0">
                <a:solidFill>
                  <a:srgbClr val="E0D6DE"/>
                </a:solidFill>
                <a:latin typeface="Fira Mono Medium" pitchFamily="34" charset="0"/>
                <a:ea typeface="Fira Mono Medium" pitchFamily="34" charset="-122"/>
                <a:cs typeface="Fira Mono Medium" pitchFamily="34" charset="-120"/>
              </a:rPr>
              <a:t>Consultas Eficientes</a:t>
            </a:r>
            <a:endParaRPr lang="en-US" sz="2000" dirty="0"/>
          </a:p>
        </p:txBody>
      </p:sp>
      <p:sp>
        <p:nvSpPr>
          <p:cNvPr id="16" name="Text 14"/>
          <p:cNvSpPr/>
          <p:nvPr/>
        </p:nvSpPr>
        <p:spPr>
          <a:xfrm>
            <a:off x="7522726" y="5389959"/>
            <a:ext cx="6173629" cy="664369"/>
          </a:xfrm>
          <a:prstGeom prst="rect">
            <a:avLst/>
          </a:prstGeom>
          <a:noFill/>
          <a:ln/>
        </p:spPr>
        <p:txBody>
          <a:bodyPr wrap="square" lIns="0" tIns="0" rIns="0" bIns="0" rtlCol="0" anchor="t"/>
          <a:lstStyle/>
          <a:p>
            <a:pPr algn="l" indent="0" marL="0">
              <a:lnSpc>
                <a:spcPts val="2600"/>
              </a:lnSpc>
              <a:buNone/>
            </a:pPr>
            <a:r>
              <a:rPr lang="en-US" sz="1600" dirty="0">
                <a:solidFill>
                  <a:srgbClr val="E0D6DE"/>
                </a:solidFill>
                <a:latin typeface="Fira Sans" pitchFamily="34" charset="0"/>
                <a:ea typeface="Fira Sans" pitchFamily="34" charset="-122"/>
                <a:cs typeface="Fira Sans" pitchFamily="34" charset="-120"/>
              </a:rPr>
              <a:t>MongoDB ofrece consultas flexibles y poderosas para recuperar y manipular datos de manera eficiente.</a:t>
            </a:r>
            <a:endParaRPr lang="en-US" sz="1600" dirty="0"/>
          </a:p>
        </p:txBody>
      </p:sp>
      <p:sp>
        <p:nvSpPr>
          <p:cNvPr id="17" name="Text 15"/>
          <p:cNvSpPr/>
          <p:nvPr/>
        </p:nvSpPr>
        <p:spPr>
          <a:xfrm>
            <a:off x="726519" y="6495336"/>
            <a:ext cx="13177361" cy="996553"/>
          </a:xfrm>
          <a:prstGeom prst="rect">
            <a:avLst/>
          </a:prstGeom>
          <a:noFill/>
          <a:ln/>
        </p:spPr>
        <p:txBody>
          <a:bodyPr wrap="square" lIns="0" tIns="0" rIns="0" bIns="0" rtlCol="0" anchor="t"/>
          <a:lstStyle/>
          <a:p>
            <a:pPr indent="0" marL="0">
              <a:lnSpc>
                <a:spcPts val="2600"/>
              </a:lnSpc>
              <a:buNone/>
            </a:pPr>
            <a:r>
              <a:rPr lang="en-US" sz="1600" dirty="0">
                <a:solidFill>
                  <a:srgbClr val="E0D6DE"/>
                </a:solidFill>
                <a:latin typeface="Fira Sans" pitchFamily="34" charset="0"/>
                <a:ea typeface="Fira Sans" pitchFamily="34" charset="-122"/>
                <a:cs typeface="Fira Sans" pitchFamily="34" charset="-120"/>
              </a:rPr>
              <a:t>MongoDB es una base de datos documental NoSQL que se destaca por su flexibilidad y facilidad de uso. A diferencia de las bases de datos relacionales, MongoDB permite almacenar datos en documentos con esquemas flexibles, lo que facilita la adaptación a los cambios en los requisitos de la aplicación.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14018" y="561023"/>
            <a:ext cx="9181148" cy="637580"/>
          </a:xfrm>
          <a:prstGeom prst="rect">
            <a:avLst/>
          </a:prstGeom>
          <a:noFill/>
          <a:ln/>
        </p:spPr>
        <p:txBody>
          <a:bodyPr wrap="none" lIns="0" tIns="0" rIns="0" bIns="0" rtlCol="0" anchor="t"/>
          <a:lstStyle/>
          <a:p>
            <a:pPr indent="0" marL="0">
              <a:lnSpc>
                <a:spcPts val="5000"/>
              </a:lnSpc>
              <a:buNone/>
            </a:pPr>
            <a:r>
              <a:rPr lang="en-US" sz="4000" dirty="0">
                <a:solidFill>
                  <a:srgbClr val="FBF3FA"/>
                </a:solidFill>
                <a:latin typeface="Fira Mono Medium" pitchFamily="34" charset="0"/>
                <a:ea typeface="Fira Mono Medium" pitchFamily="34" charset="-122"/>
                <a:cs typeface="Fira Mono Medium" pitchFamily="34" charset="-120"/>
              </a:rPr>
              <a:t>Operaciones básicas en MongoDB</a:t>
            </a:r>
            <a:endParaRPr lang="en-US" sz="4000" dirty="0"/>
          </a:p>
        </p:txBody>
      </p:sp>
      <p:pic>
        <p:nvPicPr>
          <p:cNvPr id="3" name="Image 0" descr="preencoded.png">    </p:cNvPr>
          <p:cNvPicPr>
            <a:picLocks noChangeAspect="1"/>
          </p:cNvPicPr>
          <p:nvPr/>
        </p:nvPicPr>
        <p:blipFill>
          <a:blip r:embed="rId1"/>
          <a:stretch>
            <a:fillRect/>
          </a:stretch>
        </p:blipFill>
        <p:spPr>
          <a:xfrm>
            <a:off x="3197662" y="1606629"/>
            <a:ext cx="1633776" cy="1175504"/>
          </a:xfrm>
          <a:prstGeom prst="rect">
            <a:avLst/>
          </a:prstGeom>
        </p:spPr>
      </p:pic>
      <p:sp>
        <p:nvSpPr>
          <p:cNvPr id="4" name="Text 1"/>
          <p:cNvSpPr/>
          <p:nvPr/>
        </p:nvSpPr>
        <p:spPr>
          <a:xfrm>
            <a:off x="3937873" y="2136100"/>
            <a:ext cx="153114" cy="408027"/>
          </a:xfrm>
          <a:prstGeom prst="rect">
            <a:avLst/>
          </a:prstGeom>
          <a:noFill/>
          <a:ln/>
        </p:spPr>
        <p:txBody>
          <a:bodyPr wrap="none" lIns="0" tIns="0" rIns="0" bIns="0" rtlCol="0" anchor="t"/>
          <a:lstStyle/>
          <a:p>
            <a:pPr algn="ctr" indent="0" marL="0">
              <a:lnSpc>
                <a:spcPts val="3200"/>
              </a:lnSpc>
              <a:buNone/>
            </a:pPr>
            <a:r>
              <a:rPr lang="en-US" sz="2000" dirty="0">
                <a:solidFill>
                  <a:srgbClr val="E0D6DE"/>
                </a:solidFill>
                <a:latin typeface="Fira Mono Medium" pitchFamily="34" charset="0"/>
                <a:ea typeface="Fira Mono Medium" pitchFamily="34" charset="-122"/>
                <a:cs typeface="Fira Mono Medium" pitchFamily="34" charset="-120"/>
              </a:rPr>
              <a:t>1</a:t>
            </a:r>
            <a:endParaRPr lang="en-US" sz="2000" dirty="0"/>
          </a:p>
        </p:txBody>
      </p:sp>
      <p:sp>
        <p:nvSpPr>
          <p:cNvPr id="5" name="Text 2"/>
          <p:cNvSpPr/>
          <p:nvPr/>
        </p:nvSpPr>
        <p:spPr>
          <a:xfrm>
            <a:off x="5035391" y="1810583"/>
            <a:ext cx="2550438" cy="318730"/>
          </a:xfrm>
          <a:prstGeom prst="rect">
            <a:avLst/>
          </a:prstGeom>
          <a:noFill/>
          <a:ln/>
        </p:spPr>
        <p:txBody>
          <a:bodyPr wrap="none" lIns="0" tIns="0" rIns="0" bIns="0" rtlCol="0" anchor="t"/>
          <a:lstStyle/>
          <a:p>
            <a:pPr algn="l" indent="0" marL="0">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Insertar</a:t>
            </a:r>
            <a:endParaRPr lang="en-US" sz="2000" dirty="0"/>
          </a:p>
        </p:txBody>
      </p:sp>
      <p:sp>
        <p:nvSpPr>
          <p:cNvPr id="6" name="Text 3"/>
          <p:cNvSpPr/>
          <p:nvPr/>
        </p:nvSpPr>
        <p:spPr>
          <a:xfrm>
            <a:off x="5035391" y="2251710"/>
            <a:ext cx="3389948" cy="326469"/>
          </a:xfrm>
          <a:prstGeom prst="rect">
            <a:avLst/>
          </a:prstGeom>
          <a:noFill/>
          <a:ln/>
        </p:spPr>
        <p:txBody>
          <a:bodyPr wrap="none" lIns="0" tIns="0" rIns="0" bIns="0" rtlCol="0" anchor="t"/>
          <a:lstStyle/>
          <a:p>
            <a:pPr algn="l" indent="0" marL="0">
              <a:lnSpc>
                <a:spcPts val="2550"/>
              </a:lnSpc>
              <a:buNone/>
            </a:pPr>
            <a:r>
              <a:rPr lang="en-US" sz="1600" dirty="0">
                <a:solidFill>
                  <a:srgbClr val="E0D6DE"/>
                </a:solidFill>
                <a:latin typeface="Fira Sans" pitchFamily="34" charset="0"/>
                <a:ea typeface="Fira Sans" pitchFamily="34" charset="-122"/>
                <a:cs typeface="Fira Sans" pitchFamily="34" charset="-120"/>
              </a:rPr>
              <a:t>Agregar documentos a una colección</a:t>
            </a:r>
            <a:endParaRPr lang="en-US" sz="1600" dirty="0"/>
          </a:p>
        </p:txBody>
      </p:sp>
      <p:sp>
        <p:nvSpPr>
          <p:cNvPr id="7" name="Shape 4"/>
          <p:cNvSpPr/>
          <p:nvPr/>
        </p:nvSpPr>
        <p:spPr>
          <a:xfrm>
            <a:off x="4882396" y="2798088"/>
            <a:ext cx="8983028" cy="11430"/>
          </a:xfrm>
          <a:prstGeom prst="roundRect">
            <a:avLst>
              <a:gd name="adj" fmla="val 267763"/>
            </a:avLst>
          </a:prstGeom>
          <a:solidFill>
            <a:srgbClr val="474748"/>
          </a:solidFill>
          <a:ln/>
        </p:spPr>
      </p:sp>
      <p:pic>
        <p:nvPicPr>
          <p:cNvPr id="8" name="Image 1" descr="preencoded.png">    </p:cNvPr>
          <p:cNvPicPr>
            <a:picLocks noChangeAspect="1"/>
          </p:cNvPicPr>
          <p:nvPr/>
        </p:nvPicPr>
        <p:blipFill>
          <a:blip r:embed="rId2"/>
          <a:stretch>
            <a:fillRect/>
          </a:stretch>
        </p:blipFill>
        <p:spPr>
          <a:xfrm>
            <a:off x="2380774" y="2833092"/>
            <a:ext cx="3267551" cy="1175504"/>
          </a:xfrm>
          <a:prstGeom prst="rect">
            <a:avLst/>
          </a:prstGeom>
        </p:spPr>
      </p:pic>
      <p:sp>
        <p:nvSpPr>
          <p:cNvPr id="9" name="Text 5"/>
          <p:cNvSpPr/>
          <p:nvPr/>
        </p:nvSpPr>
        <p:spPr>
          <a:xfrm>
            <a:off x="3937992" y="3216831"/>
            <a:ext cx="153114" cy="408027"/>
          </a:xfrm>
          <a:prstGeom prst="rect">
            <a:avLst/>
          </a:prstGeom>
          <a:noFill/>
          <a:ln/>
        </p:spPr>
        <p:txBody>
          <a:bodyPr wrap="none" lIns="0" tIns="0" rIns="0" bIns="0" rtlCol="0" anchor="t"/>
          <a:lstStyle/>
          <a:p>
            <a:pPr algn="ctr" indent="0" marL="0">
              <a:lnSpc>
                <a:spcPts val="3200"/>
              </a:lnSpc>
              <a:buNone/>
            </a:pPr>
            <a:r>
              <a:rPr lang="en-US" sz="2000" dirty="0">
                <a:solidFill>
                  <a:srgbClr val="E0D6DE"/>
                </a:solidFill>
                <a:latin typeface="Fira Mono Medium" pitchFamily="34" charset="0"/>
                <a:ea typeface="Fira Mono Medium" pitchFamily="34" charset="-122"/>
                <a:cs typeface="Fira Mono Medium" pitchFamily="34" charset="-120"/>
              </a:rPr>
              <a:t>2</a:t>
            </a:r>
            <a:endParaRPr lang="en-US" sz="2000" dirty="0"/>
          </a:p>
        </p:txBody>
      </p:sp>
      <p:sp>
        <p:nvSpPr>
          <p:cNvPr id="10" name="Text 6"/>
          <p:cNvSpPr/>
          <p:nvPr/>
        </p:nvSpPr>
        <p:spPr>
          <a:xfrm>
            <a:off x="5852279" y="3037046"/>
            <a:ext cx="2550438" cy="318730"/>
          </a:xfrm>
          <a:prstGeom prst="rect">
            <a:avLst/>
          </a:prstGeom>
          <a:noFill/>
          <a:ln/>
        </p:spPr>
        <p:txBody>
          <a:bodyPr wrap="none" lIns="0" tIns="0" rIns="0" bIns="0" rtlCol="0" anchor="t"/>
          <a:lstStyle/>
          <a:p>
            <a:pPr algn="l" indent="0" marL="0">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Consultar</a:t>
            </a:r>
            <a:endParaRPr lang="en-US" sz="2000" dirty="0"/>
          </a:p>
        </p:txBody>
      </p:sp>
      <p:sp>
        <p:nvSpPr>
          <p:cNvPr id="11" name="Text 7"/>
          <p:cNvSpPr/>
          <p:nvPr/>
        </p:nvSpPr>
        <p:spPr>
          <a:xfrm>
            <a:off x="5852279" y="3478173"/>
            <a:ext cx="2922746" cy="326469"/>
          </a:xfrm>
          <a:prstGeom prst="rect">
            <a:avLst/>
          </a:prstGeom>
          <a:noFill/>
          <a:ln/>
        </p:spPr>
        <p:txBody>
          <a:bodyPr wrap="none" lIns="0" tIns="0" rIns="0" bIns="0" rtlCol="0" anchor="t"/>
          <a:lstStyle/>
          <a:p>
            <a:pPr algn="l" indent="0" marL="0">
              <a:lnSpc>
                <a:spcPts val="2550"/>
              </a:lnSpc>
              <a:buNone/>
            </a:pPr>
            <a:r>
              <a:rPr lang="en-US" sz="1600" dirty="0">
                <a:solidFill>
                  <a:srgbClr val="E0D6DE"/>
                </a:solidFill>
                <a:latin typeface="Fira Sans" pitchFamily="34" charset="0"/>
                <a:ea typeface="Fira Sans" pitchFamily="34" charset="-122"/>
                <a:cs typeface="Fira Sans" pitchFamily="34" charset="-120"/>
              </a:rPr>
              <a:t>Buscar y recuperar documentos</a:t>
            </a:r>
            <a:endParaRPr lang="en-US" sz="1600" dirty="0"/>
          </a:p>
        </p:txBody>
      </p:sp>
      <p:sp>
        <p:nvSpPr>
          <p:cNvPr id="12" name="Shape 8"/>
          <p:cNvSpPr/>
          <p:nvPr/>
        </p:nvSpPr>
        <p:spPr>
          <a:xfrm>
            <a:off x="5699284" y="4024551"/>
            <a:ext cx="8166140" cy="11430"/>
          </a:xfrm>
          <a:prstGeom prst="roundRect">
            <a:avLst>
              <a:gd name="adj" fmla="val 267763"/>
            </a:avLst>
          </a:prstGeom>
          <a:solidFill>
            <a:srgbClr val="474748"/>
          </a:solidFill>
          <a:ln/>
        </p:spPr>
      </p:sp>
      <p:pic>
        <p:nvPicPr>
          <p:cNvPr id="13" name="Image 2" descr="preencoded.png">    </p:cNvPr>
          <p:cNvPicPr>
            <a:picLocks noChangeAspect="1"/>
          </p:cNvPicPr>
          <p:nvPr/>
        </p:nvPicPr>
        <p:blipFill>
          <a:blip r:embed="rId3"/>
          <a:stretch>
            <a:fillRect/>
          </a:stretch>
        </p:blipFill>
        <p:spPr>
          <a:xfrm>
            <a:off x="1563886" y="4059555"/>
            <a:ext cx="4901327" cy="1175504"/>
          </a:xfrm>
          <a:prstGeom prst="rect">
            <a:avLst/>
          </a:prstGeom>
        </p:spPr>
      </p:pic>
      <p:sp>
        <p:nvSpPr>
          <p:cNvPr id="14" name="Text 9"/>
          <p:cNvSpPr/>
          <p:nvPr/>
        </p:nvSpPr>
        <p:spPr>
          <a:xfrm>
            <a:off x="3937873" y="4443293"/>
            <a:ext cx="153114" cy="408027"/>
          </a:xfrm>
          <a:prstGeom prst="rect">
            <a:avLst/>
          </a:prstGeom>
          <a:noFill/>
          <a:ln/>
        </p:spPr>
        <p:txBody>
          <a:bodyPr wrap="none" lIns="0" tIns="0" rIns="0" bIns="0" rtlCol="0" anchor="t"/>
          <a:lstStyle/>
          <a:p>
            <a:pPr algn="ctr" indent="0" marL="0">
              <a:lnSpc>
                <a:spcPts val="3200"/>
              </a:lnSpc>
              <a:buNone/>
            </a:pPr>
            <a:r>
              <a:rPr lang="en-US" sz="2000" dirty="0">
                <a:solidFill>
                  <a:srgbClr val="E0D6DE"/>
                </a:solidFill>
                <a:latin typeface="Fira Mono Medium" pitchFamily="34" charset="0"/>
                <a:ea typeface="Fira Mono Medium" pitchFamily="34" charset="-122"/>
                <a:cs typeface="Fira Mono Medium" pitchFamily="34" charset="-120"/>
              </a:rPr>
              <a:t>3</a:t>
            </a:r>
            <a:endParaRPr lang="en-US" sz="2000" dirty="0"/>
          </a:p>
        </p:txBody>
      </p:sp>
      <p:sp>
        <p:nvSpPr>
          <p:cNvPr id="15" name="Text 10"/>
          <p:cNvSpPr/>
          <p:nvPr/>
        </p:nvSpPr>
        <p:spPr>
          <a:xfrm>
            <a:off x="6669167" y="4263509"/>
            <a:ext cx="2550438" cy="318730"/>
          </a:xfrm>
          <a:prstGeom prst="rect">
            <a:avLst/>
          </a:prstGeom>
          <a:noFill/>
          <a:ln/>
        </p:spPr>
        <p:txBody>
          <a:bodyPr wrap="none" lIns="0" tIns="0" rIns="0" bIns="0" rtlCol="0" anchor="t"/>
          <a:lstStyle/>
          <a:p>
            <a:pPr algn="l" indent="0" marL="0">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Actualizar</a:t>
            </a:r>
            <a:endParaRPr lang="en-US" sz="2000" dirty="0"/>
          </a:p>
        </p:txBody>
      </p:sp>
      <p:sp>
        <p:nvSpPr>
          <p:cNvPr id="16" name="Text 11"/>
          <p:cNvSpPr/>
          <p:nvPr/>
        </p:nvSpPr>
        <p:spPr>
          <a:xfrm>
            <a:off x="6669167" y="4704636"/>
            <a:ext cx="3893106" cy="326469"/>
          </a:xfrm>
          <a:prstGeom prst="rect">
            <a:avLst/>
          </a:prstGeom>
          <a:noFill/>
          <a:ln/>
        </p:spPr>
        <p:txBody>
          <a:bodyPr wrap="none" lIns="0" tIns="0" rIns="0" bIns="0" rtlCol="0" anchor="t"/>
          <a:lstStyle/>
          <a:p>
            <a:pPr algn="l" indent="0" marL="0">
              <a:lnSpc>
                <a:spcPts val="2550"/>
              </a:lnSpc>
              <a:buNone/>
            </a:pPr>
            <a:r>
              <a:rPr lang="en-US" sz="1600" dirty="0">
                <a:solidFill>
                  <a:srgbClr val="E0D6DE"/>
                </a:solidFill>
                <a:latin typeface="Fira Sans" pitchFamily="34" charset="0"/>
                <a:ea typeface="Fira Sans" pitchFamily="34" charset="-122"/>
                <a:cs typeface="Fira Sans" pitchFamily="34" charset="-120"/>
              </a:rPr>
              <a:t>Modificar el contenido de los documentos</a:t>
            </a:r>
            <a:endParaRPr lang="en-US" sz="1600" dirty="0"/>
          </a:p>
        </p:txBody>
      </p:sp>
      <p:sp>
        <p:nvSpPr>
          <p:cNvPr id="17" name="Shape 12"/>
          <p:cNvSpPr/>
          <p:nvPr/>
        </p:nvSpPr>
        <p:spPr>
          <a:xfrm>
            <a:off x="6516172" y="5251013"/>
            <a:ext cx="7349252" cy="11430"/>
          </a:xfrm>
          <a:prstGeom prst="roundRect">
            <a:avLst>
              <a:gd name="adj" fmla="val 267763"/>
            </a:avLst>
          </a:prstGeom>
          <a:solidFill>
            <a:srgbClr val="474748"/>
          </a:solidFill>
          <a:ln/>
        </p:spPr>
      </p:sp>
      <p:pic>
        <p:nvPicPr>
          <p:cNvPr id="18" name="Image 3" descr="preencoded.png">    </p:cNvPr>
          <p:cNvPicPr>
            <a:picLocks noChangeAspect="1"/>
          </p:cNvPicPr>
          <p:nvPr/>
        </p:nvPicPr>
        <p:blipFill>
          <a:blip r:embed="rId4"/>
          <a:stretch>
            <a:fillRect/>
          </a:stretch>
        </p:blipFill>
        <p:spPr>
          <a:xfrm>
            <a:off x="746998" y="5286018"/>
            <a:ext cx="6535103" cy="1175504"/>
          </a:xfrm>
          <a:prstGeom prst="rect">
            <a:avLst/>
          </a:prstGeom>
        </p:spPr>
      </p:pic>
      <p:sp>
        <p:nvSpPr>
          <p:cNvPr id="19" name="Text 13"/>
          <p:cNvSpPr/>
          <p:nvPr/>
        </p:nvSpPr>
        <p:spPr>
          <a:xfrm>
            <a:off x="3937992" y="5669756"/>
            <a:ext cx="153114" cy="408027"/>
          </a:xfrm>
          <a:prstGeom prst="rect">
            <a:avLst/>
          </a:prstGeom>
          <a:noFill/>
          <a:ln/>
        </p:spPr>
        <p:txBody>
          <a:bodyPr wrap="none" lIns="0" tIns="0" rIns="0" bIns="0" rtlCol="0" anchor="t"/>
          <a:lstStyle/>
          <a:p>
            <a:pPr algn="ctr" indent="0" marL="0">
              <a:lnSpc>
                <a:spcPts val="3200"/>
              </a:lnSpc>
              <a:buNone/>
            </a:pPr>
            <a:r>
              <a:rPr lang="en-US" sz="2000" dirty="0">
                <a:solidFill>
                  <a:srgbClr val="E0D6DE"/>
                </a:solidFill>
                <a:latin typeface="Fira Mono Medium" pitchFamily="34" charset="0"/>
                <a:ea typeface="Fira Mono Medium" pitchFamily="34" charset="-122"/>
                <a:cs typeface="Fira Mono Medium" pitchFamily="34" charset="-120"/>
              </a:rPr>
              <a:t>4</a:t>
            </a:r>
            <a:endParaRPr lang="en-US" sz="2000" dirty="0"/>
          </a:p>
        </p:txBody>
      </p:sp>
      <p:sp>
        <p:nvSpPr>
          <p:cNvPr id="20" name="Text 14"/>
          <p:cNvSpPr/>
          <p:nvPr/>
        </p:nvSpPr>
        <p:spPr>
          <a:xfrm>
            <a:off x="7486055" y="5489972"/>
            <a:ext cx="2550438" cy="318730"/>
          </a:xfrm>
          <a:prstGeom prst="rect">
            <a:avLst/>
          </a:prstGeom>
          <a:noFill/>
          <a:ln/>
        </p:spPr>
        <p:txBody>
          <a:bodyPr wrap="none" lIns="0" tIns="0" rIns="0" bIns="0" rtlCol="0" anchor="t"/>
          <a:lstStyle/>
          <a:p>
            <a:pPr algn="l" indent="0" marL="0">
              <a:lnSpc>
                <a:spcPts val="2500"/>
              </a:lnSpc>
              <a:buNone/>
            </a:pPr>
            <a:r>
              <a:rPr lang="en-US" sz="2000" dirty="0">
                <a:solidFill>
                  <a:srgbClr val="E0D6DE"/>
                </a:solidFill>
                <a:latin typeface="Fira Mono Medium" pitchFamily="34" charset="0"/>
                <a:ea typeface="Fira Mono Medium" pitchFamily="34" charset="-122"/>
                <a:cs typeface="Fira Mono Medium" pitchFamily="34" charset="-120"/>
              </a:rPr>
              <a:t>Eliminar</a:t>
            </a:r>
            <a:endParaRPr lang="en-US" sz="2000" dirty="0"/>
          </a:p>
        </p:txBody>
      </p:sp>
      <p:sp>
        <p:nvSpPr>
          <p:cNvPr id="21" name="Text 15"/>
          <p:cNvSpPr/>
          <p:nvPr/>
        </p:nvSpPr>
        <p:spPr>
          <a:xfrm>
            <a:off x="7486055" y="5931098"/>
            <a:ext cx="3627596" cy="326469"/>
          </a:xfrm>
          <a:prstGeom prst="rect">
            <a:avLst/>
          </a:prstGeom>
          <a:noFill/>
          <a:ln/>
        </p:spPr>
        <p:txBody>
          <a:bodyPr wrap="none" lIns="0" tIns="0" rIns="0" bIns="0" rtlCol="0" anchor="t"/>
          <a:lstStyle/>
          <a:p>
            <a:pPr algn="l" indent="0" marL="0">
              <a:lnSpc>
                <a:spcPts val="2550"/>
              </a:lnSpc>
              <a:buNone/>
            </a:pPr>
            <a:r>
              <a:rPr lang="en-US" sz="1600" dirty="0">
                <a:solidFill>
                  <a:srgbClr val="E0D6DE"/>
                </a:solidFill>
                <a:latin typeface="Fira Sans" pitchFamily="34" charset="0"/>
                <a:ea typeface="Fira Sans" pitchFamily="34" charset="-122"/>
                <a:cs typeface="Fira Sans" pitchFamily="34" charset="-120"/>
              </a:rPr>
              <a:t>Remover documentos de una colección</a:t>
            </a:r>
            <a:endParaRPr lang="en-US" sz="1600" dirty="0"/>
          </a:p>
        </p:txBody>
      </p:sp>
      <p:sp>
        <p:nvSpPr>
          <p:cNvPr id="22" name="Text 16"/>
          <p:cNvSpPr/>
          <p:nvPr/>
        </p:nvSpPr>
        <p:spPr>
          <a:xfrm>
            <a:off x="714018" y="6690955"/>
            <a:ext cx="13202364" cy="979408"/>
          </a:xfrm>
          <a:prstGeom prst="rect">
            <a:avLst/>
          </a:prstGeom>
          <a:noFill/>
          <a:ln/>
        </p:spPr>
        <p:txBody>
          <a:bodyPr wrap="square" lIns="0" tIns="0" rIns="0" bIns="0" rtlCol="0" anchor="t"/>
          <a:lstStyle/>
          <a:p>
            <a:pPr indent="0" marL="0">
              <a:lnSpc>
                <a:spcPts val="2550"/>
              </a:lnSpc>
              <a:buNone/>
            </a:pPr>
            <a:r>
              <a:rPr lang="en-US" sz="1600" dirty="0">
                <a:solidFill>
                  <a:srgbClr val="E0D6DE"/>
                </a:solidFill>
                <a:latin typeface="Fira Sans" pitchFamily="34" charset="0"/>
                <a:ea typeface="Fira Sans" pitchFamily="34" charset="-122"/>
                <a:cs typeface="Fira Sans" pitchFamily="34" charset="-120"/>
              </a:rPr>
              <a:t>MongoDB ofrece operaciones CRUD (Crear, Leer, Actualizar, Eliminar) para manejar los datos almacenados en sus colecciones de documentos. Estas funciones básicas permiten a los desarrolladores interactuar de manera eficiente con la base de datos, agregando, consultando, modificando y eliminando la información según sea necesario.</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75561" y="531495"/>
            <a:ext cx="9554766" cy="603171"/>
          </a:xfrm>
          <a:prstGeom prst="rect">
            <a:avLst/>
          </a:prstGeom>
          <a:noFill/>
          <a:ln/>
        </p:spPr>
        <p:txBody>
          <a:bodyPr wrap="none" lIns="0" tIns="0" rIns="0" bIns="0" rtlCol="0" anchor="t"/>
          <a:lstStyle/>
          <a:p>
            <a:pPr indent="0" marL="0">
              <a:lnSpc>
                <a:spcPts val="4750"/>
              </a:lnSpc>
              <a:buNone/>
            </a:pPr>
            <a:r>
              <a:rPr lang="en-US" sz="3800" dirty="0">
                <a:solidFill>
                  <a:srgbClr val="FBF3FA"/>
                </a:solidFill>
                <a:latin typeface="Fira Mono Medium" pitchFamily="34" charset="0"/>
                <a:ea typeface="Fira Mono Medium" pitchFamily="34" charset="-122"/>
                <a:cs typeface="Fira Mono Medium" pitchFamily="34" charset="-120"/>
              </a:rPr>
              <a:t>Bases de Datos Clave-Valor: Redis</a:t>
            </a:r>
            <a:endParaRPr lang="en-US" sz="3800" dirty="0"/>
          </a:p>
        </p:txBody>
      </p:sp>
      <p:pic>
        <p:nvPicPr>
          <p:cNvPr id="3" name="Image 0" descr="preencoded.png">    </p:cNvPr>
          <p:cNvPicPr>
            <a:picLocks noChangeAspect="1"/>
          </p:cNvPicPr>
          <p:nvPr/>
        </p:nvPicPr>
        <p:blipFill>
          <a:blip r:embed="rId1"/>
          <a:stretch>
            <a:fillRect/>
          </a:stretch>
        </p:blipFill>
        <p:spPr>
          <a:xfrm>
            <a:off x="675561" y="1520666"/>
            <a:ext cx="965121" cy="1544360"/>
          </a:xfrm>
          <a:prstGeom prst="rect">
            <a:avLst/>
          </a:prstGeom>
        </p:spPr>
      </p:pic>
      <p:sp>
        <p:nvSpPr>
          <p:cNvPr id="4" name="Text 1"/>
          <p:cNvSpPr/>
          <p:nvPr/>
        </p:nvSpPr>
        <p:spPr>
          <a:xfrm>
            <a:off x="1930241" y="1713667"/>
            <a:ext cx="2413040" cy="301585"/>
          </a:xfrm>
          <a:prstGeom prst="rect">
            <a:avLst/>
          </a:prstGeom>
          <a:noFill/>
          <a:ln/>
        </p:spPr>
        <p:txBody>
          <a:bodyPr wrap="none" lIns="0" tIns="0" rIns="0" bIns="0" rtlCol="0" anchor="t"/>
          <a:lstStyle/>
          <a:p>
            <a:pPr algn="l" indent="0" marL="0">
              <a:lnSpc>
                <a:spcPts val="2350"/>
              </a:lnSpc>
              <a:buNone/>
            </a:pPr>
            <a:r>
              <a:rPr lang="en-US" sz="1900" dirty="0">
                <a:solidFill>
                  <a:srgbClr val="E0D6DE"/>
                </a:solidFill>
                <a:latin typeface="Fira Mono Medium" pitchFamily="34" charset="0"/>
                <a:ea typeface="Fira Mono Medium" pitchFamily="34" charset="-122"/>
                <a:cs typeface="Fira Mono Medium" pitchFamily="34" charset="-120"/>
              </a:rPr>
              <a:t>Conceptos Clave</a:t>
            </a:r>
            <a:endParaRPr lang="en-US" sz="1900" dirty="0"/>
          </a:p>
        </p:txBody>
      </p:sp>
      <p:sp>
        <p:nvSpPr>
          <p:cNvPr id="5" name="Text 2"/>
          <p:cNvSpPr/>
          <p:nvPr/>
        </p:nvSpPr>
        <p:spPr>
          <a:xfrm>
            <a:off x="1930241" y="2130981"/>
            <a:ext cx="12024598" cy="308729"/>
          </a:xfrm>
          <a:prstGeom prst="rect">
            <a:avLst/>
          </a:prstGeom>
          <a:noFill/>
          <a:ln/>
        </p:spPr>
        <p:txBody>
          <a:bodyPr wrap="none" lIns="0" tIns="0" rIns="0" bIns="0" rtlCol="0" anchor="t"/>
          <a:lstStyle/>
          <a:p>
            <a:pPr algn="l" indent="0" marL="0">
              <a:lnSpc>
                <a:spcPts val="2400"/>
              </a:lnSpc>
              <a:buNone/>
            </a:pPr>
            <a:r>
              <a:rPr lang="en-US" sz="1500" dirty="0">
                <a:solidFill>
                  <a:srgbClr val="E0D6DE"/>
                </a:solidFill>
                <a:latin typeface="Fira Sans" pitchFamily="34" charset="0"/>
                <a:ea typeface="Fira Sans" pitchFamily="34" charset="-122"/>
                <a:cs typeface="Fira Sans" pitchFamily="34" charset="-120"/>
              </a:rPr>
              <a:t>Redis (Remote Dictionary Server) es una base de datos de tipo clave-valor, en memoria, de código abierto y de gran rendimiento.</a:t>
            </a:r>
            <a:endParaRPr lang="en-US" sz="1500" dirty="0"/>
          </a:p>
        </p:txBody>
      </p:sp>
      <p:pic>
        <p:nvPicPr>
          <p:cNvPr id="6" name="Image 1" descr="preencoded.png">    </p:cNvPr>
          <p:cNvPicPr>
            <a:picLocks noChangeAspect="1"/>
          </p:cNvPicPr>
          <p:nvPr/>
        </p:nvPicPr>
        <p:blipFill>
          <a:blip r:embed="rId2"/>
          <a:stretch>
            <a:fillRect/>
          </a:stretch>
        </p:blipFill>
        <p:spPr>
          <a:xfrm>
            <a:off x="675561" y="3065026"/>
            <a:ext cx="965121" cy="1544360"/>
          </a:xfrm>
          <a:prstGeom prst="rect">
            <a:avLst/>
          </a:prstGeom>
        </p:spPr>
      </p:pic>
      <p:sp>
        <p:nvSpPr>
          <p:cNvPr id="7" name="Text 3"/>
          <p:cNvSpPr/>
          <p:nvPr/>
        </p:nvSpPr>
        <p:spPr>
          <a:xfrm>
            <a:off x="1930241" y="3258026"/>
            <a:ext cx="3328868" cy="301585"/>
          </a:xfrm>
          <a:prstGeom prst="rect">
            <a:avLst/>
          </a:prstGeom>
          <a:noFill/>
          <a:ln/>
        </p:spPr>
        <p:txBody>
          <a:bodyPr wrap="none" lIns="0" tIns="0" rIns="0" bIns="0" rtlCol="0" anchor="t"/>
          <a:lstStyle/>
          <a:p>
            <a:pPr algn="l" indent="0" marL="0">
              <a:lnSpc>
                <a:spcPts val="2350"/>
              </a:lnSpc>
              <a:buNone/>
            </a:pPr>
            <a:r>
              <a:rPr lang="en-US" sz="1900" dirty="0">
                <a:solidFill>
                  <a:srgbClr val="E0D6DE"/>
                </a:solidFill>
                <a:latin typeface="Fira Mono Medium" pitchFamily="34" charset="0"/>
                <a:ea typeface="Fira Mono Medium" pitchFamily="34" charset="-122"/>
                <a:cs typeface="Fira Mono Medium" pitchFamily="34" charset="-120"/>
              </a:rPr>
              <a:t>Almacenamiento de Datos</a:t>
            </a:r>
            <a:endParaRPr lang="en-US" sz="1900" dirty="0"/>
          </a:p>
        </p:txBody>
      </p:sp>
      <p:sp>
        <p:nvSpPr>
          <p:cNvPr id="8" name="Text 4"/>
          <p:cNvSpPr/>
          <p:nvPr/>
        </p:nvSpPr>
        <p:spPr>
          <a:xfrm>
            <a:off x="1930241" y="3675340"/>
            <a:ext cx="12024598" cy="617458"/>
          </a:xfrm>
          <a:prstGeom prst="rect">
            <a:avLst/>
          </a:prstGeom>
          <a:noFill/>
          <a:ln/>
        </p:spPr>
        <p:txBody>
          <a:bodyPr wrap="square" lIns="0" tIns="0" rIns="0" bIns="0" rtlCol="0" anchor="t"/>
          <a:lstStyle/>
          <a:p>
            <a:pPr algn="l" indent="0" marL="0">
              <a:lnSpc>
                <a:spcPts val="2400"/>
              </a:lnSpc>
              <a:buNone/>
            </a:pPr>
            <a:r>
              <a:rPr lang="en-US" sz="1500" dirty="0">
                <a:solidFill>
                  <a:srgbClr val="E0D6DE"/>
                </a:solidFill>
                <a:latin typeface="Fira Sans" pitchFamily="34" charset="0"/>
                <a:ea typeface="Fira Sans" pitchFamily="34" charset="-122"/>
                <a:cs typeface="Fira Sans" pitchFamily="34" charset="-120"/>
              </a:rPr>
              <a:t>A diferencia de las bases de datos relacionales, Redis utiliza una estructura sencilla de pares clave-valor para el almacenamiento y recuperación rápida de datos.</a:t>
            </a:r>
            <a:endParaRPr lang="en-US" sz="1500" dirty="0"/>
          </a:p>
        </p:txBody>
      </p:sp>
      <p:pic>
        <p:nvPicPr>
          <p:cNvPr id="9" name="Image 2" descr="preencoded.png">    </p:cNvPr>
          <p:cNvPicPr>
            <a:picLocks noChangeAspect="1"/>
          </p:cNvPicPr>
          <p:nvPr/>
        </p:nvPicPr>
        <p:blipFill>
          <a:blip r:embed="rId3"/>
          <a:stretch>
            <a:fillRect/>
          </a:stretch>
        </p:blipFill>
        <p:spPr>
          <a:xfrm>
            <a:off x="675561" y="4609386"/>
            <a:ext cx="965121" cy="1544360"/>
          </a:xfrm>
          <a:prstGeom prst="rect">
            <a:avLst/>
          </a:prstGeom>
        </p:spPr>
      </p:pic>
      <p:sp>
        <p:nvSpPr>
          <p:cNvPr id="10" name="Text 5"/>
          <p:cNvSpPr/>
          <p:nvPr/>
        </p:nvSpPr>
        <p:spPr>
          <a:xfrm>
            <a:off x="1930241" y="4802386"/>
            <a:ext cx="3763089" cy="301585"/>
          </a:xfrm>
          <a:prstGeom prst="rect">
            <a:avLst/>
          </a:prstGeom>
          <a:noFill/>
          <a:ln/>
        </p:spPr>
        <p:txBody>
          <a:bodyPr wrap="none" lIns="0" tIns="0" rIns="0" bIns="0" rtlCol="0" anchor="t"/>
          <a:lstStyle/>
          <a:p>
            <a:pPr algn="l" indent="0" marL="0">
              <a:lnSpc>
                <a:spcPts val="2350"/>
              </a:lnSpc>
              <a:buNone/>
            </a:pPr>
            <a:r>
              <a:rPr lang="en-US" sz="1900" dirty="0">
                <a:solidFill>
                  <a:srgbClr val="E0D6DE"/>
                </a:solidFill>
                <a:latin typeface="Fira Mono Medium" pitchFamily="34" charset="0"/>
                <a:ea typeface="Fira Mono Medium" pitchFamily="34" charset="-122"/>
                <a:cs typeface="Fira Mono Medium" pitchFamily="34" charset="-120"/>
              </a:rPr>
              <a:t>Características Destacadas</a:t>
            </a:r>
            <a:endParaRPr lang="en-US" sz="1900" dirty="0"/>
          </a:p>
        </p:txBody>
      </p:sp>
      <p:sp>
        <p:nvSpPr>
          <p:cNvPr id="11" name="Text 6"/>
          <p:cNvSpPr/>
          <p:nvPr/>
        </p:nvSpPr>
        <p:spPr>
          <a:xfrm>
            <a:off x="1930241" y="5219700"/>
            <a:ext cx="12024598" cy="617458"/>
          </a:xfrm>
          <a:prstGeom prst="rect">
            <a:avLst/>
          </a:prstGeom>
          <a:noFill/>
          <a:ln/>
        </p:spPr>
        <p:txBody>
          <a:bodyPr wrap="square" lIns="0" tIns="0" rIns="0" bIns="0" rtlCol="0" anchor="t"/>
          <a:lstStyle/>
          <a:p>
            <a:pPr algn="l" indent="0" marL="0">
              <a:lnSpc>
                <a:spcPts val="2400"/>
              </a:lnSpc>
              <a:buNone/>
            </a:pPr>
            <a:r>
              <a:rPr lang="en-US" sz="1500" dirty="0">
                <a:solidFill>
                  <a:srgbClr val="E0D6DE"/>
                </a:solidFill>
                <a:latin typeface="Fira Sans" pitchFamily="34" charset="0"/>
                <a:ea typeface="Fira Sans" pitchFamily="34" charset="-122"/>
                <a:cs typeface="Fira Sans" pitchFamily="34" charset="-120"/>
              </a:rPr>
              <a:t>Redis ofrece una gran variedad de tipos de datos, como cadenas, listas, conjuntos y hashes, lo que lo hace muy flexible y adaptable a diversas necesidades.</a:t>
            </a:r>
            <a:endParaRPr lang="en-US" sz="1500" dirty="0"/>
          </a:p>
        </p:txBody>
      </p:sp>
      <p:pic>
        <p:nvPicPr>
          <p:cNvPr id="12" name="Image 3" descr="preencoded.png">    </p:cNvPr>
          <p:cNvPicPr>
            <a:picLocks noChangeAspect="1"/>
          </p:cNvPicPr>
          <p:nvPr/>
        </p:nvPicPr>
        <p:blipFill>
          <a:blip r:embed="rId4"/>
          <a:stretch>
            <a:fillRect/>
          </a:stretch>
        </p:blipFill>
        <p:spPr>
          <a:xfrm>
            <a:off x="675561" y="6153745"/>
            <a:ext cx="965121" cy="1544360"/>
          </a:xfrm>
          <a:prstGeom prst="rect">
            <a:avLst/>
          </a:prstGeom>
        </p:spPr>
      </p:pic>
      <p:sp>
        <p:nvSpPr>
          <p:cNvPr id="13" name="Text 7"/>
          <p:cNvSpPr/>
          <p:nvPr/>
        </p:nvSpPr>
        <p:spPr>
          <a:xfrm>
            <a:off x="1930241" y="6346746"/>
            <a:ext cx="3907869" cy="301585"/>
          </a:xfrm>
          <a:prstGeom prst="rect">
            <a:avLst/>
          </a:prstGeom>
          <a:noFill/>
          <a:ln/>
        </p:spPr>
        <p:txBody>
          <a:bodyPr wrap="none" lIns="0" tIns="0" rIns="0" bIns="0" rtlCol="0" anchor="t"/>
          <a:lstStyle/>
          <a:p>
            <a:pPr algn="l" indent="0" marL="0">
              <a:lnSpc>
                <a:spcPts val="2350"/>
              </a:lnSpc>
              <a:buNone/>
            </a:pPr>
            <a:r>
              <a:rPr lang="en-US" sz="1900" dirty="0">
                <a:solidFill>
                  <a:srgbClr val="E0D6DE"/>
                </a:solidFill>
                <a:latin typeface="Fira Mono Medium" pitchFamily="34" charset="0"/>
                <a:ea typeface="Fira Mono Medium" pitchFamily="34" charset="-122"/>
                <a:cs typeface="Fira Mono Medium" pitchFamily="34" charset="-120"/>
              </a:rPr>
              <a:t>Rendimiento y Escalabilidad</a:t>
            </a:r>
            <a:endParaRPr lang="en-US" sz="1900" dirty="0"/>
          </a:p>
        </p:txBody>
      </p:sp>
      <p:sp>
        <p:nvSpPr>
          <p:cNvPr id="14" name="Text 8"/>
          <p:cNvSpPr/>
          <p:nvPr/>
        </p:nvSpPr>
        <p:spPr>
          <a:xfrm>
            <a:off x="1930241" y="6764060"/>
            <a:ext cx="12024598" cy="617458"/>
          </a:xfrm>
          <a:prstGeom prst="rect">
            <a:avLst/>
          </a:prstGeom>
          <a:noFill/>
          <a:ln/>
        </p:spPr>
        <p:txBody>
          <a:bodyPr wrap="square" lIns="0" tIns="0" rIns="0" bIns="0" rtlCol="0" anchor="t"/>
          <a:lstStyle/>
          <a:p>
            <a:pPr algn="l" indent="0" marL="0">
              <a:lnSpc>
                <a:spcPts val="2400"/>
              </a:lnSpc>
              <a:buNone/>
            </a:pPr>
            <a:r>
              <a:rPr lang="en-US" sz="1500" dirty="0">
                <a:solidFill>
                  <a:srgbClr val="E0D6DE"/>
                </a:solidFill>
                <a:latin typeface="Fira Sans" pitchFamily="34" charset="0"/>
                <a:ea typeface="Fira Sans" pitchFamily="34" charset="-122"/>
                <a:cs typeface="Fira Sans" pitchFamily="34" charset="-120"/>
              </a:rPr>
              <a:t>Gracias a su arquitectura en memoria, Redis es capaz de procesar un gran volumen de consultas con baja latencia, lo que lo convierte en una solución ideal para aplicaciones con altas demandas de rendimiento.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53841" y="3320296"/>
            <a:ext cx="4978598" cy="1589008"/>
          </a:xfrm>
          <a:prstGeom prst="rect">
            <a:avLst/>
          </a:prstGeom>
        </p:spPr>
      </p:pic>
      <p:sp>
        <p:nvSpPr>
          <p:cNvPr id="4" name="Text 0"/>
          <p:cNvSpPr/>
          <p:nvPr/>
        </p:nvSpPr>
        <p:spPr>
          <a:xfrm>
            <a:off x="6196965" y="558284"/>
            <a:ext cx="7722870" cy="1268730"/>
          </a:xfrm>
          <a:prstGeom prst="rect">
            <a:avLst/>
          </a:prstGeom>
          <a:noFill/>
          <a:ln/>
        </p:spPr>
        <p:txBody>
          <a:bodyPr wrap="square" lIns="0" tIns="0" rIns="0" bIns="0" rtlCol="0" anchor="t"/>
          <a:lstStyle/>
          <a:p>
            <a:pPr indent="0" marL="0">
              <a:lnSpc>
                <a:spcPts val="4950"/>
              </a:lnSpc>
              <a:buNone/>
            </a:pPr>
            <a:r>
              <a:rPr lang="en-US" sz="3950" dirty="0">
                <a:solidFill>
                  <a:srgbClr val="FBF3FA"/>
                </a:solidFill>
                <a:latin typeface="Fira Mono Medium" pitchFamily="34" charset="0"/>
                <a:ea typeface="Fira Mono Medium" pitchFamily="34" charset="-122"/>
                <a:cs typeface="Fira Mono Medium" pitchFamily="34" charset="-120"/>
              </a:rPr>
              <a:t>Operaciones básicas en Redis</a:t>
            </a:r>
            <a:endParaRPr lang="en-US" sz="3950" dirty="0"/>
          </a:p>
        </p:txBody>
      </p:sp>
      <p:sp>
        <p:nvSpPr>
          <p:cNvPr id="5" name="Shape 1"/>
          <p:cNvSpPr/>
          <p:nvPr/>
        </p:nvSpPr>
        <p:spPr>
          <a:xfrm>
            <a:off x="6489978" y="2131457"/>
            <a:ext cx="22860" cy="5539740"/>
          </a:xfrm>
          <a:prstGeom prst="roundRect">
            <a:avLst>
              <a:gd name="adj" fmla="val 133219"/>
            </a:avLst>
          </a:prstGeom>
          <a:solidFill>
            <a:srgbClr val="474748"/>
          </a:solidFill>
          <a:ln/>
        </p:spPr>
      </p:sp>
      <p:sp>
        <p:nvSpPr>
          <p:cNvPr id="6" name="Shape 2"/>
          <p:cNvSpPr/>
          <p:nvPr/>
        </p:nvSpPr>
        <p:spPr>
          <a:xfrm>
            <a:off x="6706910" y="2576751"/>
            <a:ext cx="710565" cy="22860"/>
          </a:xfrm>
          <a:prstGeom prst="roundRect">
            <a:avLst>
              <a:gd name="adj" fmla="val 133219"/>
            </a:avLst>
          </a:prstGeom>
          <a:solidFill>
            <a:srgbClr val="474748"/>
          </a:solidFill>
          <a:ln/>
        </p:spPr>
      </p:sp>
      <p:sp>
        <p:nvSpPr>
          <p:cNvPr id="7" name="Shape 3"/>
          <p:cNvSpPr/>
          <p:nvPr/>
        </p:nvSpPr>
        <p:spPr>
          <a:xfrm>
            <a:off x="6273046" y="2359819"/>
            <a:ext cx="456724" cy="456724"/>
          </a:xfrm>
          <a:prstGeom prst="roundRect">
            <a:avLst>
              <a:gd name="adj" fmla="val 6668"/>
            </a:avLst>
          </a:prstGeom>
          <a:solidFill>
            <a:srgbClr val="2E2E2F"/>
          </a:solidFill>
          <a:ln/>
        </p:spPr>
      </p:sp>
      <p:sp>
        <p:nvSpPr>
          <p:cNvPr id="8" name="Text 4"/>
          <p:cNvSpPr/>
          <p:nvPr/>
        </p:nvSpPr>
        <p:spPr>
          <a:xfrm>
            <a:off x="6409968" y="2435900"/>
            <a:ext cx="182761" cy="304562"/>
          </a:xfrm>
          <a:prstGeom prst="rect">
            <a:avLst/>
          </a:prstGeom>
          <a:noFill/>
          <a:ln/>
        </p:spPr>
        <p:txBody>
          <a:bodyPr wrap="none" lIns="0" tIns="0" rIns="0" bIns="0" rtlCol="0" anchor="t"/>
          <a:lstStyle/>
          <a:p>
            <a:pPr algn="ctr" indent="0" marL="0">
              <a:lnSpc>
                <a:spcPts val="2350"/>
              </a:lnSpc>
              <a:buNone/>
            </a:pPr>
            <a:r>
              <a:rPr lang="en-US" sz="2350" dirty="0">
                <a:solidFill>
                  <a:srgbClr val="E0D6DE"/>
                </a:solidFill>
                <a:latin typeface="Fira Mono Medium" pitchFamily="34" charset="0"/>
                <a:ea typeface="Fira Mono Medium" pitchFamily="34" charset="-122"/>
                <a:cs typeface="Fira Mono Medium" pitchFamily="34" charset="-120"/>
              </a:rPr>
              <a:t>1</a:t>
            </a:r>
            <a:endParaRPr lang="en-US" sz="2350" dirty="0"/>
          </a:p>
        </p:txBody>
      </p:sp>
      <p:sp>
        <p:nvSpPr>
          <p:cNvPr id="9" name="Text 5"/>
          <p:cNvSpPr/>
          <p:nvPr/>
        </p:nvSpPr>
        <p:spPr>
          <a:xfrm>
            <a:off x="7617976" y="2334458"/>
            <a:ext cx="2537817" cy="317302"/>
          </a:xfrm>
          <a:prstGeom prst="rect">
            <a:avLst/>
          </a:prstGeom>
          <a:noFill/>
          <a:ln/>
        </p:spPr>
        <p:txBody>
          <a:bodyPr wrap="none" lIns="0" tIns="0" rIns="0" bIns="0" rtlCol="0" anchor="t"/>
          <a:lstStyle/>
          <a:p>
            <a:pPr algn="l" indent="0" marL="0">
              <a:lnSpc>
                <a:spcPts val="2450"/>
              </a:lnSpc>
              <a:buNone/>
            </a:pPr>
            <a:r>
              <a:rPr lang="en-US" sz="1950" dirty="0">
                <a:solidFill>
                  <a:srgbClr val="E0D6DE"/>
                </a:solidFill>
                <a:latin typeface="Fira Mono Medium" pitchFamily="34" charset="0"/>
                <a:ea typeface="Fira Mono Medium" pitchFamily="34" charset="-122"/>
                <a:cs typeface="Fira Mono Medium" pitchFamily="34" charset="-120"/>
              </a:rPr>
              <a:t>Almacenamiento</a:t>
            </a:r>
            <a:endParaRPr lang="en-US" sz="1950" dirty="0"/>
          </a:p>
        </p:txBody>
      </p:sp>
      <p:sp>
        <p:nvSpPr>
          <p:cNvPr id="10" name="Text 6"/>
          <p:cNvSpPr/>
          <p:nvPr/>
        </p:nvSpPr>
        <p:spPr>
          <a:xfrm>
            <a:off x="7617976" y="2773561"/>
            <a:ext cx="6301859" cy="649605"/>
          </a:xfrm>
          <a:prstGeom prst="rect">
            <a:avLst/>
          </a:prstGeom>
          <a:noFill/>
          <a:ln/>
        </p:spPr>
        <p:txBody>
          <a:bodyPr wrap="square" lIns="0" tIns="0" rIns="0" bIns="0" rtlCol="0" anchor="t"/>
          <a:lstStyle/>
          <a:p>
            <a:pPr algn="l" indent="0" marL="0">
              <a:lnSpc>
                <a:spcPts val="2550"/>
              </a:lnSpc>
              <a:buNone/>
            </a:pPr>
            <a:r>
              <a:rPr lang="en-US" sz="1550" dirty="0">
                <a:solidFill>
                  <a:srgbClr val="E0D6DE"/>
                </a:solidFill>
                <a:latin typeface="Fira Sans" pitchFamily="34" charset="0"/>
                <a:ea typeface="Fira Sans" pitchFamily="34" charset="-122"/>
                <a:cs typeface="Fira Sans" pitchFamily="34" charset="-120"/>
              </a:rPr>
              <a:t>Redis permite almacenar datos en estructuras como cadenas, listas, conjuntos y hashes de manera sencilla y eficiente.</a:t>
            </a:r>
            <a:endParaRPr lang="en-US" sz="1550" dirty="0"/>
          </a:p>
        </p:txBody>
      </p:sp>
      <p:sp>
        <p:nvSpPr>
          <p:cNvPr id="11" name="Shape 7"/>
          <p:cNvSpPr/>
          <p:nvPr/>
        </p:nvSpPr>
        <p:spPr>
          <a:xfrm>
            <a:off x="6706910" y="4274463"/>
            <a:ext cx="710565" cy="22860"/>
          </a:xfrm>
          <a:prstGeom prst="roundRect">
            <a:avLst>
              <a:gd name="adj" fmla="val 133219"/>
            </a:avLst>
          </a:prstGeom>
          <a:solidFill>
            <a:srgbClr val="474748"/>
          </a:solidFill>
          <a:ln/>
        </p:spPr>
      </p:sp>
      <p:sp>
        <p:nvSpPr>
          <p:cNvPr id="12" name="Shape 8"/>
          <p:cNvSpPr/>
          <p:nvPr/>
        </p:nvSpPr>
        <p:spPr>
          <a:xfrm>
            <a:off x="6273046" y="4057531"/>
            <a:ext cx="456724" cy="456724"/>
          </a:xfrm>
          <a:prstGeom prst="roundRect">
            <a:avLst>
              <a:gd name="adj" fmla="val 6668"/>
            </a:avLst>
          </a:prstGeom>
          <a:solidFill>
            <a:srgbClr val="2E2E2F"/>
          </a:solidFill>
          <a:ln/>
        </p:spPr>
      </p:sp>
      <p:sp>
        <p:nvSpPr>
          <p:cNvPr id="13" name="Text 9"/>
          <p:cNvSpPr/>
          <p:nvPr/>
        </p:nvSpPr>
        <p:spPr>
          <a:xfrm>
            <a:off x="6409968" y="4133612"/>
            <a:ext cx="182761" cy="304562"/>
          </a:xfrm>
          <a:prstGeom prst="rect">
            <a:avLst/>
          </a:prstGeom>
          <a:noFill/>
          <a:ln/>
        </p:spPr>
        <p:txBody>
          <a:bodyPr wrap="none" lIns="0" tIns="0" rIns="0" bIns="0" rtlCol="0" anchor="t"/>
          <a:lstStyle/>
          <a:p>
            <a:pPr algn="ctr" indent="0" marL="0">
              <a:lnSpc>
                <a:spcPts val="2350"/>
              </a:lnSpc>
              <a:buNone/>
            </a:pPr>
            <a:r>
              <a:rPr lang="en-US" sz="2350" dirty="0">
                <a:solidFill>
                  <a:srgbClr val="E0D6DE"/>
                </a:solidFill>
                <a:latin typeface="Fira Mono Medium" pitchFamily="34" charset="0"/>
                <a:ea typeface="Fira Mono Medium" pitchFamily="34" charset="-122"/>
                <a:cs typeface="Fira Mono Medium" pitchFamily="34" charset="-120"/>
              </a:rPr>
              <a:t>2</a:t>
            </a:r>
            <a:endParaRPr lang="en-US" sz="2350" dirty="0"/>
          </a:p>
        </p:txBody>
      </p:sp>
      <p:sp>
        <p:nvSpPr>
          <p:cNvPr id="14" name="Text 10"/>
          <p:cNvSpPr/>
          <p:nvPr/>
        </p:nvSpPr>
        <p:spPr>
          <a:xfrm>
            <a:off x="7617976" y="4032171"/>
            <a:ext cx="2537817" cy="317302"/>
          </a:xfrm>
          <a:prstGeom prst="rect">
            <a:avLst/>
          </a:prstGeom>
          <a:noFill/>
          <a:ln/>
        </p:spPr>
        <p:txBody>
          <a:bodyPr wrap="none" lIns="0" tIns="0" rIns="0" bIns="0" rtlCol="0" anchor="t"/>
          <a:lstStyle/>
          <a:p>
            <a:pPr algn="l" indent="0" marL="0">
              <a:lnSpc>
                <a:spcPts val="2450"/>
              </a:lnSpc>
              <a:buNone/>
            </a:pPr>
            <a:r>
              <a:rPr lang="en-US" sz="1950" dirty="0">
                <a:solidFill>
                  <a:srgbClr val="E0D6DE"/>
                </a:solidFill>
                <a:latin typeface="Fira Mono Medium" pitchFamily="34" charset="0"/>
                <a:ea typeface="Fira Mono Medium" pitchFamily="34" charset="-122"/>
                <a:cs typeface="Fira Mono Medium" pitchFamily="34" charset="-120"/>
              </a:rPr>
              <a:t>Recuperación</a:t>
            </a:r>
            <a:endParaRPr lang="en-US" sz="1950" dirty="0"/>
          </a:p>
        </p:txBody>
      </p:sp>
      <p:sp>
        <p:nvSpPr>
          <p:cNvPr id="15" name="Text 11"/>
          <p:cNvSpPr/>
          <p:nvPr/>
        </p:nvSpPr>
        <p:spPr>
          <a:xfrm>
            <a:off x="7617976" y="4471273"/>
            <a:ext cx="6301859" cy="974408"/>
          </a:xfrm>
          <a:prstGeom prst="rect">
            <a:avLst/>
          </a:prstGeom>
          <a:noFill/>
          <a:ln/>
        </p:spPr>
        <p:txBody>
          <a:bodyPr wrap="square" lIns="0" tIns="0" rIns="0" bIns="0" rtlCol="0" anchor="t"/>
          <a:lstStyle/>
          <a:p>
            <a:pPr algn="l" indent="0" marL="0">
              <a:lnSpc>
                <a:spcPts val="2550"/>
              </a:lnSpc>
              <a:buNone/>
            </a:pPr>
            <a:r>
              <a:rPr lang="en-US" sz="1550" dirty="0">
                <a:solidFill>
                  <a:srgbClr val="E0D6DE"/>
                </a:solidFill>
                <a:latin typeface="Fira Sans" pitchFamily="34" charset="0"/>
                <a:ea typeface="Fira Sans" pitchFamily="34" charset="-122"/>
                <a:cs typeface="Fira Sans" pitchFamily="34" charset="-120"/>
              </a:rPr>
              <a:t>Acceder y recuperar datos almacenados en Redis es rápido y directo, gracias a su diseño optimizado para el acceso y la búsqueda.</a:t>
            </a:r>
            <a:endParaRPr lang="en-US" sz="1550" dirty="0"/>
          </a:p>
        </p:txBody>
      </p:sp>
      <p:sp>
        <p:nvSpPr>
          <p:cNvPr id="16" name="Shape 12"/>
          <p:cNvSpPr/>
          <p:nvPr/>
        </p:nvSpPr>
        <p:spPr>
          <a:xfrm>
            <a:off x="6706910" y="6296978"/>
            <a:ext cx="710565" cy="22860"/>
          </a:xfrm>
          <a:prstGeom prst="roundRect">
            <a:avLst>
              <a:gd name="adj" fmla="val 133219"/>
            </a:avLst>
          </a:prstGeom>
          <a:solidFill>
            <a:srgbClr val="474748"/>
          </a:solidFill>
          <a:ln/>
        </p:spPr>
      </p:sp>
      <p:sp>
        <p:nvSpPr>
          <p:cNvPr id="17" name="Shape 13"/>
          <p:cNvSpPr/>
          <p:nvPr/>
        </p:nvSpPr>
        <p:spPr>
          <a:xfrm>
            <a:off x="6273046" y="6080046"/>
            <a:ext cx="456724" cy="456724"/>
          </a:xfrm>
          <a:prstGeom prst="roundRect">
            <a:avLst>
              <a:gd name="adj" fmla="val 6668"/>
            </a:avLst>
          </a:prstGeom>
          <a:solidFill>
            <a:srgbClr val="2E2E2F"/>
          </a:solidFill>
          <a:ln/>
        </p:spPr>
      </p:sp>
      <p:sp>
        <p:nvSpPr>
          <p:cNvPr id="18" name="Text 14"/>
          <p:cNvSpPr/>
          <p:nvPr/>
        </p:nvSpPr>
        <p:spPr>
          <a:xfrm>
            <a:off x="6409968" y="6156127"/>
            <a:ext cx="182761" cy="304562"/>
          </a:xfrm>
          <a:prstGeom prst="rect">
            <a:avLst/>
          </a:prstGeom>
          <a:noFill/>
          <a:ln/>
        </p:spPr>
        <p:txBody>
          <a:bodyPr wrap="none" lIns="0" tIns="0" rIns="0" bIns="0" rtlCol="0" anchor="t"/>
          <a:lstStyle/>
          <a:p>
            <a:pPr algn="ctr" indent="0" marL="0">
              <a:lnSpc>
                <a:spcPts val="2350"/>
              </a:lnSpc>
              <a:buNone/>
            </a:pPr>
            <a:r>
              <a:rPr lang="en-US" sz="2350" dirty="0">
                <a:solidFill>
                  <a:srgbClr val="E0D6DE"/>
                </a:solidFill>
                <a:latin typeface="Fira Mono Medium" pitchFamily="34" charset="0"/>
                <a:ea typeface="Fira Mono Medium" pitchFamily="34" charset="-122"/>
                <a:cs typeface="Fira Mono Medium" pitchFamily="34" charset="-120"/>
              </a:rPr>
              <a:t>3</a:t>
            </a:r>
            <a:endParaRPr lang="en-US" sz="2350" dirty="0"/>
          </a:p>
        </p:txBody>
      </p:sp>
      <p:sp>
        <p:nvSpPr>
          <p:cNvPr id="19" name="Text 15"/>
          <p:cNvSpPr/>
          <p:nvPr/>
        </p:nvSpPr>
        <p:spPr>
          <a:xfrm>
            <a:off x="7617976" y="6054685"/>
            <a:ext cx="2537817" cy="317302"/>
          </a:xfrm>
          <a:prstGeom prst="rect">
            <a:avLst/>
          </a:prstGeom>
          <a:noFill/>
          <a:ln/>
        </p:spPr>
        <p:txBody>
          <a:bodyPr wrap="none" lIns="0" tIns="0" rIns="0" bIns="0" rtlCol="0" anchor="t"/>
          <a:lstStyle/>
          <a:p>
            <a:pPr algn="l" indent="0" marL="0">
              <a:lnSpc>
                <a:spcPts val="2450"/>
              </a:lnSpc>
              <a:buNone/>
            </a:pPr>
            <a:r>
              <a:rPr lang="en-US" sz="1950" dirty="0">
                <a:solidFill>
                  <a:srgbClr val="E0D6DE"/>
                </a:solidFill>
                <a:latin typeface="Fira Mono Medium" pitchFamily="34" charset="0"/>
                <a:ea typeface="Fira Mono Medium" pitchFamily="34" charset="-122"/>
                <a:cs typeface="Fira Mono Medium" pitchFamily="34" charset="-120"/>
              </a:rPr>
              <a:t>Manipulación</a:t>
            </a:r>
            <a:endParaRPr lang="en-US" sz="1950" dirty="0"/>
          </a:p>
        </p:txBody>
      </p:sp>
      <p:sp>
        <p:nvSpPr>
          <p:cNvPr id="20" name="Text 16"/>
          <p:cNvSpPr/>
          <p:nvPr/>
        </p:nvSpPr>
        <p:spPr>
          <a:xfrm>
            <a:off x="7617976" y="6493788"/>
            <a:ext cx="6301859" cy="974408"/>
          </a:xfrm>
          <a:prstGeom prst="rect">
            <a:avLst/>
          </a:prstGeom>
          <a:noFill/>
          <a:ln/>
        </p:spPr>
        <p:txBody>
          <a:bodyPr wrap="square" lIns="0" tIns="0" rIns="0" bIns="0" rtlCol="0" anchor="t"/>
          <a:lstStyle/>
          <a:p>
            <a:pPr algn="l" indent="0" marL="0">
              <a:lnSpc>
                <a:spcPts val="2550"/>
              </a:lnSpc>
              <a:buNone/>
            </a:pPr>
            <a:r>
              <a:rPr lang="en-US" sz="1550" dirty="0">
                <a:solidFill>
                  <a:srgbClr val="E0D6DE"/>
                </a:solidFill>
                <a:latin typeface="Fira Sans" pitchFamily="34" charset="0"/>
                <a:ea typeface="Fira Sans" pitchFamily="34" charset="-122"/>
                <a:cs typeface="Fira Sans" pitchFamily="34" charset="-120"/>
              </a:rPr>
              <a:t>Redis ofrece una amplia gama de comandos para manipular los datos almacenados, como incrementar, decrementar, agregar, remover y más.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143006"/>
          </a:xfrm>
          <a:prstGeom prst="rect">
            <a:avLst/>
          </a:prstGeom>
        </p:spPr>
      </p:pic>
      <p:sp>
        <p:nvSpPr>
          <p:cNvPr id="3" name="Text 0"/>
          <p:cNvSpPr/>
          <p:nvPr/>
        </p:nvSpPr>
        <p:spPr>
          <a:xfrm>
            <a:off x="599956" y="2748439"/>
            <a:ext cx="6170533" cy="535781"/>
          </a:xfrm>
          <a:prstGeom prst="rect">
            <a:avLst/>
          </a:prstGeom>
          <a:noFill/>
          <a:ln/>
        </p:spPr>
        <p:txBody>
          <a:bodyPr wrap="none" lIns="0" tIns="0" rIns="0" bIns="0" rtlCol="0" anchor="t"/>
          <a:lstStyle/>
          <a:p>
            <a:pPr indent="0" marL="0">
              <a:lnSpc>
                <a:spcPts val="4200"/>
              </a:lnSpc>
              <a:buNone/>
            </a:pPr>
            <a:r>
              <a:rPr lang="en-US" sz="3350" dirty="0">
                <a:solidFill>
                  <a:srgbClr val="FBF3FA"/>
                </a:solidFill>
                <a:latin typeface="Fira Mono Medium" pitchFamily="34" charset="0"/>
                <a:ea typeface="Fira Mono Medium" pitchFamily="34" charset="-122"/>
                <a:cs typeface="Fira Mono Medium" pitchFamily="34" charset="-120"/>
              </a:rPr>
              <a:t>Comparación NoSQL vs SQL</a:t>
            </a:r>
            <a:endParaRPr lang="en-US" sz="3350" dirty="0"/>
          </a:p>
        </p:txBody>
      </p:sp>
      <p:sp>
        <p:nvSpPr>
          <p:cNvPr id="4" name="Shape 1"/>
          <p:cNvSpPr/>
          <p:nvPr/>
        </p:nvSpPr>
        <p:spPr>
          <a:xfrm>
            <a:off x="599956" y="3541276"/>
            <a:ext cx="13430488" cy="4082891"/>
          </a:xfrm>
          <a:prstGeom prst="roundRect">
            <a:avLst>
              <a:gd name="adj" fmla="val 630"/>
            </a:avLst>
          </a:prstGeom>
          <a:noFill/>
          <a:ln w="7620">
            <a:solidFill>
              <a:srgbClr val="FFFFFF">
                <a:alpha val="24000"/>
              </a:srgbClr>
            </a:solidFill>
            <a:prstDash val="solid"/>
          </a:ln>
        </p:spPr>
      </p:sp>
      <p:sp>
        <p:nvSpPr>
          <p:cNvPr id="5" name="Shape 2"/>
          <p:cNvSpPr/>
          <p:nvPr/>
        </p:nvSpPr>
        <p:spPr>
          <a:xfrm>
            <a:off x="607576" y="3548896"/>
            <a:ext cx="13413819" cy="495062"/>
          </a:xfrm>
          <a:prstGeom prst="rect">
            <a:avLst/>
          </a:prstGeom>
          <a:solidFill>
            <a:srgbClr val="FFFFFF">
              <a:alpha val="4000"/>
            </a:srgbClr>
          </a:solidFill>
          <a:ln/>
        </p:spPr>
      </p:sp>
      <p:sp>
        <p:nvSpPr>
          <p:cNvPr id="6" name="Text 3"/>
          <p:cNvSpPr/>
          <p:nvPr/>
        </p:nvSpPr>
        <p:spPr>
          <a:xfrm>
            <a:off x="780336" y="3659267"/>
            <a:ext cx="4124325" cy="274320"/>
          </a:xfrm>
          <a:prstGeom prst="rect">
            <a:avLst/>
          </a:prstGeom>
          <a:noFill/>
          <a:ln/>
        </p:spPr>
        <p:txBody>
          <a:bodyPr wrap="none" lIns="0" tIns="0" rIns="0" bIns="0" rtlCol="0" anchor="t"/>
          <a:lstStyle/>
          <a:p>
            <a:pPr indent="0" marL="0">
              <a:lnSpc>
                <a:spcPts val="2150"/>
              </a:lnSpc>
              <a:buNone/>
            </a:pPr>
            <a:r>
              <a:rPr lang="en-US" sz="1300" b="1" dirty="0">
                <a:solidFill>
                  <a:srgbClr val="E0D6DE"/>
                </a:solidFill>
                <a:latin typeface="Fira Sans" pitchFamily="34" charset="0"/>
                <a:ea typeface="Fira Sans" pitchFamily="34" charset="-122"/>
                <a:cs typeface="Fira Sans" pitchFamily="34" charset="-120"/>
              </a:rPr>
              <a:t>Característica</a:t>
            </a:r>
            <a:endParaRPr lang="en-US" sz="1300" dirty="0"/>
          </a:p>
        </p:txBody>
      </p:sp>
      <p:sp>
        <p:nvSpPr>
          <p:cNvPr id="7" name="Text 4"/>
          <p:cNvSpPr/>
          <p:nvPr/>
        </p:nvSpPr>
        <p:spPr>
          <a:xfrm>
            <a:off x="5254943" y="3659267"/>
            <a:ext cx="4120515" cy="274320"/>
          </a:xfrm>
          <a:prstGeom prst="rect">
            <a:avLst/>
          </a:prstGeom>
          <a:noFill/>
          <a:ln/>
        </p:spPr>
        <p:txBody>
          <a:bodyPr wrap="none" lIns="0" tIns="0" rIns="0" bIns="0" rtlCol="0" anchor="t"/>
          <a:lstStyle/>
          <a:p>
            <a:pPr indent="0" marL="0">
              <a:lnSpc>
                <a:spcPts val="2150"/>
              </a:lnSpc>
              <a:buNone/>
            </a:pPr>
            <a:r>
              <a:rPr lang="en-US" sz="1300" b="1" dirty="0">
                <a:solidFill>
                  <a:srgbClr val="E0D6DE"/>
                </a:solidFill>
                <a:latin typeface="Fira Sans" pitchFamily="34" charset="0"/>
                <a:ea typeface="Fira Sans" pitchFamily="34" charset="-122"/>
                <a:cs typeface="Fira Sans" pitchFamily="34" charset="-120"/>
              </a:rPr>
              <a:t>Bases de Datos SQL</a:t>
            </a:r>
            <a:endParaRPr lang="en-US" sz="1300" dirty="0"/>
          </a:p>
        </p:txBody>
      </p:sp>
      <p:sp>
        <p:nvSpPr>
          <p:cNvPr id="8" name="Text 5"/>
          <p:cNvSpPr/>
          <p:nvPr/>
        </p:nvSpPr>
        <p:spPr>
          <a:xfrm>
            <a:off x="9725739" y="3659267"/>
            <a:ext cx="4124325" cy="274320"/>
          </a:xfrm>
          <a:prstGeom prst="rect">
            <a:avLst/>
          </a:prstGeom>
          <a:noFill/>
          <a:ln/>
        </p:spPr>
        <p:txBody>
          <a:bodyPr wrap="none" lIns="0" tIns="0" rIns="0" bIns="0" rtlCol="0" anchor="t"/>
          <a:lstStyle/>
          <a:p>
            <a:pPr indent="0" marL="0">
              <a:lnSpc>
                <a:spcPts val="2150"/>
              </a:lnSpc>
              <a:buNone/>
            </a:pPr>
            <a:r>
              <a:rPr lang="en-US" sz="1300" b="1" dirty="0">
                <a:solidFill>
                  <a:srgbClr val="E0D6DE"/>
                </a:solidFill>
                <a:latin typeface="Fira Sans" pitchFamily="34" charset="0"/>
                <a:ea typeface="Fira Sans" pitchFamily="34" charset="-122"/>
                <a:cs typeface="Fira Sans" pitchFamily="34" charset="-120"/>
              </a:rPr>
              <a:t>Bases de Datos NoSQL</a:t>
            </a:r>
            <a:endParaRPr lang="en-US" sz="1300" dirty="0"/>
          </a:p>
        </p:txBody>
      </p:sp>
      <p:sp>
        <p:nvSpPr>
          <p:cNvPr id="9" name="Shape 6"/>
          <p:cNvSpPr/>
          <p:nvPr/>
        </p:nvSpPr>
        <p:spPr>
          <a:xfrm>
            <a:off x="607576" y="4043958"/>
            <a:ext cx="13413819" cy="769382"/>
          </a:xfrm>
          <a:prstGeom prst="rect">
            <a:avLst/>
          </a:prstGeom>
          <a:solidFill>
            <a:srgbClr val="000000">
              <a:alpha val="4000"/>
            </a:srgbClr>
          </a:solidFill>
          <a:ln/>
        </p:spPr>
      </p:sp>
      <p:sp>
        <p:nvSpPr>
          <p:cNvPr id="10" name="Text 7"/>
          <p:cNvSpPr/>
          <p:nvPr/>
        </p:nvSpPr>
        <p:spPr>
          <a:xfrm>
            <a:off x="780336" y="4154329"/>
            <a:ext cx="412432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Modelo de Datos</a:t>
            </a:r>
            <a:endParaRPr lang="en-US" sz="1300" dirty="0"/>
          </a:p>
        </p:txBody>
      </p:sp>
      <p:sp>
        <p:nvSpPr>
          <p:cNvPr id="11" name="Text 8"/>
          <p:cNvSpPr/>
          <p:nvPr/>
        </p:nvSpPr>
        <p:spPr>
          <a:xfrm>
            <a:off x="5254943" y="4154329"/>
            <a:ext cx="412051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Relacional, basado en tablas y esquemas fijos</a:t>
            </a:r>
            <a:endParaRPr lang="en-US" sz="1300" dirty="0"/>
          </a:p>
        </p:txBody>
      </p:sp>
      <p:sp>
        <p:nvSpPr>
          <p:cNvPr id="12" name="Text 9"/>
          <p:cNvSpPr/>
          <p:nvPr/>
        </p:nvSpPr>
        <p:spPr>
          <a:xfrm>
            <a:off x="9725739" y="4154329"/>
            <a:ext cx="4124325" cy="548640"/>
          </a:xfrm>
          <a:prstGeom prst="rect">
            <a:avLst/>
          </a:prstGeom>
          <a:noFill/>
          <a:ln/>
        </p:spPr>
        <p:txBody>
          <a:bodyPr wrap="squar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Diversos modelos, como documento, clave-valor, columnar y grafo, con esquemas flexibles</a:t>
            </a:r>
            <a:endParaRPr lang="en-US" sz="1300" dirty="0"/>
          </a:p>
        </p:txBody>
      </p:sp>
      <p:sp>
        <p:nvSpPr>
          <p:cNvPr id="13" name="Shape 10"/>
          <p:cNvSpPr/>
          <p:nvPr/>
        </p:nvSpPr>
        <p:spPr>
          <a:xfrm>
            <a:off x="607576" y="4813340"/>
            <a:ext cx="13413819" cy="769382"/>
          </a:xfrm>
          <a:prstGeom prst="rect">
            <a:avLst/>
          </a:prstGeom>
          <a:solidFill>
            <a:srgbClr val="FFFFFF">
              <a:alpha val="4000"/>
            </a:srgbClr>
          </a:solidFill>
          <a:ln/>
        </p:spPr>
      </p:sp>
      <p:sp>
        <p:nvSpPr>
          <p:cNvPr id="14" name="Text 11"/>
          <p:cNvSpPr/>
          <p:nvPr/>
        </p:nvSpPr>
        <p:spPr>
          <a:xfrm>
            <a:off x="780336" y="4923711"/>
            <a:ext cx="412432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Escalabilidad</a:t>
            </a:r>
            <a:endParaRPr lang="en-US" sz="1300" dirty="0"/>
          </a:p>
        </p:txBody>
      </p:sp>
      <p:sp>
        <p:nvSpPr>
          <p:cNvPr id="15" name="Text 12"/>
          <p:cNvSpPr/>
          <p:nvPr/>
        </p:nvSpPr>
        <p:spPr>
          <a:xfrm>
            <a:off x="5254943" y="4923711"/>
            <a:ext cx="4120515" cy="548640"/>
          </a:xfrm>
          <a:prstGeom prst="rect">
            <a:avLst/>
          </a:prstGeom>
          <a:noFill/>
          <a:ln/>
        </p:spPr>
        <p:txBody>
          <a:bodyPr wrap="squar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Escalabilidad vertical, limitada por la capacidad del hardware</a:t>
            </a:r>
            <a:endParaRPr lang="en-US" sz="1300" dirty="0"/>
          </a:p>
        </p:txBody>
      </p:sp>
      <p:sp>
        <p:nvSpPr>
          <p:cNvPr id="16" name="Text 13"/>
          <p:cNvSpPr/>
          <p:nvPr/>
        </p:nvSpPr>
        <p:spPr>
          <a:xfrm>
            <a:off x="9725739" y="4923711"/>
            <a:ext cx="4124325" cy="548640"/>
          </a:xfrm>
          <a:prstGeom prst="rect">
            <a:avLst/>
          </a:prstGeom>
          <a:noFill/>
          <a:ln/>
        </p:spPr>
        <p:txBody>
          <a:bodyPr wrap="squar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Escalabilidad horizontal, distribuyendo datos entre múltiples servidores</a:t>
            </a:r>
            <a:endParaRPr lang="en-US" sz="1300" dirty="0"/>
          </a:p>
        </p:txBody>
      </p:sp>
      <p:sp>
        <p:nvSpPr>
          <p:cNvPr id="17" name="Shape 14"/>
          <p:cNvSpPr/>
          <p:nvPr/>
        </p:nvSpPr>
        <p:spPr>
          <a:xfrm>
            <a:off x="607576" y="5582722"/>
            <a:ext cx="13413819" cy="769382"/>
          </a:xfrm>
          <a:prstGeom prst="rect">
            <a:avLst/>
          </a:prstGeom>
          <a:solidFill>
            <a:srgbClr val="000000">
              <a:alpha val="4000"/>
            </a:srgbClr>
          </a:solidFill>
          <a:ln/>
        </p:spPr>
      </p:sp>
      <p:sp>
        <p:nvSpPr>
          <p:cNvPr id="18" name="Text 15"/>
          <p:cNvSpPr/>
          <p:nvPr/>
        </p:nvSpPr>
        <p:spPr>
          <a:xfrm>
            <a:off x="780336" y="5693093"/>
            <a:ext cx="412432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Consistencia de Datos</a:t>
            </a:r>
            <a:endParaRPr lang="en-US" sz="1300" dirty="0"/>
          </a:p>
        </p:txBody>
      </p:sp>
      <p:sp>
        <p:nvSpPr>
          <p:cNvPr id="19" name="Text 16"/>
          <p:cNvSpPr/>
          <p:nvPr/>
        </p:nvSpPr>
        <p:spPr>
          <a:xfrm>
            <a:off x="5254943" y="5693093"/>
            <a:ext cx="4120515" cy="548640"/>
          </a:xfrm>
          <a:prstGeom prst="rect">
            <a:avLst/>
          </a:prstGeom>
          <a:noFill/>
          <a:ln/>
        </p:spPr>
        <p:txBody>
          <a:bodyPr wrap="squar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ACID: Atomicidad, Consistencia, Aislamiento, Durabilidad</a:t>
            </a:r>
            <a:endParaRPr lang="en-US" sz="1300" dirty="0"/>
          </a:p>
        </p:txBody>
      </p:sp>
      <p:sp>
        <p:nvSpPr>
          <p:cNvPr id="20" name="Text 17"/>
          <p:cNvSpPr/>
          <p:nvPr/>
        </p:nvSpPr>
        <p:spPr>
          <a:xfrm>
            <a:off x="9725739" y="5693093"/>
            <a:ext cx="4124325" cy="548640"/>
          </a:xfrm>
          <a:prstGeom prst="rect">
            <a:avLst/>
          </a:prstGeom>
          <a:noFill/>
          <a:ln/>
        </p:spPr>
        <p:txBody>
          <a:bodyPr wrap="squar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BASE: Disponibilidad, Tolerancia a Particiones, Eventual Consistencia</a:t>
            </a:r>
            <a:endParaRPr lang="en-US" sz="1300" dirty="0"/>
          </a:p>
        </p:txBody>
      </p:sp>
      <p:sp>
        <p:nvSpPr>
          <p:cNvPr id="21" name="Shape 18"/>
          <p:cNvSpPr/>
          <p:nvPr/>
        </p:nvSpPr>
        <p:spPr>
          <a:xfrm>
            <a:off x="607576" y="6352103"/>
            <a:ext cx="13413819" cy="495062"/>
          </a:xfrm>
          <a:prstGeom prst="rect">
            <a:avLst/>
          </a:prstGeom>
          <a:solidFill>
            <a:srgbClr val="FFFFFF">
              <a:alpha val="4000"/>
            </a:srgbClr>
          </a:solidFill>
          <a:ln/>
        </p:spPr>
      </p:sp>
      <p:sp>
        <p:nvSpPr>
          <p:cNvPr id="22" name="Text 19"/>
          <p:cNvSpPr/>
          <p:nvPr/>
        </p:nvSpPr>
        <p:spPr>
          <a:xfrm>
            <a:off x="780336" y="6462474"/>
            <a:ext cx="412432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Latencia</a:t>
            </a:r>
            <a:endParaRPr lang="en-US" sz="1300" dirty="0"/>
          </a:p>
        </p:txBody>
      </p:sp>
      <p:sp>
        <p:nvSpPr>
          <p:cNvPr id="23" name="Text 20"/>
          <p:cNvSpPr/>
          <p:nvPr/>
        </p:nvSpPr>
        <p:spPr>
          <a:xfrm>
            <a:off x="5254943" y="6462474"/>
            <a:ext cx="412051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Mayor latencia en operaciones de lectura y escritura</a:t>
            </a:r>
            <a:endParaRPr lang="en-US" sz="1300" dirty="0"/>
          </a:p>
        </p:txBody>
      </p:sp>
      <p:sp>
        <p:nvSpPr>
          <p:cNvPr id="24" name="Text 21"/>
          <p:cNvSpPr/>
          <p:nvPr/>
        </p:nvSpPr>
        <p:spPr>
          <a:xfrm>
            <a:off x="9725739" y="6462474"/>
            <a:ext cx="412432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Menor latencia en operaciones de lectura y escritura</a:t>
            </a:r>
            <a:endParaRPr lang="en-US" sz="1300" dirty="0"/>
          </a:p>
        </p:txBody>
      </p:sp>
      <p:sp>
        <p:nvSpPr>
          <p:cNvPr id="25" name="Shape 22"/>
          <p:cNvSpPr/>
          <p:nvPr/>
        </p:nvSpPr>
        <p:spPr>
          <a:xfrm>
            <a:off x="607576" y="6847165"/>
            <a:ext cx="13413819" cy="769382"/>
          </a:xfrm>
          <a:prstGeom prst="rect">
            <a:avLst/>
          </a:prstGeom>
          <a:solidFill>
            <a:srgbClr val="000000">
              <a:alpha val="4000"/>
            </a:srgbClr>
          </a:solidFill>
          <a:ln/>
        </p:spPr>
      </p:sp>
      <p:sp>
        <p:nvSpPr>
          <p:cNvPr id="26" name="Text 23"/>
          <p:cNvSpPr/>
          <p:nvPr/>
        </p:nvSpPr>
        <p:spPr>
          <a:xfrm>
            <a:off x="780336" y="6957536"/>
            <a:ext cx="412432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Consultas Complejas</a:t>
            </a:r>
            <a:endParaRPr lang="en-US" sz="1300" dirty="0"/>
          </a:p>
        </p:txBody>
      </p:sp>
      <p:sp>
        <p:nvSpPr>
          <p:cNvPr id="27" name="Text 24"/>
          <p:cNvSpPr/>
          <p:nvPr/>
        </p:nvSpPr>
        <p:spPr>
          <a:xfrm>
            <a:off x="5254943" y="6957536"/>
            <a:ext cx="4120515" cy="274320"/>
          </a:xfrm>
          <a:prstGeom prst="rect">
            <a:avLst/>
          </a:prstGeom>
          <a:noFill/>
          <a:ln/>
        </p:spPr>
        <p:txBody>
          <a:bodyPr wrap="non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Mejor soporte para consultas complejas con JOINs</a:t>
            </a:r>
            <a:endParaRPr lang="en-US" sz="1300" dirty="0"/>
          </a:p>
        </p:txBody>
      </p:sp>
      <p:sp>
        <p:nvSpPr>
          <p:cNvPr id="28" name="Text 25"/>
          <p:cNvSpPr/>
          <p:nvPr/>
        </p:nvSpPr>
        <p:spPr>
          <a:xfrm>
            <a:off x="9725739" y="6957536"/>
            <a:ext cx="4124325" cy="548640"/>
          </a:xfrm>
          <a:prstGeom prst="rect">
            <a:avLst/>
          </a:prstGeom>
          <a:noFill/>
          <a:ln/>
        </p:spPr>
        <p:txBody>
          <a:bodyPr wrap="square" lIns="0" tIns="0" rIns="0" bIns="0" rtlCol="0" anchor="t"/>
          <a:lstStyle/>
          <a:p>
            <a:pPr indent="0" marL="0">
              <a:lnSpc>
                <a:spcPts val="2150"/>
              </a:lnSpc>
              <a:buNone/>
            </a:pPr>
            <a:r>
              <a:rPr lang="en-US" sz="1300" dirty="0">
                <a:solidFill>
                  <a:srgbClr val="E0D6DE"/>
                </a:solidFill>
                <a:latin typeface="Fira Sans" pitchFamily="34" charset="0"/>
                <a:ea typeface="Fira Sans" pitchFamily="34" charset="-122"/>
                <a:cs typeface="Fira Sans" pitchFamily="34" charset="-120"/>
              </a:rPr>
              <a:t>Mejor soporte para consultas y procesamiento de datos no estructurados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045845"/>
            <a:ext cx="12927092" cy="708779"/>
          </a:xfrm>
          <a:prstGeom prst="rect">
            <a:avLst/>
          </a:prstGeom>
          <a:noFill/>
          <a:ln/>
        </p:spPr>
        <p:txBody>
          <a:bodyPr wrap="none" lIns="0" tIns="0" rIns="0" bIns="0" rtlCol="0" anchor="t"/>
          <a:lstStyle/>
          <a:p>
            <a:pPr indent="0" marL="0">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Conclusiones y Consideraciones Finales</a:t>
            </a:r>
            <a:endParaRPr lang="en-US" sz="4450" dirty="0"/>
          </a:p>
        </p:txBody>
      </p:sp>
      <p:sp>
        <p:nvSpPr>
          <p:cNvPr id="3" name="Shape 1"/>
          <p:cNvSpPr/>
          <p:nvPr/>
        </p:nvSpPr>
        <p:spPr>
          <a:xfrm>
            <a:off x="793790" y="2463403"/>
            <a:ext cx="510302" cy="510302"/>
          </a:xfrm>
          <a:prstGeom prst="roundRect">
            <a:avLst>
              <a:gd name="adj" fmla="val 6667"/>
            </a:avLst>
          </a:prstGeom>
          <a:solidFill>
            <a:srgbClr val="2E2E2F"/>
          </a:solidFill>
          <a:ln/>
        </p:spPr>
      </p:sp>
      <p:sp>
        <p:nvSpPr>
          <p:cNvPr id="4" name="Text 2"/>
          <p:cNvSpPr/>
          <p:nvPr/>
        </p:nvSpPr>
        <p:spPr>
          <a:xfrm>
            <a:off x="946785" y="2548414"/>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1</a:t>
            </a:r>
            <a:endParaRPr lang="en-US" sz="2650" dirty="0"/>
          </a:p>
        </p:txBody>
      </p:sp>
      <p:sp>
        <p:nvSpPr>
          <p:cNvPr id="5" name="Text 3"/>
          <p:cNvSpPr/>
          <p:nvPr/>
        </p:nvSpPr>
        <p:spPr>
          <a:xfrm>
            <a:off x="1530906" y="2463403"/>
            <a:ext cx="5670947" cy="708660"/>
          </a:xfrm>
          <a:prstGeom prst="rect">
            <a:avLst/>
          </a:prstGeom>
          <a:noFill/>
          <a:ln/>
        </p:spPr>
        <p:txBody>
          <a:bodyPr wrap="squar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Complementariedad entre SQL y NoSQL</a:t>
            </a:r>
            <a:endParaRPr lang="en-US" sz="2200" dirty="0"/>
          </a:p>
        </p:txBody>
      </p:sp>
      <p:sp>
        <p:nvSpPr>
          <p:cNvPr id="6" name="Text 4"/>
          <p:cNvSpPr/>
          <p:nvPr/>
        </p:nvSpPr>
        <p:spPr>
          <a:xfrm>
            <a:off x="1530906" y="3308152"/>
            <a:ext cx="5670947"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bases de datos SQL y NoSQL no son mutuamente excluyentes, sino que se complementan. Cada una tiene fortalezas y debilidades que deben considerarse según los requisitos específicos de cada proyecto.</a:t>
            </a:r>
            <a:endParaRPr lang="en-US" sz="1750" dirty="0"/>
          </a:p>
        </p:txBody>
      </p:sp>
      <p:sp>
        <p:nvSpPr>
          <p:cNvPr id="7" name="Shape 5"/>
          <p:cNvSpPr/>
          <p:nvPr/>
        </p:nvSpPr>
        <p:spPr>
          <a:xfrm>
            <a:off x="7428667" y="2463403"/>
            <a:ext cx="510302" cy="510302"/>
          </a:xfrm>
          <a:prstGeom prst="roundRect">
            <a:avLst>
              <a:gd name="adj" fmla="val 6667"/>
            </a:avLst>
          </a:prstGeom>
          <a:solidFill>
            <a:srgbClr val="2E2E2F"/>
          </a:solidFill>
          <a:ln/>
        </p:spPr>
      </p:sp>
      <p:sp>
        <p:nvSpPr>
          <p:cNvPr id="8" name="Text 6"/>
          <p:cNvSpPr/>
          <p:nvPr/>
        </p:nvSpPr>
        <p:spPr>
          <a:xfrm>
            <a:off x="7581662" y="2548414"/>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2</a:t>
            </a:r>
            <a:endParaRPr lang="en-US" sz="2650" dirty="0"/>
          </a:p>
        </p:txBody>
      </p:sp>
      <p:sp>
        <p:nvSpPr>
          <p:cNvPr id="9" name="Text 7"/>
          <p:cNvSpPr/>
          <p:nvPr/>
        </p:nvSpPr>
        <p:spPr>
          <a:xfrm>
            <a:off x="8165783" y="2463403"/>
            <a:ext cx="4930735"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Selección del modelo adecuado</a:t>
            </a:r>
            <a:endParaRPr lang="en-US" sz="2200" dirty="0"/>
          </a:p>
        </p:txBody>
      </p:sp>
      <p:sp>
        <p:nvSpPr>
          <p:cNvPr id="10" name="Text 8"/>
          <p:cNvSpPr/>
          <p:nvPr/>
        </p:nvSpPr>
        <p:spPr>
          <a:xfrm>
            <a:off x="8165783" y="2953822"/>
            <a:ext cx="5670947"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 elección entre SQL o NoSQL dependerá de factores como el tipo de datos, las necesidades de escalabilidad, consistencia y disponibilidad, así como los casos de uso particulares.</a:t>
            </a:r>
            <a:endParaRPr lang="en-US" sz="1750" dirty="0"/>
          </a:p>
        </p:txBody>
      </p:sp>
      <p:sp>
        <p:nvSpPr>
          <p:cNvPr id="11" name="Shape 9"/>
          <p:cNvSpPr/>
          <p:nvPr/>
        </p:nvSpPr>
        <p:spPr>
          <a:xfrm>
            <a:off x="793790" y="5241727"/>
            <a:ext cx="510302" cy="510302"/>
          </a:xfrm>
          <a:prstGeom prst="roundRect">
            <a:avLst>
              <a:gd name="adj" fmla="val 6667"/>
            </a:avLst>
          </a:prstGeom>
          <a:solidFill>
            <a:srgbClr val="2E2E2F"/>
          </a:solidFill>
          <a:ln/>
        </p:spPr>
      </p:sp>
      <p:sp>
        <p:nvSpPr>
          <p:cNvPr id="12" name="Text 10"/>
          <p:cNvSpPr/>
          <p:nvPr/>
        </p:nvSpPr>
        <p:spPr>
          <a:xfrm>
            <a:off x="946785" y="5326737"/>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3</a:t>
            </a:r>
            <a:endParaRPr lang="en-US" sz="2650" dirty="0"/>
          </a:p>
        </p:txBody>
      </p:sp>
      <p:sp>
        <p:nvSpPr>
          <p:cNvPr id="13" name="Text 11"/>
          <p:cNvSpPr/>
          <p:nvPr/>
        </p:nvSpPr>
        <p:spPr>
          <a:xfrm>
            <a:off x="1530906" y="5241727"/>
            <a:ext cx="5440799"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Continuo aprendizaje y evolución</a:t>
            </a:r>
            <a:endParaRPr lang="en-US" sz="2200" dirty="0"/>
          </a:p>
        </p:txBody>
      </p:sp>
      <p:sp>
        <p:nvSpPr>
          <p:cNvPr id="14" name="Text 12"/>
          <p:cNvSpPr/>
          <p:nvPr/>
        </p:nvSpPr>
        <p:spPr>
          <a:xfrm>
            <a:off x="1530906" y="5732145"/>
            <a:ext cx="5670947"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El campo de las bases de datos NoSQL está en constante evolución, por lo que es importante mantenerse actualizado y explorar nuevas herramientas y tecnologías.</a:t>
            </a:r>
            <a:endParaRPr lang="en-US" sz="1750" dirty="0"/>
          </a:p>
        </p:txBody>
      </p:sp>
      <p:sp>
        <p:nvSpPr>
          <p:cNvPr id="15" name="Shape 13"/>
          <p:cNvSpPr/>
          <p:nvPr/>
        </p:nvSpPr>
        <p:spPr>
          <a:xfrm>
            <a:off x="7428667" y="5241727"/>
            <a:ext cx="510302" cy="510302"/>
          </a:xfrm>
          <a:prstGeom prst="roundRect">
            <a:avLst>
              <a:gd name="adj" fmla="val 6667"/>
            </a:avLst>
          </a:prstGeom>
          <a:solidFill>
            <a:srgbClr val="2E2E2F"/>
          </a:solidFill>
          <a:ln/>
        </p:spPr>
      </p:sp>
      <p:sp>
        <p:nvSpPr>
          <p:cNvPr id="16" name="Text 14"/>
          <p:cNvSpPr/>
          <p:nvPr/>
        </p:nvSpPr>
        <p:spPr>
          <a:xfrm>
            <a:off x="7581662" y="5326737"/>
            <a:ext cx="204192" cy="340281"/>
          </a:xfrm>
          <a:prstGeom prst="rect">
            <a:avLst/>
          </a:prstGeom>
          <a:noFill/>
          <a:ln/>
        </p:spPr>
        <p:txBody>
          <a:bodyPr wrap="none" lIns="0" tIns="0" rIns="0" bIns="0" rtlCol="0" anchor="t"/>
          <a:lstStyle/>
          <a:p>
            <a:pPr algn="ctr" indent="0" marL="0">
              <a:lnSpc>
                <a:spcPts val="2650"/>
              </a:lnSpc>
              <a:buNone/>
            </a:pPr>
            <a:r>
              <a:rPr lang="en-US" sz="2650" dirty="0">
                <a:solidFill>
                  <a:srgbClr val="E0D6DE"/>
                </a:solidFill>
                <a:latin typeface="Fira Mono Medium" pitchFamily="34" charset="0"/>
                <a:ea typeface="Fira Mono Medium" pitchFamily="34" charset="-122"/>
                <a:cs typeface="Fira Mono Medium" pitchFamily="34" charset="-120"/>
              </a:rPr>
              <a:t>4</a:t>
            </a:r>
            <a:endParaRPr lang="en-US" sz="2650" dirty="0"/>
          </a:p>
        </p:txBody>
      </p:sp>
      <p:sp>
        <p:nvSpPr>
          <p:cNvPr id="17" name="Text 15"/>
          <p:cNvSpPr/>
          <p:nvPr/>
        </p:nvSpPr>
        <p:spPr>
          <a:xfrm>
            <a:off x="8165783" y="5241727"/>
            <a:ext cx="4080629"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Integración y ecosistema</a:t>
            </a:r>
            <a:endParaRPr lang="en-US" sz="2200" dirty="0"/>
          </a:p>
        </p:txBody>
      </p:sp>
      <p:sp>
        <p:nvSpPr>
          <p:cNvPr id="18" name="Text 16"/>
          <p:cNvSpPr/>
          <p:nvPr/>
        </p:nvSpPr>
        <p:spPr>
          <a:xfrm>
            <a:off x="8165783" y="5732145"/>
            <a:ext cx="5670947" cy="1088708"/>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Fira Sans" pitchFamily="34" charset="0"/>
                <a:ea typeface="Fira Sans" pitchFamily="34" charset="-122"/>
                <a:cs typeface="Fira Sans" pitchFamily="34" charset="-120"/>
              </a:rPr>
              <a:t>Las soluciones NoSQL a menudo se integran con otros sistemas y forman parte de un ecosistema más amplio de procesamiento de datos.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2024-11-05T14:29:35Z</dcterms:created>
  <dcterms:modified xsi:type="dcterms:W3CDTF">2024-11-05T14:29:35Z</dcterms:modified>
</cp:coreProperties>
</file>